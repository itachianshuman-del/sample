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1"/>
  </p:sldIdLst>
  <p:sldSz cx="12192000" cy="6858000" type="screen16x9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101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>
          <a:solidFill>
            <a:schemeClr val="tx1"/>
          </a:solidFill>
          <a:latin typeface="+mj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14"/>
          <p:cNvSpPr txBox="1"/>
          <p:nvPr/>
        </p:nvSpPr>
        <p:spPr>
          <a:xfrm>
            <a:off x="365760" y="201168"/>
            <a:ext cx="8686800" cy="640080"/>
          </a:xfrm>
          <a:prstGeom prst="rect">
            <a:avLst/>
          </a:prstGeom>
          <a:noFill/>
        </p:spPr>
        <p:txBody>
          <a:bodyPr wrap="square" lIns="54000" tIns="27432" rIns="54000" bIns="27432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2600" b="1" dirty="0">
                <a:solidFill>
                  <a:srgbClr val="1C6EA4"/>
                </a:solidFill>
                <a:latin typeface="Calibri"/>
              </a:rPr>
              <a:t>Automation Scope Using Python</a:t>
            </a:r>
          </a:p>
        </p:txBody>
      </p:sp>
      <p:sp>
        <p:nvSpPr>
          <p:cNvPr id="15" name="t16"/>
          <p:cNvSpPr txBox="1"/>
          <p:nvPr/>
        </p:nvSpPr>
        <p:spPr>
          <a:xfrm>
            <a:off x="9601200" y="164592"/>
            <a:ext cx="2377440" cy="457200"/>
          </a:xfrm>
          <a:prstGeom prst="rect">
            <a:avLst/>
          </a:prstGeom>
          <a:noFill/>
        </p:spPr>
        <p:txBody>
          <a:bodyPr wrap="square" lIns="54000" tIns="27432" rIns="54000" bIns="27432" anchor="t">
            <a:norm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B3C5D"/>
                </a:solidFill>
                <a:latin typeface="Calibri"/>
              </a:rPr>
              <a:t>innova</a:t>
            </a:r>
          </a:p>
        </p:txBody>
      </p:sp>
      <p:sp>
        <p:nvSpPr>
          <p:cNvPr id="17" name="t18"/>
          <p:cNvSpPr txBox="1"/>
          <p:nvPr/>
        </p:nvSpPr>
        <p:spPr>
          <a:xfrm>
            <a:off x="9601200" y="566928"/>
            <a:ext cx="2377440" cy="274320"/>
          </a:xfrm>
          <a:prstGeom prst="rect">
            <a:avLst/>
          </a:prstGeom>
          <a:noFill/>
        </p:spPr>
        <p:txBody>
          <a:bodyPr wrap="square" lIns="54000" tIns="27432" rIns="54000" bIns="27432" anchor="t">
            <a:norm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E08E0B"/>
                </a:solidFill>
                <a:latin typeface="Calibri"/>
              </a:rPr>
              <a:t>S O L U T I O N S</a:t>
            </a:r>
          </a:p>
        </p:txBody>
      </p:sp>
      <p:sp>
        <p:nvSpPr>
          <p:cNvPr id="19" name="s20"/>
          <p:cNvSpPr/>
          <p:nvPr/>
        </p:nvSpPr>
        <p:spPr>
          <a:xfrm>
            <a:off x="0" y="932688"/>
            <a:ext cx="12192000" cy="27432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22"/>
          <p:cNvSpPr/>
          <p:nvPr/>
        </p:nvSpPr>
        <p:spPr>
          <a:xfrm>
            <a:off x="274320" y="1737360"/>
            <a:ext cx="1097280" cy="1874519"/>
          </a:xfrm>
          <a:prstGeom prst="roundRect">
            <a:avLst>
              <a:gd name="adj" fmla="val 8000"/>
            </a:avLst>
          </a:prstGeom>
          <a:solidFill>
            <a:srgbClr val="EAF1F7"/>
          </a:solidFill>
          <a:ln w="9525">
            <a:solidFill>
              <a:srgbClr val="1C6EA4"/>
            </a:solidFill>
          </a:ln>
        </p:spPr>
        <p:txBody>
          <a:bodyPr/>
          <a:lstStyle/>
          <a:p/>
        </p:txBody>
      </p:sp>
      <p:sp>
        <p:nvSpPr>
          <p:cNvPr id="23" name="t24"/>
          <p:cNvSpPr txBox="1"/>
          <p:nvPr/>
        </p:nvSpPr>
        <p:spPr>
          <a:xfrm>
            <a:off x="274320" y="1920240"/>
            <a:ext cx="1097280" cy="1554480"/>
          </a:xfrm>
          <a:prstGeom prst="rect">
            <a:avLst/>
          </a:prstGeom>
          <a:noFill/>
        </p:spPr>
        <p:txBody>
          <a:bodyPr wrap="square" lIns="54000" tIns="27432" rIns="54000" bIns="27432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0B3C5D"/>
                </a:solidFill>
                <a:latin typeface="Calibri"/>
              </a:rPr>
              <a:t>Daily / Shift-based</a:t>
            </a:r>
          </a:p>
          <a:p>
            <a:pPr algn="ctr">
              <a:spcBef>
                <a:spcPts val="150"/>
              </a:spcBef>
              <a:buNone/>
            </a:pPr>
            <a:r>
              <a:rPr lang="en-US" sz="900" b="1" dirty="0">
                <a:solidFill>
                  <a:srgbClr val="0B3C5D"/>
                </a:solidFill>
                <a:latin typeface="Calibri"/>
              </a:rPr>
              <a:t>Recurrence</a:t>
            </a:r>
          </a:p>
          <a:p>
            <a:pPr algn="ctr">
              <a:spcBef>
                <a:spcPts val="150"/>
              </a:spcBef>
              <a:buNone/>
            </a:pPr>
            <a:r>
              <a:rPr lang="en-US" sz="900" b="1" dirty="0">
                <a:solidFill>
                  <a:srgbClr val="0B3C5D"/>
                </a:solidFill>
                <a:latin typeface="Calibri"/>
              </a:rPr>
              <a:t>Trigger</a:t>
            </a:r>
          </a:p>
        </p:txBody>
      </p:sp>
      <p:sp>
        <p:nvSpPr>
          <p:cNvPr id="25" name="s26"/>
          <p:cNvSpPr/>
          <p:nvPr/>
        </p:nvSpPr>
        <p:spPr>
          <a:xfrm>
            <a:off x="1517904" y="1417320"/>
            <a:ext cx="146304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C6EA4"/>
            </a:solidFill>
          </a:ln>
        </p:spPr>
        <p:txBody>
          <a:bodyPr/>
          <a:lstStyle/>
          <a:p/>
        </p:txBody>
      </p:sp>
      <p:sp>
        <p:nvSpPr>
          <p:cNvPr id="27" name="s28"/>
          <p:cNvSpPr/>
          <p:nvPr/>
        </p:nvSpPr>
        <p:spPr>
          <a:xfrm>
            <a:off x="1517904" y="1417320"/>
            <a:ext cx="1463040" cy="603504"/>
          </a:xfrm>
          <a:prstGeom prst="roundRect">
            <a:avLst>
              <a:gd name="adj" fmla="val 9000"/>
            </a:avLst>
          </a:prstGeom>
          <a:solidFill>
            <a:srgbClr val="1C6E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s30"/>
          <p:cNvSpPr/>
          <p:nvPr/>
        </p:nvSpPr>
        <p:spPr>
          <a:xfrm>
            <a:off x="1517904" y="1691640"/>
            <a:ext cx="1463040" cy="329184"/>
          </a:xfrm>
          <a:prstGeom prst="rect">
            <a:avLst/>
          </a:prstGeom>
          <a:solidFill>
            <a:srgbClr val="1C6E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32"/>
          <p:cNvSpPr txBox="1"/>
          <p:nvPr/>
        </p:nvSpPr>
        <p:spPr>
          <a:xfrm>
            <a:off x="1591056" y="1453896"/>
            <a:ext cx="1353312" cy="603504"/>
          </a:xfrm>
          <a:prstGeom prst="rect">
            <a:avLst/>
          </a:prstGeom>
          <a:noFill/>
        </p:spPr>
        <p:txBody>
          <a:bodyPr wrap="square" lIns="54000" tIns="27432" rIns="54000" bIns="27432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Calibri"/>
              </a:rPr>
              <a:t>Step 1:</a:t>
            </a:r>
          </a:p>
          <a:p>
            <a:pPr algn="l">
              <a:spcBef>
                <a:spcPts val="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Calibri"/>
              </a:rPr>
              <a:t>Oracle DB Query</a:t>
            </a:r>
          </a:p>
        </p:txBody>
      </p:sp>
      <p:sp>
        <p:nvSpPr>
          <p:cNvPr id="33" name="t34"/>
          <p:cNvSpPr txBox="1"/>
          <p:nvPr/>
        </p:nvSpPr>
        <p:spPr>
          <a:xfrm>
            <a:off x="1572768" y="2057400"/>
            <a:ext cx="1353312" cy="1837944"/>
          </a:xfrm>
          <a:prstGeom prst="rect">
            <a:avLst/>
          </a:prstGeom>
          <a:noFill/>
        </p:spPr>
        <p:txBody>
          <a:bodyPr wrap="square" lIns="54000" tIns="27432" rIns="54000" bIns="27432" anchor="t">
            <a:normAutofit/>
          </a:bodyPr>
          <a:lstStyle/>
          <a:p>
            <a:pPr marL="114300" indent="-114300" algn="l">
              <a:spcBef>
                <a:spcPts val="250"/>
              </a:spcBef>
              <a:buClr>
                <a:srgbClr val="1C6EA4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Connect to Oracle (python-oracledb)</a:t>
            </a:r>
          </a:p>
          <a:p>
            <a:pPr marL="114300" indent="-114300" algn="l">
              <a:spcBef>
                <a:spcPts val="250"/>
              </a:spcBef>
              <a:buClr>
                <a:srgbClr val="1C6EA4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Run pend claims query</a:t>
            </a:r>
          </a:p>
          <a:p>
            <a:pPr marL="114300" indent="-114300" algn="l">
              <a:spcBef>
                <a:spcPts val="250"/>
              </a:spcBef>
              <a:buClr>
                <a:srgbClr val="1C6EA4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Export to Excel (pandas)</a:t>
            </a:r>
          </a:p>
          <a:p>
            <a:pPr marL="114300" indent="-114300" algn="l">
              <a:spcBef>
                <a:spcPts val="250"/>
              </a:spcBef>
              <a:buClr>
                <a:srgbClr val="1C6EA4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Save to SharePoint / OneDrive</a:t>
            </a:r>
          </a:p>
          <a:p>
            <a:pPr marL="114300" indent="-114300" algn="l">
              <a:spcBef>
                <a:spcPts val="250"/>
              </a:spcBef>
              <a:buClr>
                <a:srgbClr val="1C6EA4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Email: file ready</a:t>
            </a:r>
          </a:p>
          <a:p>
            <a:pPr marL="114300" indent="-114300" algn="l">
              <a:spcBef>
                <a:spcPts val="250"/>
              </a:spcBef>
              <a:buClr>
                <a:srgbClr val="1C6EA4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Applies to all 5 workflows</a:t>
            </a:r>
          </a:p>
        </p:txBody>
      </p:sp>
      <p:sp>
        <p:nvSpPr>
          <p:cNvPr id="35" name="s36"/>
          <p:cNvSpPr/>
          <p:nvPr/>
        </p:nvSpPr>
        <p:spPr>
          <a:xfrm>
            <a:off x="3127248" y="1417320"/>
            <a:ext cx="146304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59A8C"/>
            </a:solidFill>
          </a:ln>
        </p:spPr>
        <p:txBody>
          <a:bodyPr/>
          <a:lstStyle/>
          <a:p/>
        </p:txBody>
      </p:sp>
      <p:sp>
        <p:nvSpPr>
          <p:cNvPr id="37" name="s38"/>
          <p:cNvSpPr/>
          <p:nvPr/>
        </p:nvSpPr>
        <p:spPr>
          <a:xfrm>
            <a:off x="3127248" y="1417320"/>
            <a:ext cx="1463040" cy="603504"/>
          </a:xfrm>
          <a:prstGeom prst="roundRect">
            <a:avLst>
              <a:gd name="adj" fmla="val 9000"/>
            </a:avLst>
          </a:prstGeom>
          <a:solidFill>
            <a:srgbClr val="159A8C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s40"/>
          <p:cNvSpPr/>
          <p:nvPr/>
        </p:nvSpPr>
        <p:spPr>
          <a:xfrm>
            <a:off x="3127248" y="1691640"/>
            <a:ext cx="1463040" cy="329184"/>
          </a:xfrm>
          <a:prstGeom prst="rect">
            <a:avLst/>
          </a:prstGeom>
          <a:solidFill>
            <a:srgbClr val="159A8C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42"/>
          <p:cNvSpPr txBox="1"/>
          <p:nvPr/>
        </p:nvSpPr>
        <p:spPr>
          <a:xfrm>
            <a:off x="3200400" y="1453896"/>
            <a:ext cx="1353312" cy="603504"/>
          </a:xfrm>
          <a:prstGeom prst="rect">
            <a:avLst/>
          </a:prstGeom>
          <a:noFill/>
        </p:spPr>
        <p:txBody>
          <a:bodyPr wrap="square" lIns="54000" tIns="27432" rIns="54000" bIns="27432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Calibri"/>
              </a:rPr>
              <a:t>Step 2:</a:t>
            </a:r>
          </a:p>
          <a:p>
            <a:pPr algn="l">
              <a:spcBef>
                <a:spcPts val="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Calibri"/>
              </a:rPr>
              <a:t>Data Transformation</a:t>
            </a:r>
          </a:p>
        </p:txBody>
      </p:sp>
      <p:sp>
        <p:nvSpPr>
          <p:cNvPr id="43" name="t44"/>
          <p:cNvSpPr txBox="1"/>
          <p:nvPr/>
        </p:nvSpPr>
        <p:spPr>
          <a:xfrm>
            <a:off x="3182112" y="2057400"/>
            <a:ext cx="1353312" cy="1837944"/>
          </a:xfrm>
          <a:prstGeom prst="rect">
            <a:avLst/>
          </a:prstGeom>
          <a:noFill/>
        </p:spPr>
        <p:txBody>
          <a:bodyPr wrap="square" lIns="54000" tIns="27432" rIns="54000" bIns="27432" anchor="t">
            <a:normAutofit/>
          </a:bodyPr>
          <a:lstStyle/>
          <a:p>
            <a:pPr marL="114300" indent="-114300" algn="l">
              <a:spcBef>
                <a:spcPts val="250"/>
              </a:spcBef>
              <a:buClr>
                <a:srgbClr val="159A8C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Remove duplicates</a:t>
            </a:r>
          </a:p>
          <a:p>
            <a:pPr marL="114300" indent="-114300" algn="l">
              <a:spcBef>
                <a:spcPts val="250"/>
              </a:spcBef>
              <a:buClr>
                <a:srgbClr val="159A8C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Copy key claim fields</a:t>
            </a:r>
          </a:p>
          <a:p>
            <a:pPr marL="114300" indent="-114300" algn="l">
              <a:spcBef>
                <a:spcPts val="250"/>
              </a:spcBef>
              <a:buClr>
                <a:srgbClr val="159A8C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Populate ProcessInfo</a:t>
            </a:r>
          </a:p>
          <a:p>
            <a:pPr marL="114300" indent="-114300" algn="l">
              <a:spcBef>
                <a:spcPts val="250"/>
              </a:spcBef>
              <a:buClr>
                <a:srgbClr val="159A8C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Zero-fill amounts (6P/ARHOMES)</a:t>
            </a:r>
          </a:p>
          <a:p>
            <a:pPr marL="114300" indent="-114300" algn="l">
              <a:spcBef>
                <a:spcPts val="250"/>
              </a:spcBef>
              <a:buClr>
                <a:srgbClr val="159A8C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Trim ex_array to EX1toApply1</a:t>
            </a:r>
          </a:p>
          <a:p>
            <a:pPr marL="114300" indent="-114300" algn="l">
              <a:spcBef>
                <a:spcPts val="250"/>
              </a:spcBef>
              <a:buClr>
                <a:srgbClr val="159A8C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Drop extra columns</a:t>
            </a:r>
          </a:p>
        </p:txBody>
      </p:sp>
      <p:sp>
        <p:nvSpPr>
          <p:cNvPr id="45" name="s46"/>
          <p:cNvSpPr/>
          <p:nvPr/>
        </p:nvSpPr>
        <p:spPr>
          <a:xfrm>
            <a:off x="4736592" y="2084831"/>
            <a:ext cx="1005840" cy="1097280"/>
          </a:xfrm>
          <a:prstGeom prst="diamond">
            <a:avLst/>
          </a:prstGeom>
          <a:solidFill>
            <a:srgbClr val="EFE9F6"/>
          </a:solidFill>
          <a:ln w="9525">
            <a:solidFill>
              <a:srgbClr val="6B3FA0"/>
            </a:solidFill>
          </a:ln>
        </p:spPr>
        <p:txBody>
          <a:bodyPr/>
          <a:lstStyle/>
          <a:p/>
        </p:txBody>
      </p:sp>
      <p:sp>
        <p:nvSpPr>
          <p:cNvPr id="47" name="t48"/>
          <p:cNvSpPr txBox="1"/>
          <p:nvPr/>
        </p:nvSpPr>
        <p:spPr>
          <a:xfrm>
            <a:off x="4690872" y="2249423"/>
            <a:ext cx="1097280" cy="822960"/>
          </a:xfrm>
          <a:prstGeom prst="rect">
            <a:avLst/>
          </a:prstGeom>
          <a:noFill/>
        </p:spPr>
        <p:txBody>
          <a:bodyPr wrap="square" lIns="54000" tIns="27432" rIns="54000" bIns="27432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800" b="1" dirty="0">
                <a:solidFill>
                  <a:srgbClr val="6B3FA0"/>
                </a:solidFill>
                <a:latin typeface="Calibri"/>
              </a:rPr>
              <a:t>Workflow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800" b="1" dirty="0">
                <a:solidFill>
                  <a:srgbClr val="6B3FA0"/>
                </a:solidFill>
                <a:latin typeface="Calibri"/>
              </a:rPr>
              <a:t>= M2 ?</a:t>
            </a:r>
          </a:p>
        </p:txBody>
      </p:sp>
      <p:sp>
        <p:nvSpPr>
          <p:cNvPr id="49" name="s50"/>
          <p:cNvSpPr/>
          <p:nvPr/>
        </p:nvSpPr>
        <p:spPr>
          <a:xfrm>
            <a:off x="5907024" y="1417320"/>
            <a:ext cx="146304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8E0B"/>
            </a:solidFill>
          </a:ln>
        </p:spPr>
        <p:txBody>
          <a:bodyPr/>
          <a:lstStyle/>
          <a:p/>
        </p:txBody>
      </p:sp>
      <p:sp>
        <p:nvSpPr>
          <p:cNvPr id="51" name="s52"/>
          <p:cNvSpPr/>
          <p:nvPr/>
        </p:nvSpPr>
        <p:spPr>
          <a:xfrm>
            <a:off x="5907024" y="1417320"/>
            <a:ext cx="1463040" cy="603504"/>
          </a:xfrm>
          <a:prstGeom prst="roundRect">
            <a:avLst>
              <a:gd name="adj" fmla="val 9000"/>
            </a:avLst>
          </a:prstGeom>
          <a:solidFill>
            <a:srgbClr val="E08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s54"/>
          <p:cNvSpPr/>
          <p:nvPr/>
        </p:nvSpPr>
        <p:spPr>
          <a:xfrm>
            <a:off x="5907024" y="1691640"/>
            <a:ext cx="1463040" cy="329184"/>
          </a:xfrm>
          <a:prstGeom prst="rect">
            <a:avLst/>
          </a:prstGeom>
          <a:solidFill>
            <a:srgbClr val="E08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56"/>
          <p:cNvSpPr txBox="1"/>
          <p:nvPr/>
        </p:nvSpPr>
        <p:spPr>
          <a:xfrm>
            <a:off x="5980176" y="1453896"/>
            <a:ext cx="1353312" cy="603504"/>
          </a:xfrm>
          <a:prstGeom prst="rect">
            <a:avLst/>
          </a:prstGeom>
          <a:noFill/>
        </p:spPr>
        <p:txBody>
          <a:bodyPr wrap="square" lIns="54000" tIns="27432" rIns="54000" bIns="27432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Calibri"/>
              </a:rPr>
              <a:t>Step 2.5:</a:t>
            </a:r>
          </a:p>
          <a:p>
            <a:pPr algn="l">
              <a:spcBef>
                <a:spcPts val="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Calibri"/>
              </a:rPr>
              <a:t>Macro File Load (NEW)</a:t>
            </a:r>
          </a:p>
        </p:txBody>
      </p:sp>
      <p:sp>
        <p:nvSpPr>
          <p:cNvPr id="57" name="t58"/>
          <p:cNvSpPr txBox="1"/>
          <p:nvPr/>
        </p:nvSpPr>
        <p:spPr>
          <a:xfrm>
            <a:off x="5961888" y="2057400"/>
            <a:ext cx="1353312" cy="1837944"/>
          </a:xfrm>
          <a:prstGeom prst="rect">
            <a:avLst/>
          </a:prstGeom>
          <a:noFill/>
        </p:spPr>
        <p:txBody>
          <a:bodyPr wrap="square" lIns="54000" tIns="27432" rIns="54000" bIns="27432" anchor="t">
            <a:normAutofit/>
          </a:bodyPr>
          <a:lstStyle/>
          <a:p>
            <a:pPr marL="114300" indent="-114300" algn="l">
              <a:spcBef>
                <a:spcPts val="250"/>
              </a:spcBef>
              <a:buClr>
                <a:srgbClr val="E08E0B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Open .xlsm template (keep VBA)</a:t>
            </a:r>
          </a:p>
          <a:p>
            <a:pPr marL="114300" indent="-114300" algn="l">
              <a:spcBef>
                <a:spcPts val="250"/>
              </a:spcBef>
              <a:buClr>
                <a:srgbClr val="E08E0B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Load claims into tabs</a:t>
            </a:r>
          </a:p>
          <a:p>
            <a:pPr marL="114300" indent="-114300" algn="l">
              <a:spcBef>
                <a:spcPts val="250"/>
              </a:spcBef>
              <a:buClr>
                <a:srgbClr val="E08E0B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Run macro via xlwings (if needed)</a:t>
            </a:r>
          </a:p>
          <a:p>
            <a:pPr marL="114300" indent="-114300" algn="l">
              <a:spcBef>
                <a:spcPts val="250"/>
              </a:spcBef>
              <a:buClr>
                <a:srgbClr val="E08E0B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Move to 'Ready for BOT'</a:t>
            </a:r>
          </a:p>
          <a:p>
            <a:pPr marL="114300" indent="-114300" algn="l">
              <a:spcBef>
                <a:spcPts val="250"/>
              </a:spcBef>
              <a:buClr>
                <a:srgbClr val="E08E0B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Verify row counts</a:t>
            </a:r>
          </a:p>
        </p:txBody>
      </p:sp>
      <p:sp>
        <p:nvSpPr>
          <p:cNvPr id="59" name="s60"/>
          <p:cNvSpPr/>
          <p:nvPr/>
        </p:nvSpPr>
        <p:spPr>
          <a:xfrm>
            <a:off x="7516368" y="1417320"/>
            <a:ext cx="146304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B3C5D"/>
            </a:solidFill>
          </a:ln>
        </p:spPr>
        <p:txBody>
          <a:bodyPr/>
          <a:lstStyle/>
          <a:p/>
        </p:txBody>
      </p:sp>
      <p:sp>
        <p:nvSpPr>
          <p:cNvPr id="61" name="s62"/>
          <p:cNvSpPr/>
          <p:nvPr/>
        </p:nvSpPr>
        <p:spPr>
          <a:xfrm>
            <a:off x="7516368" y="1417320"/>
            <a:ext cx="1463040" cy="603504"/>
          </a:xfrm>
          <a:prstGeom prst="roundRect">
            <a:avLst>
              <a:gd name="adj" fmla="val 9000"/>
            </a:avLst>
          </a:prstGeom>
          <a:solidFill>
            <a:srgbClr val="0B3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s64"/>
          <p:cNvSpPr/>
          <p:nvPr/>
        </p:nvSpPr>
        <p:spPr>
          <a:xfrm>
            <a:off x="7516368" y="1691640"/>
            <a:ext cx="1463040" cy="329184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t66"/>
          <p:cNvSpPr txBox="1"/>
          <p:nvPr/>
        </p:nvSpPr>
        <p:spPr>
          <a:xfrm>
            <a:off x="7589520" y="1453896"/>
            <a:ext cx="1353312" cy="603504"/>
          </a:xfrm>
          <a:prstGeom prst="rect">
            <a:avLst/>
          </a:prstGeom>
          <a:noFill/>
        </p:spPr>
        <p:txBody>
          <a:bodyPr wrap="square" lIns="54000" tIns="27432" rIns="54000" bIns="27432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Calibri"/>
              </a:rPr>
              <a:t>Step 3:</a:t>
            </a:r>
          </a:p>
          <a:p>
            <a:pPr algn="l">
              <a:spcBef>
                <a:spcPts val="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Calibri"/>
              </a:rPr>
              <a:t>BOT Submission</a:t>
            </a:r>
          </a:p>
        </p:txBody>
      </p:sp>
      <p:sp>
        <p:nvSpPr>
          <p:cNvPr id="67" name="t68"/>
          <p:cNvSpPr txBox="1"/>
          <p:nvPr/>
        </p:nvSpPr>
        <p:spPr>
          <a:xfrm>
            <a:off x="7571232" y="2057400"/>
            <a:ext cx="1353312" cy="1837944"/>
          </a:xfrm>
          <a:prstGeom prst="rect">
            <a:avLst/>
          </a:prstGeom>
          <a:noFill/>
        </p:spPr>
        <p:txBody>
          <a:bodyPr wrap="square" lIns="54000" tIns="27432" rIns="54000" bIns="27432" anchor="t">
            <a:normAutofit/>
          </a:bodyPr>
          <a:lstStyle/>
          <a:p>
            <a:pPr marL="114300" indent="-114300" algn="l">
              <a:spcBef>
                <a:spcPts val="250"/>
              </a:spcBef>
              <a:buClr>
                <a:srgbClr val="0B3C5D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Alert: file ready</a:t>
            </a:r>
          </a:p>
          <a:p>
            <a:pPr marL="114300" indent="-114300" algn="l">
              <a:spcBef>
                <a:spcPts val="250"/>
              </a:spcBef>
              <a:buClr>
                <a:srgbClr val="0B3C5D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Teams / email + checklist</a:t>
            </a:r>
          </a:p>
          <a:p>
            <a:pPr marL="114300" indent="-114300" algn="l">
              <a:spcBef>
                <a:spcPts val="250"/>
              </a:spcBef>
              <a:buClr>
                <a:srgbClr val="0B3C5D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Pre-fill adaptive card</a:t>
            </a:r>
          </a:p>
          <a:p>
            <a:pPr marL="114300" indent="-114300" algn="l">
              <a:spcBef>
                <a:spcPts val="250"/>
              </a:spcBef>
              <a:buClr>
                <a:srgbClr val="0B3C5D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User confirmation</a:t>
            </a:r>
          </a:p>
          <a:p>
            <a:pPr marL="114300" indent="-114300" algn="l">
              <a:spcBef>
                <a:spcPts val="250"/>
              </a:spcBef>
              <a:buClr>
                <a:srgbClr val="0B3C5D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Trigger BOT (HTTP / RPA)</a:t>
            </a:r>
          </a:p>
        </p:txBody>
      </p:sp>
      <p:sp>
        <p:nvSpPr>
          <p:cNvPr id="69" name="s70"/>
          <p:cNvSpPr/>
          <p:nvPr/>
        </p:nvSpPr>
        <p:spPr>
          <a:xfrm>
            <a:off x="9125712" y="1417320"/>
            <a:ext cx="146304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23E5E"/>
            </a:solidFill>
          </a:ln>
        </p:spPr>
        <p:txBody>
          <a:bodyPr/>
          <a:lstStyle/>
          <a:p/>
        </p:txBody>
      </p:sp>
      <p:sp>
        <p:nvSpPr>
          <p:cNvPr id="71" name="s72"/>
          <p:cNvSpPr/>
          <p:nvPr/>
        </p:nvSpPr>
        <p:spPr>
          <a:xfrm>
            <a:off x="9125712" y="1417320"/>
            <a:ext cx="1463040" cy="603504"/>
          </a:xfrm>
          <a:prstGeom prst="roundRect">
            <a:avLst>
              <a:gd name="adj" fmla="val 9000"/>
            </a:avLst>
          </a:prstGeom>
          <a:solidFill>
            <a:srgbClr val="123E5E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s74"/>
          <p:cNvSpPr/>
          <p:nvPr/>
        </p:nvSpPr>
        <p:spPr>
          <a:xfrm>
            <a:off x="9125712" y="1691640"/>
            <a:ext cx="1463040" cy="329184"/>
          </a:xfrm>
          <a:prstGeom prst="rect">
            <a:avLst/>
          </a:prstGeom>
          <a:solidFill>
            <a:srgbClr val="123E5E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t76"/>
          <p:cNvSpPr txBox="1"/>
          <p:nvPr/>
        </p:nvSpPr>
        <p:spPr>
          <a:xfrm>
            <a:off x="9198864" y="1453896"/>
            <a:ext cx="1353312" cy="603504"/>
          </a:xfrm>
          <a:prstGeom prst="rect">
            <a:avLst/>
          </a:prstGeom>
          <a:noFill/>
        </p:spPr>
        <p:txBody>
          <a:bodyPr wrap="square" lIns="54000" tIns="27432" rIns="54000" bIns="27432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Calibri"/>
              </a:rPr>
              <a:t>Step 5:</a:t>
            </a:r>
          </a:p>
          <a:p>
            <a:pPr algn="l">
              <a:spcBef>
                <a:spcPts val="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Calibri"/>
              </a:rPr>
              <a:t>Exception &amp; Audit Log</a:t>
            </a:r>
          </a:p>
        </p:txBody>
      </p:sp>
      <p:sp>
        <p:nvSpPr>
          <p:cNvPr id="77" name="t78"/>
          <p:cNvSpPr txBox="1"/>
          <p:nvPr/>
        </p:nvSpPr>
        <p:spPr>
          <a:xfrm>
            <a:off x="9180576" y="2057400"/>
            <a:ext cx="1353312" cy="1837944"/>
          </a:xfrm>
          <a:prstGeom prst="rect">
            <a:avLst/>
          </a:prstGeom>
          <a:noFill/>
        </p:spPr>
        <p:txBody>
          <a:bodyPr wrap="square" lIns="54000" tIns="27432" rIns="54000" bIns="27432" anchor="t">
            <a:normAutofit/>
          </a:bodyPr>
          <a:lstStyle/>
          <a:p>
            <a:pPr marL="114300" indent="-114300" algn="l">
              <a:spcBef>
                <a:spcPts val="250"/>
              </a:spcBef>
              <a:buClr>
                <a:srgbClr val="123E5E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Log type, count, time, status</a:t>
            </a:r>
          </a:p>
          <a:p>
            <a:pPr marL="114300" indent="-114300" algn="l">
              <a:spcBef>
                <a:spcPts val="250"/>
              </a:spcBef>
              <a:buClr>
                <a:srgbClr val="123E5E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Alert on BOT errors</a:t>
            </a:r>
          </a:p>
          <a:p>
            <a:pPr marL="114300" indent="-114300" algn="l">
              <a:spcBef>
                <a:spcPts val="250"/>
              </a:spcBef>
              <a:buClr>
                <a:srgbClr val="123E5E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with failed claim numbers</a:t>
            </a:r>
          </a:p>
          <a:p>
            <a:pPr marL="114300" indent="-114300" algn="l">
              <a:spcBef>
                <a:spcPts val="250"/>
              </a:spcBef>
              <a:buClr>
                <a:srgbClr val="123E5E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Weekly summary to team lead</a:t>
            </a:r>
          </a:p>
        </p:txBody>
      </p:sp>
      <p:sp>
        <p:nvSpPr>
          <p:cNvPr id="79" name="c80"/>
          <p:cNvSpPr/>
          <p:nvPr/>
        </p:nvSpPr>
        <p:spPr>
          <a:xfrm>
            <a:off x="1371600" y="2368296"/>
            <a:ext cx="128016" cy="310896"/>
          </a:xfrm>
          <a:prstGeom prst="rightArrow">
            <a:avLst/>
          </a:prstGeom>
          <a:solidFill>
            <a:srgbClr val="8A99A8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c82"/>
          <p:cNvSpPr/>
          <p:nvPr/>
        </p:nvSpPr>
        <p:spPr>
          <a:xfrm>
            <a:off x="2999232" y="2368296"/>
            <a:ext cx="109728" cy="310896"/>
          </a:xfrm>
          <a:prstGeom prst="rightArrow">
            <a:avLst/>
          </a:prstGeom>
          <a:solidFill>
            <a:srgbClr val="8A99A8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c84"/>
          <p:cNvSpPr/>
          <p:nvPr/>
        </p:nvSpPr>
        <p:spPr>
          <a:xfrm>
            <a:off x="4608576" y="2368296"/>
            <a:ext cx="109728" cy="310896"/>
          </a:xfrm>
          <a:prstGeom prst="rightArrow">
            <a:avLst/>
          </a:prstGeom>
          <a:solidFill>
            <a:srgbClr val="8A99A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c86"/>
          <p:cNvSpPr/>
          <p:nvPr/>
        </p:nvSpPr>
        <p:spPr>
          <a:xfrm>
            <a:off x="5715000" y="2368296"/>
            <a:ext cx="173736" cy="310896"/>
          </a:xfrm>
          <a:prstGeom prst="rightArrow">
            <a:avLst/>
          </a:prstGeom>
          <a:solidFill>
            <a:srgbClr val="8A99A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c88"/>
          <p:cNvSpPr/>
          <p:nvPr/>
        </p:nvSpPr>
        <p:spPr>
          <a:xfrm>
            <a:off x="7351775" y="2368296"/>
            <a:ext cx="146304" cy="310896"/>
          </a:xfrm>
          <a:prstGeom prst="rightArrow">
            <a:avLst/>
          </a:prstGeom>
          <a:solidFill>
            <a:srgbClr val="8A99A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c90"/>
          <p:cNvSpPr/>
          <p:nvPr/>
        </p:nvSpPr>
        <p:spPr>
          <a:xfrm>
            <a:off x="8979408" y="2368296"/>
            <a:ext cx="128016" cy="310896"/>
          </a:xfrm>
          <a:prstGeom prst="rightArrow">
            <a:avLst/>
          </a:prstGeom>
          <a:solidFill>
            <a:srgbClr val="8A99A8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t92"/>
          <p:cNvSpPr txBox="1"/>
          <p:nvPr/>
        </p:nvSpPr>
        <p:spPr>
          <a:xfrm>
            <a:off x="5687568" y="2011680"/>
            <a:ext cx="548640" cy="274320"/>
          </a:xfrm>
          <a:prstGeom prst="rect">
            <a:avLst/>
          </a:prstGeom>
          <a:noFill/>
        </p:spPr>
        <p:txBody>
          <a:bodyPr wrap="square" lIns="54000" tIns="27432" rIns="54000" bIns="27432" anchor="t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33475B"/>
                </a:solidFill>
                <a:latin typeface="Calibri"/>
              </a:rPr>
              <a:t>No</a:t>
            </a:r>
          </a:p>
        </p:txBody>
      </p:sp>
      <p:sp>
        <p:nvSpPr>
          <p:cNvPr id="93" name="c94"/>
          <p:cNvSpPr/>
          <p:nvPr/>
        </p:nvSpPr>
        <p:spPr>
          <a:xfrm>
            <a:off x="5084064" y="3200400"/>
            <a:ext cx="310896" cy="969264"/>
          </a:xfrm>
          <a:prstGeom prst="downArrow">
            <a:avLst/>
          </a:prstGeom>
          <a:solidFill>
            <a:srgbClr val="6B3FA0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t96"/>
          <p:cNvSpPr txBox="1"/>
          <p:nvPr/>
        </p:nvSpPr>
        <p:spPr>
          <a:xfrm>
            <a:off x="5440680" y="3310128"/>
            <a:ext cx="640080" cy="274320"/>
          </a:xfrm>
          <a:prstGeom prst="rect">
            <a:avLst/>
          </a:prstGeom>
          <a:noFill/>
        </p:spPr>
        <p:txBody>
          <a:bodyPr wrap="square" lIns="54000" tIns="27432" rIns="54000" bIns="27432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900" b="1" dirty="0">
                <a:solidFill>
                  <a:srgbClr val="6B3FA0"/>
                </a:solidFill>
                <a:latin typeface="Calibri"/>
              </a:rPr>
              <a:t>Yes</a:t>
            </a:r>
          </a:p>
        </p:txBody>
      </p:sp>
      <p:sp>
        <p:nvSpPr>
          <p:cNvPr id="97" name="s98"/>
          <p:cNvSpPr/>
          <p:nvPr/>
        </p:nvSpPr>
        <p:spPr>
          <a:xfrm>
            <a:off x="4370832" y="4261104"/>
            <a:ext cx="2240280" cy="16276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6B3FA0"/>
            </a:solidFill>
          </a:ln>
        </p:spPr>
        <p:txBody>
          <a:bodyPr/>
          <a:lstStyle/>
          <a:p/>
        </p:txBody>
      </p:sp>
      <p:sp>
        <p:nvSpPr>
          <p:cNvPr id="99" name="s100"/>
          <p:cNvSpPr/>
          <p:nvPr/>
        </p:nvSpPr>
        <p:spPr>
          <a:xfrm>
            <a:off x="4370832" y="4261104"/>
            <a:ext cx="2240280" cy="603504"/>
          </a:xfrm>
          <a:prstGeom prst="roundRect">
            <a:avLst>
              <a:gd name="adj" fmla="val 9000"/>
            </a:avLst>
          </a:prstGeom>
          <a:solidFill>
            <a:srgbClr val="6B3F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s102"/>
          <p:cNvSpPr/>
          <p:nvPr/>
        </p:nvSpPr>
        <p:spPr>
          <a:xfrm>
            <a:off x="4370832" y="4535424"/>
            <a:ext cx="2240280" cy="329184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t104"/>
          <p:cNvSpPr txBox="1"/>
          <p:nvPr/>
        </p:nvSpPr>
        <p:spPr>
          <a:xfrm>
            <a:off x="4443984" y="4297680"/>
            <a:ext cx="2130552" cy="603504"/>
          </a:xfrm>
          <a:prstGeom prst="rect">
            <a:avLst/>
          </a:prstGeom>
          <a:noFill/>
        </p:spPr>
        <p:txBody>
          <a:bodyPr wrap="square" lIns="54000" tIns="27432" rIns="54000" bIns="27432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850" b="1" dirty="0">
                <a:solidFill>
                  <a:srgbClr val="FFFFFF"/>
                </a:solidFill>
                <a:latin typeface="Calibri"/>
              </a:rPr>
              <a:t>Step 4: M2 NSA_FAC_IND Validation</a:t>
            </a:r>
          </a:p>
        </p:txBody>
      </p:sp>
      <p:sp>
        <p:nvSpPr>
          <p:cNvPr id="105" name="t106"/>
          <p:cNvSpPr txBox="1"/>
          <p:nvPr/>
        </p:nvSpPr>
        <p:spPr>
          <a:xfrm>
            <a:off x="4425696" y="4901184"/>
            <a:ext cx="2130552" cy="950976"/>
          </a:xfrm>
          <a:prstGeom prst="rect">
            <a:avLst/>
          </a:prstGeom>
          <a:noFill/>
        </p:spPr>
        <p:txBody>
          <a:bodyPr wrap="square" lIns="54000" tIns="27432" rIns="54000" bIns="27432" anchor="t">
            <a:normAutofit/>
          </a:bodyPr>
          <a:lstStyle/>
          <a:p>
            <a:pPr marL="114300" indent="-114300" algn="l">
              <a:spcBef>
                <a:spcPts val="250"/>
              </a:spcBef>
              <a:buClr>
                <a:srgbClr val="6B3FA0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Filter NSA_FAC_IND = Y</a:t>
            </a:r>
          </a:p>
          <a:p>
            <a:pPr marL="114300" indent="-114300" algn="l">
              <a:spcBef>
                <a:spcPts val="250"/>
              </a:spcBef>
              <a:buClr>
                <a:srgbClr val="6B3FA0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Deduplicate claim_nbr + serv_nbr</a:t>
            </a:r>
          </a:p>
          <a:p>
            <a:pPr marL="114300" indent="-114300" algn="l">
              <a:spcBef>
                <a:spcPts val="250"/>
              </a:spcBef>
              <a:buClr>
                <a:srgbClr val="6B3FA0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Map PROF_CI_TO_APPLY to CI field</a:t>
            </a:r>
          </a:p>
          <a:p>
            <a:pPr marL="114300" indent="-114300" algn="l">
              <a:spcBef>
                <a:spcPts val="250"/>
              </a:spcBef>
              <a:buClr>
                <a:srgbClr val="6B3FA0"/>
              </a:buClr>
              <a:buFont typeface="Arial"/>
              <a:buChar char="▪"/>
            </a:pPr>
            <a:r>
              <a:rPr lang="en-US" sz="750" dirty="0">
                <a:solidFill>
                  <a:srgbClr val="33475B"/>
                </a:solidFill>
                <a:latin typeface="Calibri"/>
              </a:rPr>
              <a:t>Flag missing CI  -&gt;  exception alert</a:t>
            </a:r>
          </a:p>
        </p:txBody>
      </p:sp>
      <p:sp>
        <p:nvSpPr>
          <p:cNvPr id="107" name="c108"/>
          <p:cNvSpPr/>
          <p:nvPr/>
        </p:nvSpPr>
        <p:spPr>
          <a:xfrm>
            <a:off x="6355080" y="3931920"/>
            <a:ext cx="274320" cy="365760"/>
          </a:xfrm>
          <a:prstGeom prst="upArrow">
            <a:avLst/>
          </a:prstGeom>
          <a:solidFill>
            <a:srgbClr val="6B3F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s110"/>
          <p:cNvSpPr/>
          <p:nvPr/>
        </p:nvSpPr>
        <p:spPr>
          <a:xfrm>
            <a:off x="9400032" y="4370832"/>
            <a:ext cx="914400" cy="914400"/>
          </a:xfrm>
          <a:prstGeom prst="ellipse">
            <a:avLst/>
          </a:prstGeom>
          <a:solidFill>
            <a:srgbClr val="1E9E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t112"/>
          <p:cNvSpPr txBox="1"/>
          <p:nvPr/>
        </p:nvSpPr>
        <p:spPr>
          <a:xfrm>
            <a:off x="9400032" y="4535424"/>
            <a:ext cx="914400" cy="640080"/>
          </a:xfrm>
          <a:prstGeom prst="rect">
            <a:avLst/>
          </a:prstGeom>
          <a:noFill/>
        </p:spPr>
        <p:txBody>
          <a:bodyPr wrap="square" lIns="54000" tIns="27432" rIns="54000" bIns="27432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113" name="c114"/>
          <p:cNvSpPr/>
          <p:nvPr/>
        </p:nvSpPr>
        <p:spPr>
          <a:xfrm>
            <a:off x="9720072" y="3931920"/>
            <a:ext cx="274320" cy="438912"/>
          </a:xfrm>
          <a:prstGeom prst="downArrow">
            <a:avLst/>
          </a:prstGeom>
          <a:solidFill>
            <a:srgbClr val="1E9E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t116"/>
          <p:cNvSpPr txBox="1"/>
          <p:nvPr/>
        </p:nvSpPr>
        <p:spPr>
          <a:xfrm>
            <a:off x="8942832" y="5303520"/>
            <a:ext cx="1828800" cy="365760"/>
          </a:xfrm>
          <a:prstGeom prst="rect">
            <a:avLst/>
          </a:prstGeom>
          <a:noFill/>
        </p:spPr>
        <p:txBody>
          <a:bodyPr wrap="square" lIns="54000" tIns="27432" rIns="54000" bIns="27432" anchor="t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1E9E6A"/>
                </a:solidFill>
                <a:latin typeface="Calibri"/>
              </a:rPr>
              <a:t>Automation Complete</a:t>
            </a:r>
          </a:p>
        </p:txBody>
      </p:sp>
      <p:sp>
        <p:nvSpPr>
          <p:cNvPr id="117" name="s118"/>
          <p:cNvSpPr/>
          <p:nvPr/>
        </p:nvSpPr>
        <p:spPr>
          <a:xfrm>
            <a:off x="274320" y="4370832"/>
            <a:ext cx="3657600" cy="16002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6350">
            <a:solidFill>
              <a:srgbClr val="D7E0E8"/>
            </a:solidFill>
          </a:ln>
        </p:spPr>
        <p:txBody>
          <a:bodyPr/>
          <a:lstStyle/>
          <a:p/>
        </p:txBody>
      </p:sp>
      <p:sp>
        <p:nvSpPr>
          <p:cNvPr id="119" name="t120"/>
          <p:cNvSpPr txBox="1"/>
          <p:nvPr/>
        </p:nvSpPr>
        <p:spPr>
          <a:xfrm>
            <a:off x="384048" y="4425696"/>
            <a:ext cx="3474720" cy="274320"/>
          </a:xfrm>
          <a:prstGeom prst="rect">
            <a:avLst/>
          </a:prstGeom>
          <a:noFill/>
        </p:spPr>
        <p:txBody>
          <a:bodyPr wrap="square" lIns="54000" tIns="27432" rIns="54000" bIns="27432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950" b="1" dirty="0">
                <a:solidFill>
                  <a:srgbClr val="0B3C5D"/>
                </a:solidFill>
                <a:latin typeface="Calibri"/>
              </a:rPr>
              <a:t>LEGEND</a:t>
            </a:r>
          </a:p>
        </p:txBody>
      </p:sp>
      <p:sp>
        <p:nvSpPr>
          <p:cNvPr id="121" name="s122"/>
          <p:cNvSpPr/>
          <p:nvPr/>
        </p:nvSpPr>
        <p:spPr>
          <a:xfrm>
            <a:off x="411480" y="4736592"/>
            <a:ext cx="182880" cy="146304"/>
          </a:xfrm>
          <a:prstGeom prst="rect">
            <a:avLst/>
          </a:prstGeom>
          <a:solidFill>
            <a:srgbClr val="1C6E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" name="t124"/>
          <p:cNvSpPr txBox="1"/>
          <p:nvPr/>
        </p:nvSpPr>
        <p:spPr>
          <a:xfrm>
            <a:off x="658368" y="4672584"/>
            <a:ext cx="3200400" cy="274320"/>
          </a:xfrm>
          <a:prstGeom prst="rect">
            <a:avLst/>
          </a:prstGeom>
          <a:noFill/>
        </p:spPr>
        <p:txBody>
          <a:bodyPr wrap="square" lIns="54000" tIns="27432" rIns="54000" bIns="27432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850" dirty="0">
                <a:solidFill>
                  <a:srgbClr val="33475B"/>
                </a:solidFill>
                <a:latin typeface="Calibri"/>
              </a:rPr>
              <a:t>Data Extraction</a:t>
            </a:r>
          </a:p>
        </p:txBody>
      </p:sp>
      <p:sp>
        <p:nvSpPr>
          <p:cNvPr id="125" name="s126"/>
          <p:cNvSpPr/>
          <p:nvPr/>
        </p:nvSpPr>
        <p:spPr>
          <a:xfrm>
            <a:off x="411480" y="4969764"/>
            <a:ext cx="182880" cy="146304"/>
          </a:xfrm>
          <a:prstGeom prst="rect">
            <a:avLst/>
          </a:prstGeom>
          <a:solidFill>
            <a:srgbClr val="159A8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" name="t128"/>
          <p:cNvSpPr txBox="1"/>
          <p:nvPr/>
        </p:nvSpPr>
        <p:spPr>
          <a:xfrm>
            <a:off x="658368" y="4905756"/>
            <a:ext cx="3200400" cy="274320"/>
          </a:xfrm>
          <a:prstGeom prst="rect">
            <a:avLst/>
          </a:prstGeom>
          <a:noFill/>
        </p:spPr>
        <p:txBody>
          <a:bodyPr wrap="square" lIns="54000" tIns="27432" rIns="54000" bIns="27432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850" dirty="0">
                <a:solidFill>
                  <a:srgbClr val="33475B"/>
                </a:solidFill>
                <a:latin typeface="Calibri"/>
              </a:rPr>
              <a:t>Data Transformation</a:t>
            </a:r>
          </a:p>
        </p:txBody>
      </p:sp>
      <p:sp>
        <p:nvSpPr>
          <p:cNvPr id="129" name="s130"/>
          <p:cNvSpPr/>
          <p:nvPr/>
        </p:nvSpPr>
        <p:spPr>
          <a:xfrm>
            <a:off x="411480" y="5202936"/>
            <a:ext cx="182880" cy="146304"/>
          </a:xfrm>
          <a:prstGeom prst="rect">
            <a:avLst/>
          </a:prstGeom>
          <a:solidFill>
            <a:srgbClr val="E08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" name="t132"/>
          <p:cNvSpPr txBox="1"/>
          <p:nvPr/>
        </p:nvSpPr>
        <p:spPr>
          <a:xfrm>
            <a:off x="658368" y="5138928"/>
            <a:ext cx="3200400" cy="274320"/>
          </a:xfrm>
          <a:prstGeom prst="rect">
            <a:avLst/>
          </a:prstGeom>
          <a:noFill/>
        </p:spPr>
        <p:txBody>
          <a:bodyPr wrap="square" lIns="54000" tIns="27432" rIns="54000" bIns="27432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850" dirty="0">
                <a:solidFill>
                  <a:srgbClr val="33475B"/>
                </a:solidFill>
                <a:latin typeface="Calibri"/>
              </a:rPr>
              <a:t>Macro Load (New step)</a:t>
            </a:r>
          </a:p>
        </p:txBody>
      </p:sp>
      <p:sp>
        <p:nvSpPr>
          <p:cNvPr id="133" name="s134"/>
          <p:cNvSpPr/>
          <p:nvPr/>
        </p:nvSpPr>
        <p:spPr>
          <a:xfrm>
            <a:off x="411480" y="5436108"/>
            <a:ext cx="182880" cy="146304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t136"/>
          <p:cNvSpPr txBox="1"/>
          <p:nvPr/>
        </p:nvSpPr>
        <p:spPr>
          <a:xfrm>
            <a:off x="658368" y="5372100"/>
            <a:ext cx="3200400" cy="274320"/>
          </a:xfrm>
          <a:prstGeom prst="rect">
            <a:avLst/>
          </a:prstGeom>
          <a:noFill/>
        </p:spPr>
        <p:txBody>
          <a:bodyPr wrap="square" lIns="54000" tIns="27432" rIns="54000" bIns="27432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850" dirty="0">
                <a:solidFill>
                  <a:srgbClr val="33475B"/>
                </a:solidFill>
                <a:latin typeface="Calibri"/>
              </a:rPr>
              <a:t>M2 Validation (Conditional)</a:t>
            </a:r>
          </a:p>
        </p:txBody>
      </p:sp>
      <p:sp>
        <p:nvSpPr>
          <p:cNvPr id="137" name="s138"/>
          <p:cNvSpPr/>
          <p:nvPr/>
        </p:nvSpPr>
        <p:spPr>
          <a:xfrm>
            <a:off x="411480" y="5669280"/>
            <a:ext cx="182880" cy="146304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t140"/>
          <p:cNvSpPr txBox="1"/>
          <p:nvPr/>
        </p:nvSpPr>
        <p:spPr>
          <a:xfrm>
            <a:off x="658368" y="5605272"/>
            <a:ext cx="3200400" cy="274320"/>
          </a:xfrm>
          <a:prstGeom prst="rect">
            <a:avLst/>
          </a:prstGeom>
          <a:noFill/>
        </p:spPr>
        <p:txBody>
          <a:bodyPr wrap="square" lIns="54000" tIns="27432" rIns="54000" bIns="27432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850" dirty="0">
                <a:solidFill>
                  <a:srgbClr val="33475B"/>
                </a:solidFill>
                <a:latin typeface="Calibri"/>
              </a:rPr>
              <a:t>BOT Hand-off &amp; Logging</a:t>
            </a:r>
          </a:p>
        </p:txBody>
      </p:sp>
      <p:sp>
        <p:nvSpPr>
          <p:cNvPr id="141" name="s142"/>
          <p:cNvSpPr/>
          <p:nvPr/>
        </p:nvSpPr>
        <p:spPr>
          <a:xfrm>
            <a:off x="5907024" y="4224528"/>
            <a:ext cx="1463040" cy="658368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 w="6350">
            <a:solidFill>
              <a:srgbClr val="E08E0B"/>
            </a:solidFill>
          </a:ln>
        </p:spPr>
        <p:txBody>
          <a:bodyPr/>
          <a:lstStyle/>
          <a:p/>
        </p:txBody>
      </p:sp>
      <p:sp>
        <p:nvSpPr>
          <p:cNvPr id="143" name="t144"/>
          <p:cNvSpPr txBox="1"/>
          <p:nvPr/>
        </p:nvSpPr>
        <p:spPr>
          <a:xfrm>
            <a:off x="5943600" y="4261104"/>
            <a:ext cx="1389888" cy="603504"/>
          </a:xfrm>
          <a:prstGeom prst="rect">
            <a:avLst/>
          </a:prstGeom>
          <a:noFill/>
        </p:spPr>
        <p:txBody>
          <a:bodyPr wrap="square" lIns="54000" tIns="27432" rIns="54000" bIns="27432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700" b="1" dirty="0">
                <a:solidFill>
                  <a:srgbClr val="8A5A00"/>
                </a:solidFill>
                <a:latin typeface="Calibri"/>
              </a:rPr>
              <a:t>Replaces manual loading of claims into the macro file</a:t>
            </a:r>
          </a:p>
        </p:txBody>
      </p:sp>
      <p:sp>
        <p:nvSpPr>
          <p:cNvPr id="145" name="s146"/>
          <p:cNvSpPr/>
          <p:nvPr/>
        </p:nvSpPr>
        <p:spPr>
          <a:xfrm>
            <a:off x="0" y="6400800"/>
            <a:ext cx="12192000" cy="18288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" name="t148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square" lIns="54000" tIns="27432" rIns="54000" bIns="27432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800" dirty="0">
                <a:solidFill>
                  <a:srgbClr val="8A99A8"/>
                </a:solidFill>
                <a:latin typeface="Calibri"/>
              </a:rPr>
              <a:t>1455 Lincoln Parkway East, 8th Floor, Atlanta, GA 30346  |  www.innovasolutions.com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B3C5D"/>
      </a:dk2>
      <a:lt2>
        <a:srgbClr val="F4F7FA"/>
      </a:lt2>
      <a:accent1>
        <a:srgbClr val="1C6EA4"/>
      </a:accent1>
      <a:accent2>
        <a:srgbClr val="159A8C"/>
      </a:accent2>
      <a:accent3>
        <a:srgbClr val="6B3FA0"/>
      </a:accent3>
      <a:accent4>
        <a:srgbClr val="E08E0B"/>
      </a:accent4>
      <a:accent5>
        <a:srgbClr val="0B3C5D"/>
      </a:accent5>
      <a:accent6>
        <a:srgbClr val="8A99A8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Python OOXML Generator</Application>
  <Slides>1</Slides>
  <Company>Innova Solutions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Automation Scope Using Python</dc:title>
  <dc:creator>Innova Solutions</dc:creator>
  <cp:lastModifiedBy>Innova Solutions</cp:lastModifiedBy>
</cp:coreProperties>
</file>