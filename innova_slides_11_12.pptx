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99"/>
  </p:sldMasterIdLst>
  <p:sldIdLst>
    <p:sldId id="256" r:id="rId1"/>
    <p:sldId id="257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99" Type="http://schemas.openxmlformats.org/officeDocument/2006/relationships/slideMaster" Target="slideMasters/slideMaster1.xml"/>
<Relationship Id="rId100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<Relationship Id="rId1" Type="http://schemas.openxmlformats.org/officeDocument/2006/relationships/slideMaster"
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<Relationship Id="rId1" Type="http://schemas.openxmlformats.org/officeDocument/2006/relationships/slideLayout"
  Target="../slideLayouts/slideLayout1.xml"/>
 <Relationship Id="rId2" Type="http://schemas.openxmlformats.org/officeDocument/2006/relationships/theme"
 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lvl1pPr>
        <a:defRPr lang="en-US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3" name="footer"/>
          <p:cNvSpPr>
            <a:spLocks noGrp="1"/>
          </p:cNvSpPr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F5E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700" b="0" i="0" dirty="0">
                <a:solidFill>
                  <a:srgbClr val="FFFFFF"/>
                </a:solidFill>
                <a:latin typeface="+mj-lt"/>
              </a:rPr>
              <a:t>  1455 LINCOLN PARKWAY EAST, 8TH FLOOR, ATLANTA, GA 30346  |  WWW.INNOVASOLUTIONS.COM</a:t>
            </a:r>
          </a:p>
        </p:txBody>
      </p:sp>
      <p:sp>
        <p:nvSpPr>
          <p:cNvPr id="10" name="title"/>
          <p:cNvSpPr>
            <a:spLocks noGrp="1"/>
          </p:cNvSpPr>
          <p:nvPr/>
        </p:nvSpPr>
        <p:spPr>
          <a:xfrm>
            <a:off x="320040" y="25603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3200" b="1" i="0" dirty="0">
                <a:solidFill>
                  <a:srgbClr val="1B2F5E"/>
                </a:solidFill>
                <a:latin typeface="+mj-lt"/>
              </a:rPr>
              <a:t>MCP Servers: Connecting Claude to Enterprise Systems</a:t>
            </a:r>
          </a:p>
        </p:txBody>
      </p:sp>
      <p:sp>
        <p:nvSpPr>
          <p:cNvPr id="11" name="subtitle"/>
          <p:cNvSpPr>
            <a:spLocks noGrp="1"/>
          </p:cNvSpPr>
          <p:nvPr/>
        </p:nvSpPr>
        <p:spPr>
          <a:xfrm>
            <a:off x="320040" y="80467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1000" b="0" i="1" dirty="0">
                <a:solidFill>
                  <a:srgbClr val="555555"/>
                </a:solidFill>
                <a:latin typeface="+mj-lt"/>
              </a:rPr>
              <a:t>Introduce how Claude securely connects to enterprise tools, databases, and applications via Model Context Protocol.</a:t>
            </a:r>
          </a:p>
        </p:txBody>
      </p:sp>
      <p:sp>
        <p:nvSpPr>
          <p:cNvPr id="14" name="logo"/>
          <p:cNvSpPr>
            <a:spLocks noGrp="1"/>
          </p:cNvSpPr>
          <p:nvPr/>
        </p:nvSpPr>
        <p:spPr>
          <a:xfrm>
            <a:off x="9966960" y="1371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r" indent="0" marL="0">
              <a:spcBef>
                <a:spcPts spc="0"/>
              </a:spcBef>
              <a:spcAft>
                <a:spcPts spc="0"/>
              </a:spcAft>
            </a:pPr>
            <a:r>
              <a:rPr lang="en-US" sz="2000" b="1" i="0" dirty="0">
                <a:solidFill>
                  <a:srgbClr val="1B7A8A"/>
                </a:solidFill>
                <a:latin typeface="+mj-lt"/>
              </a:rPr>
              <a:t>innova</a:t>
            </a:r>
          </a:p>
          <a:p>
            <a:pPr algn="r" indent="0" marL="0">
              <a:spcBef>
                <a:spcPts spc="0"/>
              </a:spcBef>
              <a:spcAft>
                <a:spcPts spc="0"/>
              </a:spcAft>
            </a:pPr>
            <a:r>
              <a:rPr lang="en-US" sz="1100" b="1" i="0" dirty="0">
                <a:solidFill>
                  <a:srgbClr val="1B2F5E"/>
                </a:solidFill>
                <a:latin typeface="+mj-lt"/>
              </a:rPr>
              <a:t>SOLUTIONS</a:t>
            </a:r>
          </a:p>
        </p:txBody>
      </p:sp>
      <p:sp>
        <p:nvSpPr>
          <p:cNvPr id="20" name="hub"/>
          <p:cNvSpPr>
            <a:spLocks noGrp="1"/>
          </p:cNvSpPr>
          <p:nvPr/>
        </p:nvSpPr>
        <p:spPr>
          <a:xfrm>
            <a:off x="5404104" y="2880360"/>
            <a:ext cx="1371600" cy="1371600"/>
          </a:xfrm>
          <a:prstGeom prst="rect">
            <a:avLst/>
          </a:prstGeom>
          <a:solidFill>
            <a:srgbClr val="1B2F5E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1600" b="1" i="0" dirty="0">
                <a:solidFill>
                  <a:srgbClr val="FFFFFF"/>
                </a:solidFill>
                <a:latin typeface="+mj-lt"/>
              </a:rPr>
              <a:t>Claude</a:t>
            </a:r>
          </a:p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0" i="0" dirty="0">
                <a:solidFill>
                  <a:srgbClr val="D6E4F0"/>
                </a:solidFill>
                <a:latin typeface="+mj-lt"/>
              </a:rPr>
              <a:t>AI Core</a:t>
            </a:r>
          </a:p>
        </p:txBody>
      </p:sp>
      <p:sp>
        <p:nvSpPr>
          <p:cNvPr id="30" name="node_hdr_SharePoint"/>
          <p:cNvSpPr>
            <a:spLocks noGrp="1"/>
          </p:cNvSpPr>
          <p:nvPr/>
        </p:nvSpPr>
        <p:spPr>
          <a:xfrm>
            <a:off x="1655064" y="1874520"/>
            <a:ext cx="1920240" cy="256032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1000" b="1" i="0" dirty="0">
                <a:solidFill>
                  <a:srgbClr val="FFFFFF"/>
                </a:solidFill>
                <a:latin typeface="+mj-lt"/>
              </a:rPr>
              <a:t>  📁  SharePoint</a:t>
            </a:r>
          </a:p>
        </p:txBody>
      </p:sp>
      <p:sp>
        <p:nvSpPr>
          <p:cNvPr id="31" name="line_SharePoint"/>
          <p:cNvSpPr>
            <a:spLocks noGrp="1"/>
          </p:cNvSpPr>
          <p:nvPr/>
        </p:nvSpPr>
        <p:spPr>
          <a:xfrm>
            <a:off x="3575304" y="2176272"/>
            <a:ext cx="1828800" cy="36576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</p:txBody>
      </p:sp>
      <p:sp>
        <p:nvSpPr>
          <p:cNvPr id="32" name="node_hdr_Jira"/>
          <p:cNvSpPr>
            <a:spLocks noGrp="1"/>
          </p:cNvSpPr>
          <p:nvPr/>
        </p:nvSpPr>
        <p:spPr>
          <a:xfrm>
            <a:off x="1655064" y="3246120"/>
            <a:ext cx="1920240" cy="256032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1000" b="1" i="0" dirty="0">
                <a:solidFill>
                  <a:srgbClr val="FFFFFF"/>
                </a:solidFill>
                <a:latin typeface="+mj-lt"/>
              </a:rPr>
              <a:t>  🎯  Jira</a:t>
            </a:r>
          </a:p>
        </p:txBody>
      </p:sp>
      <p:sp>
        <p:nvSpPr>
          <p:cNvPr id="33" name="line_Jira"/>
          <p:cNvSpPr>
            <a:spLocks noGrp="1"/>
          </p:cNvSpPr>
          <p:nvPr/>
        </p:nvSpPr>
        <p:spPr>
          <a:xfrm>
            <a:off x="3575304" y="3547872"/>
            <a:ext cx="1828800" cy="36576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</p:txBody>
      </p:sp>
      <p:sp>
        <p:nvSpPr>
          <p:cNvPr id="34" name="node_hdr_Salesforce"/>
          <p:cNvSpPr>
            <a:spLocks noGrp="1"/>
          </p:cNvSpPr>
          <p:nvPr/>
        </p:nvSpPr>
        <p:spPr>
          <a:xfrm>
            <a:off x="1655064" y="4617720"/>
            <a:ext cx="1920240" cy="256032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1000" b="1" i="0" dirty="0">
                <a:solidFill>
                  <a:srgbClr val="FFFFFF"/>
                </a:solidFill>
                <a:latin typeface="+mj-lt"/>
              </a:rPr>
              <a:t>  ☁  Salesforce</a:t>
            </a:r>
          </a:p>
        </p:txBody>
      </p:sp>
      <p:sp>
        <p:nvSpPr>
          <p:cNvPr id="35" name="line_Salesforce"/>
          <p:cNvSpPr>
            <a:spLocks noGrp="1"/>
          </p:cNvSpPr>
          <p:nvPr/>
        </p:nvSpPr>
        <p:spPr>
          <a:xfrm>
            <a:off x="3575304" y="4919472"/>
            <a:ext cx="1828800" cy="36576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</p:txBody>
      </p:sp>
      <p:sp>
        <p:nvSpPr>
          <p:cNvPr id="36" name="node_hdr_SQL Database"/>
          <p:cNvSpPr>
            <a:spLocks noGrp="1"/>
          </p:cNvSpPr>
          <p:nvPr/>
        </p:nvSpPr>
        <p:spPr>
          <a:xfrm>
            <a:off x="8604504" y="1874520"/>
            <a:ext cx="1920240" cy="256032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1000" b="1" i="0" dirty="0">
                <a:solidFill>
                  <a:srgbClr val="FFFFFF"/>
                </a:solidFill>
                <a:latin typeface="+mj-lt"/>
              </a:rPr>
              <a:t>  🗄  SQL Database</a:t>
            </a:r>
          </a:p>
        </p:txBody>
      </p:sp>
      <p:sp>
        <p:nvSpPr>
          <p:cNvPr id="37" name="line_SQL Database"/>
          <p:cNvSpPr>
            <a:spLocks noGrp="1"/>
          </p:cNvSpPr>
          <p:nvPr/>
        </p:nvSpPr>
        <p:spPr>
          <a:xfrm>
            <a:off x="6775704" y="2176272"/>
            <a:ext cx="1828800" cy="36576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</p:txBody>
      </p:sp>
      <p:sp>
        <p:nvSpPr>
          <p:cNvPr id="38" name="node_hdr_APIs"/>
          <p:cNvSpPr>
            <a:spLocks noGrp="1"/>
          </p:cNvSpPr>
          <p:nvPr/>
        </p:nvSpPr>
        <p:spPr>
          <a:xfrm>
            <a:off x="8604504" y="3246120"/>
            <a:ext cx="1920240" cy="256032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1000" b="1" i="0" dirty="0">
                <a:solidFill>
                  <a:srgbClr val="FFFFFF"/>
                </a:solidFill>
                <a:latin typeface="+mj-lt"/>
              </a:rPr>
              <a:t>  🔌  APIs</a:t>
            </a:r>
          </a:p>
        </p:txBody>
      </p:sp>
      <p:sp>
        <p:nvSpPr>
          <p:cNvPr id="39" name="line_APIs"/>
          <p:cNvSpPr>
            <a:spLocks noGrp="1"/>
          </p:cNvSpPr>
          <p:nvPr/>
        </p:nvSpPr>
        <p:spPr>
          <a:xfrm>
            <a:off x="6775704" y="3547872"/>
            <a:ext cx="1828800" cy="36576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</p:txBody>
      </p:sp>
      <p:sp>
        <p:nvSpPr>
          <p:cNvPr id="40" name="node_hdr_Healthcare KB"/>
          <p:cNvSpPr>
            <a:spLocks noGrp="1"/>
          </p:cNvSpPr>
          <p:nvPr/>
        </p:nvSpPr>
        <p:spPr>
          <a:xfrm>
            <a:off x="8604504" y="4617720"/>
            <a:ext cx="1920240" cy="256032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1000" b="1" i="0" dirty="0">
                <a:solidFill>
                  <a:srgbClr val="FFFFFF"/>
                </a:solidFill>
                <a:latin typeface="+mj-lt"/>
              </a:rPr>
              <a:t>  🏥  Healthcare KB</a:t>
            </a:r>
          </a:p>
        </p:txBody>
      </p:sp>
      <p:sp>
        <p:nvSpPr>
          <p:cNvPr id="41" name="line_Healthcare KB"/>
          <p:cNvSpPr>
            <a:spLocks noGrp="1"/>
          </p:cNvSpPr>
          <p:nvPr/>
        </p:nvSpPr>
        <p:spPr>
          <a:xfrm>
            <a:off x="6775704" y="4919472"/>
            <a:ext cx="1828800" cy="36576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</p:txBody>
      </p:sp>
      <p:sp>
        <p:nvSpPr>
          <p:cNvPr id="42" name="without_hdr"/>
          <p:cNvSpPr>
            <a:spLocks noGrp="1"/>
          </p:cNvSpPr>
          <p:nvPr/>
        </p:nvSpPr>
        <p:spPr>
          <a:xfrm>
            <a:off x="320040" y="1325880"/>
            <a:ext cx="2560320" cy="32004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1000" b="1" i="0" dirty="0">
                <a:solidFill>
                  <a:srgbClr val="FFFFFF"/>
                </a:solidFill>
                <a:latin typeface="+mj-lt"/>
              </a:rPr>
              <a:t>Without MCP</a:t>
            </a:r>
          </a:p>
        </p:txBody>
      </p:sp>
      <p:sp>
        <p:nvSpPr>
          <p:cNvPr id="43" name="without_body"/>
          <p:cNvSpPr>
            <a:spLocks noGrp="1"/>
          </p:cNvSpPr>
          <p:nvPr/>
        </p:nvSpPr>
        <p:spPr>
          <a:xfrm>
            <a:off x="320040" y="1645920"/>
            <a:ext cx="2560320" cy="548640"/>
          </a:xfrm>
          <a:prstGeom prst="rect">
            <a:avLst/>
          </a:prstGeom>
          <a:solidFill>
            <a:srgbClr val="EAF2FB"/>
          </a:solidFill>
          <a:ln>
            <a:solidFill>
              <a:srgbClr val="E0E8F5"/>
            </a:solidFill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0" i="0" dirty="0">
                <a:solidFill>
                  <a:srgbClr val="333333"/>
                </a:solidFill>
                <a:latin typeface="+mj-lt"/>
              </a:rPr>
              <a:t>  Claude only knows what users type</a:t>
            </a:r>
          </a:p>
        </p:txBody>
      </p:sp>
      <p:sp>
        <p:nvSpPr>
          <p:cNvPr id="44" name="with_hdr"/>
          <p:cNvSpPr>
            <a:spLocks noGrp="1"/>
          </p:cNvSpPr>
          <p:nvPr/>
        </p:nvSpPr>
        <p:spPr>
          <a:xfrm>
            <a:off x="3063240" y="1325880"/>
            <a:ext cx="2560320" cy="320040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1000" b="1" i="0" dirty="0">
                <a:solidFill>
                  <a:srgbClr val="FFFFFF"/>
                </a:solidFill>
                <a:latin typeface="+mj-lt"/>
              </a:rPr>
              <a:t>With MCP</a:t>
            </a:r>
          </a:p>
        </p:txBody>
      </p:sp>
      <p:sp>
        <p:nvSpPr>
          <p:cNvPr id="45" name="with_body"/>
          <p:cNvSpPr>
            <a:spLocks noGrp="1"/>
          </p:cNvSpPr>
          <p:nvPr/>
        </p:nvSpPr>
        <p:spPr>
          <a:xfrm>
            <a:off x="3063240" y="1645920"/>
            <a:ext cx="2560320" cy="777240"/>
          </a:xfrm>
          <a:prstGeom prst="rect">
            <a:avLst/>
          </a:prstGeom>
          <a:solidFill>
            <a:srgbClr val="EAF2FB"/>
          </a:solidFill>
          <a:ln>
            <a:solidFill>
              <a:srgbClr val="E0E8F5"/>
            </a:solidFill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0" i="0" dirty="0">
                <a:solidFill>
                  <a:srgbClr val="333333"/>
                </a:solidFill>
                <a:latin typeface="+mj-lt"/>
              </a:rPr>
              <a:t>  Retrieve data  •  Query databases</a:t>
            </a:r>
          </a:p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0" i="0" dirty="0">
                <a:solidFill>
                  <a:srgbClr val="333333"/>
                </a:solidFill>
                <a:latin typeface="+mj-lt"/>
              </a:rPr>
              <a:t>  Access documents  •  Read knowledge bases</a:t>
            </a:r>
          </a:p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0" i="0" dirty="0">
                <a:solidFill>
                  <a:srgbClr val="333333"/>
                </a:solidFill>
                <a:latin typeface="+mj-lt"/>
              </a:rPr>
              <a:t>  Interact with enterprise applications</a:t>
            </a:r>
          </a:p>
        </p:txBody>
      </p:sp>
      <p:sp>
        <p:nvSpPr>
          <p:cNvPr id="46" name="callout_bg"/>
          <p:cNvSpPr>
            <a:spLocks noGrp="1"/>
          </p:cNvSpPr>
          <p:nvPr/>
        </p:nvSpPr>
        <p:spPr>
          <a:xfrm>
            <a:off x="320040" y="5897880"/>
            <a:ext cx="11521440" cy="502920"/>
          </a:xfrm>
          <a:prstGeom prst="rect">
            <a:avLst/>
          </a:prstGeom>
          <a:solidFill>
            <a:srgbClr val="1B2F5E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100"/>
              </a:spcBef>
              <a:spcAft>
                <a:spcPts spc="0"/>
              </a:spcAft>
            </a:pPr>
            <a:r>
              <a:rPr lang="en-US" sz="1300" b="1" i="1" dirty="0">
                <a:solidFill>
                  <a:srgbClr val="FFFFFF"/>
                </a:solidFill>
                <a:latin typeface="+mj-lt"/>
              </a:rPr>
              <a:t>"MCP transforms Claude from a chatbot into an enterprise assistant."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3" name="footer"/>
          <p:cNvSpPr>
            <a:spLocks noGrp="1"/>
          </p:cNvSpPr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F5E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700" b="0" i="0" dirty="0">
                <a:solidFill>
                  <a:srgbClr val="FFFFFF"/>
                </a:solidFill>
                <a:latin typeface="+mj-lt"/>
              </a:rPr>
              <a:t>  1455 LINCOLN PARKWAY EAST, 8TH FLOOR, ATLANTA, GA 30346  |  WWW.INNOVASOLUTIONS.COM</a:t>
            </a:r>
          </a:p>
        </p:txBody>
      </p:sp>
      <p:sp>
        <p:nvSpPr>
          <p:cNvPr id="10" name="title"/>
          <p:cNvSpPr>
            <a:spLocks noGrp="1"/>
          </p:cNvSpPr>
          <p:nvPr/>
        </p:nvSpPr>
        <p:spPr>
          <a:xfrm>
            <a:off x="320040" y="25603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3200" b="1" i="0" dirty="0">
                <a:solidFill>
                  <a:srgbClr val="1B2F5E"/>
                </a:solidFill>
                <a:latin typeface="+mj-lt"/>
              </a:rPr>
              <a:t>AI Agents: Moving Beyond Questions &amp; Answers</a:t>
            </a:r>
          </a:p>
        </p:txBody>
      </p:sp>
      <p:sp>
        <p:nvSpPr>
          <p:cNvPr id="11" name="subtitle"/>
          <p:cNvSpPr>
            <a:spLocks noGrp="1"/>
          </p:cNvSpPr>
          <p:nvPr/>
        </p:nvSpPr>
        <p:spPr>
          <a:xfrm>
            <a:off x="320040" y="80467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1000" b="0" i="1" dirty="0">
                <a:solidFill>
                  <a:srgbClr val="555555"/>
                </a:solidFill>
                <a:latin typeface="+mj-lt"/>
              </a:rPr>
              <a:t>How AI evolves from responding to prompts into executing multi-step business workflows.</a:t>
            </a:r>
          </a:p>
        </p:txBody>
      </p:sp>
      <p:sp>
        <p:nvSpPr>
          <p:cNvPr id="14" name="logo"/>
          <p:cNvSpPr>
            <a:spLocks noGrp="1"/>
          </p:cNvSpPr>
          <p:nvPr/>
        </p:nvSpPr>
        <p:spPr>
          <a:xfrm>
            <a:off x="9966960" y="1371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r" indent="0" marL="0">
              <a:spcBef>
                <a:spcPts spc="0"/>
              </a:spcBef>
              <a:spcAft>
                <a:spcPts spc="0"/>
              </a:spcAft>
            </a:pPr>
            <a:r>
              <a:rPr lang="en-US" sz="2000" b="1" i="0" dirty="0">
                <a:solidFill>
                  <a:srgbClr val="1B7A8A"/>
                </a:solidFill>
                <a:latin typeface="+mj-lt"/>
              </a:rPr>
              <a:t>innova</a:t>
            </a:r>
          </a:p>
          <a:p>
            <a:pPr algn="r" indent="0" marL="0">
              <a:spcBef>
                <a:spcPts spc="0"/>
              </a:spcBef>
              <a:spcAft>
                <a:spcPts spc="0"/>
              </a:spcAft>
            </a:pPr>
            <a:r>
              <a:rPr lang="en-US" sz="1100" b="1" i="0" dirty="0">
                <a:solidFill>
                  <a:srgbClr val="1B2F5E"/>
                </a:solidFill>
                <a:latin typeface="+mj-lt"/>
              </a:rPr>
              <a:t>SOLUTIONS</a:t>
            </a:r>
          </a:p>
        </p:txBody>
      </p:sp>
      <p:sp>
        <p:nvSpPr>
          <p:cNvPr id="20" name="step_hdr_0"/>
          <p:cNvSpPr>
            <a:spLocks noGrp="1"/>
          </p:cNvSpPr>
          <p:nvPr/>
        </p:nvSpPr>
        <p:spPr>
          <a:xfrm>
            <a:off x="320040" y="1371600"/>
            <a:ext cx="1691640" cy="320040"/>
          </a:xfrm>
          <a:prstGeom prst="rect">
            <a:avLst/>
          </a:prstGeom>
          <a:solidFill>
            <a:srgbClr val="1B2F5E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1050" b="1" i="0" dirty="0">
                <a:solidFill>
                  <a:srgbClr val="FFFFFF"/>
                </a:solidFill>
                <a:latin typeface="+mj-lt"/>
              </a:rPr>
              <a:t>01  🎯  Goal</a:t>
            </a:r>
          </a:p>
        </p:txBody>
      </p:sp>
      <p:sp>
        <p:nvSpPr>
          <p:cNvPr id="21" name="step_body_0"/>
          <p:cNvSpPr>
            <a:spLocks noGrp="1"/>
          </p:cNvSpPr>
          <p:nvPr/>
        </p:nvSpPr>
        <p:spPr>
          <a:xfrm>
            <a:off x="320040" y="1691640"/>
            <a:ext cx="1691640" cy="731520"/>
          </a:xfrm>
          <a:prstGeom prst="rect">
            <a:avLst/>
          </a:prstGeom>
          <a:solidFill>
            <a:srgbClr val="EAF2FB"/>
          </a:solidFill>
          <a:ln>
            <a:solidFill>
              <a:srgbClr val="E0E8F5"/>
            </a:solidFill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0" i="0" dirty="0">
                <a:solidFill>
                  <a:srgbClr val="333333"/>
                </a:solidFill>
                <a:latin typeface="+mj-lt"/>
              </a:rPr>
              <a:t>Define the
objective clearly</a:t>
            </a:r>
          </a:p>
        </p:txBody>
      </p:sp>
      <p:sp>
        <p:nvSpPr>
          <p:cNvPr id="22" name="arrow_0"/>
          <p:cNvSpPr>
            <a:spLocks noGrp="1"/>
          </p:cNvSpPr>
          <p:nvPr/>
        </p:nvSpPr>
        <p:spPr>
          <a:xfrm>
            <a:off x="2011680" y="1801368"/>
            <a:ext cx="201168" cy="54864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</p:txBody>
      </p:sp>
      <p:sp>
        <p:nvSpPr>
          <p:cNvPr id="23" name="step_hdr_1"/>
          <p:cNvSpPr>
            <a:spLocks noGrp="1"/>
          </p:cNvSpPr>
          <p:nvPr/>
        </p:nvSpPr>
        <p:spPr>
          <a:xfrm>
            <a:off x="2212848" y="1371600"/>
            <a:ext cx="1691640" cy="320040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1050" b="1" i="0" dirty="0">
                <a:solidFill>
                  <a:srgbClr val="FFFFFF"/>
                </a:solidFill>
                <a:latin typeface="+mj-lt"/>
              </a:rPr>
              <a:t>02  🗺  Plan</a:t>
            </a:r>
          </a:p>
        </p:txBody>
      </p:sp>
      <p:sp>
        <p:nvSpPr>
          <p:cNvPr id="24" name="step_body_1"/>
          <p:cNvSpPr>
            <a:spLocks noGrp="1"/>
          </p:cNvSpPr>
          <p:nvPr/>
        </p:nvSpPr>
        <p:spPr>
          <a:xfrm>
            <a:off x="2212848" y="1691640"/>
            <a:ext cx="1691640" cy="731520"/>
          </a:xfrm>
          <a:prstGeom prst="rect">
            <a:avLst/>
          </a:prstGeom>
          <a:solidFill>
            <a:srgbClr val="EAF2FB"/>
          </a:solidFill>
          <a:ln>
            <a:solidFill>
              <a:srgbClr val="E0E8F5"/>
            </a:solidFill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0" i="0" dirty="0">
                <a:solidFill>
                  <a:srgbClr val="333333"/>
                </a:solidFill>
                <a:latin typeface="+mj-lt"/>
              </a:rPr>
              <a:t>Break into
steps &amp; sub-tasks</a:t>
            </a:r>
          </a:p>
        </p:txBody>
      </p:sp>
      <p:sp>
        <p:nvSpPr>
          <p:cNvPr id="25" name="arrow_1"/>
          <p:cNvSpPr>
            <a:spLocks noGrp="1"/>
          </p:cNvSpPr>
          <p:nvPr/>
        </p:nvSpPr>
        <p:spPr>
          <a:xfrm>
            <a:off x="3904488" y="1801368"/>
            <a:ext cx="201168" cy="54864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</p:txBody>
      </p:sp>
      <p:sp>
        <p:nvSpPr>
          <p:cNvPr id="26" name="step_hdr_2"/>
          <p:cNvSpPr>
            <a:spLocks noGrp="1"/>
          </p:cNvSpPr>
          <p:nvPr/>
        </p:nvSpPr>
        <p:spPr>
          <a:xfrm>
            <a:off x="4105656" y="1371600"/>
            <a:ext cx="1691640" cy="320040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1050" b="1" i="0" dirty="0">
                <a:solidFill>
                  <a:srgbClr val="FFFFFF"/>
                </a:solidFill>
                <a:latin typeface="+mj-lt"/>
              </a:rPr>
              <a:t>03  🔧  Tools</a:t>
            </a:r>
          </a:p>
        </p:txBody>
      </p:sp>
      <p:sp>
        <p:nvSpPr>
          <p:cNvPr id="27" name="step_body_2"/>
          <p:cNvSpPr>
            <a:spLocks noGrp="1"/>
          </p:cNvSpPr>
          <p:nvPr/>
        </p:nvSpPr>
        <p:spPr>
          <a:xfrm>
            <a:off x="4105656" y="1691640"/>
            <a:ext cx="1691640" cy="731520"/>
          </a:xfrm>
          <a:prstGeom prst="rect">
            <a:avLst/>
          </a:prstGeom>
          <a:solidFill>
            <a:srgbClr val="EAF2FB"/>
          </a:solidFill>
          <a:ln>
            <a:solidFill>
              <a:srgbClr val="E0E8F5"/>
            </a:solidFill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0" i="0" dirty="0">
                <a:solidFill>
                  <a:srgbClr val="333333"/>
                </a:solidFill>
                <a:latin typeface="+mj-lt"/>
              </a:rPr>
              <a:t>Select APIs,
databases, models</a:t>
            </a:r>
          </a:p>
        </p:txBody>
      </p:sp>
      <p:sp>
        <p:nvSpPr>
          <p:cNvPr id="28" name="arrow_2"/>
          <p:cNvSpPr>
            <a:spLocks noGrp="1"/>
          </p:cNvSpPr>
          <p:nvPr/>
        </p:nvSpPr>
        <p:spPr>
          <a:xfrm>
            <a:off x="5797296" y="1801368"/>
            <a:ext cx="201168" cy="54864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</p:txBody>
      </p:sp>
      <p:sp>
        <p:nvSpPr>
          <p:cNvPr id="29" name="step_hdr_3"/>
          <p:cNvSpPr>
            <a:spLocks noGrp="1"/>
          </p:cNvSpPr>
          <p:nvPr/>
        </p:nvSpPr>
        <p:spPr>
          <a:xfrm>
            <a:off x="5998464" y="1371600"/>
            <a:ext cx="1691640" cy="320040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1050" b="1" i="0" dirty="0">
                <a:solidFill>
                  <a:srgbClr val="FFFFFF"/>
                </a:solidFill>
                <a:latin typeface="+mj-lt"/>
              </a:rPr>
              <a:t>04  ⚡  Execute</a:t>
            </a:r>
          </a:p>
        </p:txBody>
      </p:sp>
      <p:sp>
        <p:nvSpPr>
          <p:cNvPr id="30" name="step_body_3"/>
          <p:cNvSpPr>
            <a:spLocks noGrp="1"/>
          </p:cNvSpPr>
          <p:nvPr/>
        </p:nvSpPr>
        <p:spPr>
          <a:xfrm>
            <a:off x="5998464" y="1691640"/>
            <a:ext cx="1691640" cy="731520"/>
          </a:xfrm>
          <a:prstGeom prst="rect">
            <a:avLst/>
          </a:prstGeom>
          <a:solidFill>
            <a:srgbClr val="EAF2FB"/>
          </a:solidFill>
          <a:ln>
            <a:solidFill>
              <a:srgbClr val="E0E8F5"/>
            </a:solidFill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0" i="0" dirty="0">
                <a:solidFill>
                  <a:srgbClr val="333333"/>
                </a:solidFill>
                <a:latin typeface="+mj-lt"/>
              </a:rPr>
              <a:t>Run tasks,
call systems</a:t>
            </a:r>
          </a:p>
        </p:txBody>
      </p:sp>
      <p:sp>
        <p:nvSpPr>
          <p:cNvPr id="31" name="arrow_3"/>
          <p:cNvSpPr>
            <a:spLocks noGrp="1"/>
          </p:cNvSpPr>
          <p:nvPr/>
        </p:nvSpPr>
        <p:spPr>
          <a:xfrm>
            <a:off x="7690104" y="1801368"/>
            <a:ext cx="201168" cy="54864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</p:txBody>
      </p:sp>
      <p:sp>
        <p:nvSpPr>
          <p:cNvPr id="32" name="step_hdr_4"/>
          <p:cNvSpPr>
            <a:spLocks noGrp="1"/>
          </p:cNvSpPr>
          <p:nvPr/>
        </p:nvSpPr>
        <p:spPr>
          <a:xfrm>
            <a:off x="7891272" y="1371600"/>
            <a:ext cx="1691640" cy="32004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1050" b="1" i="0" dirty="0">
                <a:solidFill>
                  <a:srgbClr val="FFFFFF"/>
                </a:solidFill>
                <a:latin typeface="+mj-lt"/>
              </a:rPr>
              <a:t>05  ✅  Validate</a:t>
            </a:r>
          </a:p>
        </p:txBody>
      </p:sp>
      <p:sp>
        <p:nvSpPr>
          <p:cNvPr id="33" name="step_body_4"/>
          <p:cNvSpPr>
            <a:spLocks noGrp="1"/>
          </p:cNvSpPr>
          <p:nvPr/>
        </p:nvSpPr>
        <p:spPr>
          <a:xfrm>
            <a:off x="7891272" y="1691640"/>
            <a:ext cx="1691640" cy="731520"/>
          </a:xfrm>
          <a:prstGeom prst="rect">
            <a:avLst/>
          </a:prstGeom>
          <a:solidFill>
            <a:srgbClr val="EAF2FB"/>
          </a:solidFill>
          <a:ln>
            <a:solidFill>
              <a:srgbClr val="E0E8F5"/>
            </a:solidFill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0" i="0" dirty="0">
                <a:solidFill>
                  <a:srgbClr val="333333"/>
                </a:solidFill>
                <a:latin typeface="+mj-lt"/>
              </a:rPr>
              <a:t>Check accuracy
&amp; completeness</a:t>
            </a:r>
          </a:p>
        </p:txBody>
      </p:sp>
      <p:sp>
        <p:nvSpPr>
          <p:cNvPr id="34" name="arrow_4"/>
          <p:cNvSpPr>
            <a:spLocks noGrp="1"/>
          </p:cNvSpPr>
          <p:nvPr/>
        </p:nvSpPr>
        <p:spPr>
          <a:xfrm>
            <a:off x="9582912" y="1801368"/>
            <a:ext cx="201168" cy="54864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</p:txBody>
      </p:sp>
      <p:sp>
        <p:nvSpPr>
          <p:cNvPr id="35" name="step_hdr_5"/>
          <p:cNvSpPr>
            <a:spLocks noGrp="1"/>
          </p:cNvSpPr>
          <p:nvPr/>
        </p:nvSpPr>
        <p:spPr>
          <a:xfrm>
            <a:off x="9784080" y="1371600"/>
            <a:ext cx="1691640" cy="320040"/>
          </a:xfrm>
          <a:prstGeom prst="rect">
            <a:avLst/>
          </a:prstGeom>
          <a:solidFill>
            <a:srgbClr val="1B2F5E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1050" b="1" i="0" dirty="0">
                <a:solidFill>
                  <a:srgbClr val="FFFFFF"/>
                </a:solidFill>
                <a:latin typeface="+mj-lt"/>
              </a:rPr>
              <a:t>06  📊  Outcome</a:t>
            </a:r>
          </a:p>
        </p:txBody>
      </p:sp>
      <p:sp>
        <p:nvSpPr>
          <p:cNvPr id="36" name="step_body_5"/>
          <p:cNvSpPr>
            <a:spLocks noGrp="1"/>
          </p:cNvSpPr>
          <p:nvPr/>
        </p:nvSpPr>
        <p:spPr>
          <a:xfrm>
            <a:off x="9784080" y="1691640"/>
            <a:ext cx="1691640" cy="731520"/>
          </a:xfrm>
          <a:prstGeom prst="rect">
            <a:avLst/>
          </a:prstGeom>
          <a:solidFill>
            <a:srgbClr val="EAF2FB"/>
          </a:solidFill>
          <a:ln>
            <a:solidFill>
              <a:srgbClr val="E0E8F5"/>
            </a:solidFill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0" i="0" dirty="0">
                <a:solidFill>
                  <a:srgbClr val="333333"/>
                </a:solidFill>
                <a:latin typeface="+mj-lt"/>
              </a:rPr>
              <a:t>Deliver result
to user</a:t>
            </a:r>
          </a:p>
        </p:txBody>
      </p:sp>
      <p:sp>
        <p:nvSpPr>
          <p:cNvPr id="37" name="hc_hdr"/>
          <p:cNvSpPr>
            <a:spLocks noGrp="1"/>
          </p:cNvSpPr>
          <p:nvPr/>
        </p:nvSpPr>
        <p:spPr>
          <a:xfrm>
            <a:off x="320040" y="2468880"/>
            <a:ext cx="5486400" cy="384048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1100" b="1" i="0" dirty="0">
                <a:solidFill>
                  <a:srgbClr val="FFFFFF"/>
                </a:solidFill>
                <a:latin typeface="+mj-lt"/>
              </a:rPr>
              <a:t>  🏥  Healthcare Example — Prior Authorization Review Agent</a:t>
            </a:r>
          </a:p>
        </p:txBody>
      </p:sp>
      <p:sp>
        <p:nvSpPr>
          <p:cNvPr id="38" name="hc_body"/>
          <p:cNvSpPr>
            <a:spLocks noGrp="1"/>
          </p:cNvSpPr>
          <p:nvPr/>
        </p:nvSpPr>
        <p:spPr>
          <a:xfrm>
            <a:off x="320040" y="2852928"/>
            <a:ext cx="5486400" cy="2907792"/>
          </a:xfrm>
          <a:prstGeom prst="rect">
            <a:avLst/>
          </a:prstGeom>
          <a:solidFill>
            <a:srgbClr val="EAF2FB"/>
          </a:solidFill>
          <a:ln>
            <a:solidFill>
              <a:srgbClr val="E0E8F5"/>
            </a:solidFill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1.  Receives authorization request</a:t>
            </a:r>
          </a:p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2.  Retrieves CMS / MCG guidelines</a:t>
            </a:r>
          </a:p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3.  Reviews clinical documentation</a:t>
            </a:r>
          </a:p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4.  Identifies missing information</a:t>
            </a:r>
          </a:p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5.  Generates recommendation</a:t>
            </a:r>
          </a:p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6.  Creates rationale for reviewer</a:t>
            </a:r>
          </a:p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7.  Routes to nurse or physician</a:t>
            </a:r>
          </a:p>
        </p:txBody>
      </p:sp>
      <p:sp>
        <p:nvSpPr>
          <p:cNvPr id="39" name="biz_hdr"/>
          <p:cNvSpPr>
            <a:spLocks noGrp="1"/>
          </p:cNvSpPr>
          <p:nvPr/>
        </p:nvSpPr>
        <p:spPr>
          <a:xfrm>
            <a:off x="6126480" y="2468880"/>
            <a:ext cx="5742432" cy="38404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0"/>
              </a:spcBef>
              <a:spcAft>
                <a:spcPts spc="0"/>
              </a:spcAft>
            </a:pPr>
            <a:r>
              <a:rPr lang="en-US" sz="1100" b="1" i="0" dirty="0">
                <a:solidFill>
                  <a:srgbClr val="FFFFFF"/>
                </a:solidFill>
                <a:latin typeface="+mj-lt"/>
              </a:rPr>
              <a:t>  📈  Business Example — Market Research Agent</a:t>
            </a:r>
          </a:p>
        </p:txBody>
      </p:sp>
      <p:sp>
        <p:nvSpPr>
          <p:cNvPr id="40" name="biz_body"/>
          <p:cNvSpPr>
            <a:spLocks noGrp="1"/>
          </p:cNvSpPr>
          <p:nvPr/>
        </p:nvSpPr>
        <p:spPr>
          <a:xfrm>
            <a:off x="6126480" y="2852928"/>
            <a:ext cx="5742432" cy="2907792"/>
          </a:xfrm>
          <a:prstGeom prst="rect">
            <a:avLst/>
          </a:prstGeom>
          <a:solidFill>
            <a:srgbClr val="EAF2FB"/>
          </a:solidFill>
          <a:ln>
            <a:solidFill>
              <a:srgbClr val="E0E8F5"/>
            </a:solidFill>
          </a:ln>
        </p:spPr>
        <p:txBody>
          <a:bodyPr wrap="square" lIns="45720" rIns="45720" tIns="36000" bIns="36000">
            <a:normAutofit/>
          </a:bodyPr>
          <a:lstStyle/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1.  Receives research brief</a:t>
            </a:r>
          </a:p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2.  Searches web &amp; internal databases</a:t>
            </a:r>
          </a:p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3.  Collects competitor data</a:t>
            </a:r>
          </a:p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4.  Identifies key trends &amp; gaps</a:t>
            </a:r>
          </a:p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5.  Analyzes findings with reasoning</a:t>
            </a:r>
          </a:p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6.  Drafts executive summary</a:t>
            </a:r>
          </a:p>
          <a:p>
            <a:pPr algn="l" indent="0" marL="0">
              <a:spcBef>
                <a:spcPts spc="60"/>
              </a:spcBef>
              <a:spcAft>
                <a:spcPts spc="0"/>
              </a:spcAft>
            </a:pPr>
            <a:r>
              <a:rPr lang="en-US" sz="950" b="0" i="0" dirty="0">
                <a:solidFill>
                  <a:srgbClr val="333333"/>
                </a:solidFill>
                <a:latin typeface="+mj-lt"/>
              </a:rPr>
              <a:t>  7.  Delivers formatted report</a:t>
            </a:r>
          </a:p>
        </p:txBody>
      </p:sp>
      <p:sp>
        <p:nvSpPr>
          <p:cNvPr id="41" name="char_0"/>
          <p:cNvSpPr>
            <a:spLocks noGrp="1"/>
          </p:cNvSpPr>
          <p:nvPr/>
        </p:nvSpPr>
        <p:spPr>
          <a:xfrm>
            <a:off x="320040" y="5870448"/>
            <a:ext cx="2148840" cy="685800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1" i="0" dirty="0">
                <a:solidFill>
                  <a:srgbClr val="FFFFFF"/>
                </a:solidFill>
                <a:latin typeface="+mj-lt"/>
              </a:rPr>
              <a:t>🧠  Understands
Objectives</a:t>
            </a:r>
          </a:p>
        </p:txBody>
      </p:sp>
      <p:sp>
        <p:nvSpPr>
          <p:cNvPr id="42" name="char_1"/>
          <p:cNvSpPr>
            <a:spLocks noGrp="1"/>
          </p:cNvSpPr>
          <p:nvPr/>
        </p:nvSpPr>
        <p:spPr>
          <a:xfrm>
            <a:off x="2615184" y="5870448"/>
            <a:ext cx="2148840" cy="685800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1" i="0" dirty="0">
                <a:solidFill>
                  <a:srgbClr val="FFFFFF"/>
                </a:solidFill>
                <a:latin typeface="+mj-lt"/>
              </a:rPr>
              <a:t>🔀  Breaks Work
into Steps</a:t>
            </a:r>
          </a:p>
        </p:txBody>
      </p:sp>
      <p:sp>
        <p:nvSpPr>
          <p:cNvPr id="43" name="char_2"/>
          <p:cNvSpPr>
            <a:spLocks noGrp="1"/>
          </p:cNvSpPr>
          <p:nvPr/>
        </p:nvSpPr>
        <p:spPr>
          <a:xfrm>
            <a:off x="4910328" y="5870448"/>
            <a:ext cx="2148840" cy="6858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1" i="0" dirty="0">
                <a:solidFill>
                  <a:srgbClr val="FFFFFF"/>
                </a:solidFill>
                <a:latin typeface="+mj-lt"/>
              </a:rPr>
              <a:t>🛠  Uses Tools &amp;
Systems</a:t>
            </a:r>
          </a:p>
        </p:txBody>
      </p:sp>
      <p:sp>
        <p:nvSpPr>
          <p:cNvPr id="44" name="char_3"/>
          <p:cNvSpPr>
            <a:spLocks noGrp="1"/>
          </p:cNvSpPr>
          <p:nvPr/>
        </p:nvSpPr>
        <p:spPr>
          <a:xfrm>
            <a:off x="7205472" y="5870448"/>
            <a:ext cx="2148840" cy="685800"/>
          </a:xfrm>
          <a:prstGeom prst="rect">
            <a:avLst/>
          </a:prstGeom>
          <a:solidFill>
            <a:srgbClr val="1B7A8A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1" i="0" dirty="0">
                <a:solidFill>
                  <a:srgbClr val="FFFFFF"/>
                </a:solidFill>
                <a:latin typeface="+mj-lt"/>
              </a:rPr>
              <a:t>💡  Decides Based
on Context</a:t>
            </a:r>
          </a:p>
        </p:txBody>
      </p:sp>
      <p:sp>
        <p:nvSpPr>
          <p:cNvPr id="45" name="char_4"/>
          <p:cNvSpPr>
            <a:spLocks noGrp="1"/>
          </p:cNvSpPr>
          <p:nvPr/>
        </p:nvSpPr>
        <p:spPr>
          <a:xfrm>
            <a:off x="9500616" y="5870448"/>
            <a:ext cx="2148840" cy="685800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wrap="square" lIns="45720" rIns="45720" tIns="36000" bIns="36000">
            <a:normAutofit/>
          </a:bodyPr>
          <a:lstStyle/>
          <a:p>
            <a:pPr algn="ctr" indent="0" marL="0">
              <a:spcBef>
                <a:spcPts spc="0"/>
              </a:spcBef>
              <a:spcAft>
                <a:spcPts spc="0"/>
              </a:spcAft>
            </a:pPr>
            <a:r>
              <a:rPr lang="en-US" sz="900" b="1" i="0" dirty="0">
                <a:solidFill>
                  <a:srgbClr val="FFFFFF"/>
                </a:solidFill>
                <a:latin typeface="+mj-lt"/>
              </a:rPr>
              <a:t>🔁  Iteratively
Improves</a:t>
            </a:r>
          </a:p>
        </p:txBody>
      </p:sp>
    </p:spTree>
  </p:cSld>
</p:sld>
</file>

<file path=ppt/theme/theme1.xml><?xml version="1.0" encoding="utf-8"?>
<a:theme xmlns:a="http://schemas.openxmlformats.org/drawingml/2006/main" name="InnovaTheme">
  <a:themeElements>
    <a:clrScheme name="Innova">
      <a:dk1>
        <a:srgbClr val="1B2F5E"/>
      </a:dk1>
      <a:lt1>
        <a:srgbClr val="FFFFFF"/>
      </a:lt1>
      <a:dk2>
        <a:srgbClr val="1B7A8A"/>
      </a:dk2>
      <a:lt2>
        <a:srgbClr val="D6E4F0"/>
      </a:lt2>
      <a:accent1>
        <a:srgbClr val="6B3FA0"/>
      </a:accent1>
      <a:accent2>
        <a:srgbClr val="2E9E9E"/>
      </a:accent2>
      <a:accent3>
        <a:srgbClr val="1B7A8A"/>
      </a:accent3>
      <a:accent4>
        <a:srgbClr val="6B3FA0"/>
      </a:accent4>
      <a:accent5>
        <a:srgbClr val="2E9E9E"/>
      </a:accent5>
      <a:accent6>
        <a:srgbClr val="1B2F5E"/>
      </a:accent6>
      <a:hlink>
        <a:srgbClr val="1B5E8A"/>
      </a:hlink>
      <a:folHlink>
        <a:srgbClr val="555555"/>
      </a:folHlink>
    </a:clrScheme>
    <a:fontScheme name="Innov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Innov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