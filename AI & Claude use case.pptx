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377" r:id="rId2"/>
    <p:sldId id="408" r:id="rId3"/>
    <p:sldId id="419" r:id="rId4"/>
    <p:sldId id="409" r:id="rId5"/>
    <p:sldId id="410" r:id="rId6"/>
    <p:sldId id="411" r:id="rId7"/>
    <p:sldId id="412" r:id="rId8"/>
    <p:sldId id="418" r:id="rId9"/>
    <p:sldId id="417" r:id="rId10"/>
    <p:sldId id="416" r:id="rId11"/>
    <p:sldId id="415" r:id="rId12"/>
    <p:sldId id="414" r:id="rId13"/>
    <p:sldId id="41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2B80808-6136-13CB-3202-027B99368145}" name="K, Hashmi" initials="HK" userId="S::hashmi.k@acsicorp.com::e71231dc-30a9-4f19-8844-3974f786969e" providerId="AD"/>
  <p188:author id="{C0C29E43-8C4F-C4E6-596B-A3CC7EA7D1F5}" name="Mohammed, Arbaz" initials="MA" userId="S::arbaz.mohammed@acsicorp.com::ad5bbaea-24b3-489d-845f-d9a851f46271" providerId="AD"/>
  <p188:author id="{215A894E-5DE8-5EB4-17E4-407B98BBD05E}" name="Nayak, Anshuman" initials="NA" userId="S::anshuman.nayak@innovasolutions.com::34ad4449-a4dd-4859-bb36-d0357320333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DEFF"/>
    <a:srgbClr val="703D3D"/>
    <a:srgbClr val="ECFF3D"/>
    <a:srgbClr val="0CB5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77874C-F6C8-F683-B691-A58E312004D4}" v="440" dt="2026-06-18T05:43:56.055"/>
    <p1510:client id="{7F5EFE8E-79D0-421A-B61E-82FE736D020C}" v="8" dt="2026-06-18T05:45:15.9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9T08:21:41.017"/>
    </inkml:context>
    <inkml:brush xml:id="br0">
      <inkml:brushProperty name="width" value="0.35" units="cm"/>
      <inkml:brushProperty name="height" value="0.35" units="cm"/>
      <inkml:brushProperty name="color" value="#FFFFFF"/>
    </inkml:brush>
  </inkml:definitions>
  <inkml:trace contextRef="#ctx0" brushRef="#br0">6240 2811 16383 0 0,'5'-16'0'0'0,"18"-20"0"0"0,20-26 0 0 0,24-27 0 0 0,5-10 0 0 0,2 7 0 0 0,-7 14 0 0 0,-10 15 0 0 0,-14 23 0 0 0,-26 34 0 0 0,-25 35 0 0 0,-22 21 0 0 0,-16 19 0 0 0,-17 13 0 0 0,-12 8 0 0 0,1 0 0 0 0,-3-6 0 0 0,2-12 0 0 0,2-17 0 0 0,15-14 0 0 0,11-13 0 0 0,14-54 0 0 0,12-42 0 0 0,16-32 0 0 0,13-19 0 0 0,11-4 0 0 0,7 7 0 0 0,4 13 0 0 0,-2 20 0 0 0,-7 43 0 0 0,-6 51 0 0 0,-11 28 0 0 0,-12 23 0 0 0,-4 12 0 0 0,-6 3 0 0 0,1-6 0 0 0,-2-15 0 0 0,2-12 0 0 0,-2-39 0 0 0,4-47 0 0 0,3-43 0 0 0,4-32 0 0 0,3-17 0 0 0,3 3 0 0 0,2 19 0 0 0,5 24 0 0 0,3 41 0 0 0,-1 51 0 0 0,-1 34 0 0 0,-1 27 0 0 0,-8 23 0 0 0,-7 17 0 0 0,-9 7 0 0 0,-10-5 0 0 0,-6-11 0 0 0,-2-11 0 0 0,0-15 0 0 0,6-14 0 0 0,3-16 0 0 0,7-21 0 0 0,6-44 0 0 0,7-34 0 0 0,3-23 0 0 0,9-2 0 0 0,3 8 0 0 0,1 11 0 0 0,4 17 0 0 0,5 38 0 0 0,5 41 0 0 0,-1 26 0 0 0,-4 24 0 0 0,-6 13 0 0 0,-3 8 0 0 0,-5-10 0 0 0,-1-9 0 0 0,3-19 0 0 0,1-15 0 0 0,5-16 0 0 0,16-14 0 0 0,30-30 0 0 0,25-30 0 0 0,31-28 0 0 0,27-18 0 0 0,11-5 0 0 0,5-8 0 0 0,3 3 0 0 0,-5 13 0 0 0,-18 15 0 0 0,-38 36 0 0 0,-45 38 0 0 0,-43 34 0 0 0,-33 32 0 0 0,-23 24 0 0 0,-10 12 0 0 0,1 3 0 0 0,3-12 0 0 0,12-17 0 0 0,11-17 0 0 0,7-25 0 0 0,6-50 0 0 0,6-45 0 0 0,10-33 0 0 0,21-17 0 0 0,17-6 0 0 0,12 10 0 0 0,9 13 0 0 0,-1 10 0 0 0,-10 15 0 0 0,-14 32 0 0 0,-12 33 0 0 0,-10 32 0 0 0,-12 26 0 0 0,-22 18 0 0 0,-17 12 0 0 0,-13 1 0 0 0,-13 2 0 0 0,-6-11 0 0 0,9-13 0 0 0,15-45 0 0 0,16-46 0 0 0,13-26 0 0 0,14-24 0 0 0,19-21 0 0 0,12-11 0 0 0,7 3 0 0 0,-3 14 0 0 0,-1 15 0 0 0,-12 43 0 0 0,-18 35 0 0 0,-25 33 0 0 0,-24 32 0 0 0,-30 18 0 0 0,-17 21 0 0 0,-8 3 0 0 0,8-14 0 0 0,16-17 0 0 0,27-38 0 0 0,32-53 0 0 0,30-30 0 0 0,20-23 0 0 0,9-18 0 0 0,9-4 0 0 0,7 6 0 0 0,-1 7 0 0 0,-9 31 0 0 0,-12 43 0 0 0,-12 37 0 0 0,-14 33 0 0 0,-19 25 0 0 0,-22 16 0 0 0,-6 6 0 0 0,4-13 0 0 0,4-19 0 0 0,7-51 0 0 0,8-46 0 0 0,12-59 0 0 0,18-38 0 0 0,22-22 0 0 0,16 1 0 0 0,10 11 0 0 0,5 21 0 0 0,-9 21 0 0 0,-8 24 0 0 0,-12 46 0 0 0,-18 40 0 0 0,-17 29 0 0 0,-19 30 0 0 0,-17 21 0 0 0,-19 15 0 0 0,-9 3 0 0 0,0-12 0 0 0,0-16 0 0 0,11-20 0 0 0,14-30 0 0 0,25-56 0 0 0,24-53 0 0 0,26-39 0 0 0,33-24 0 0 0,31-19 0 0 0,29-17 0 0 0,13 2 0 0 0,15 10 0 0 0,-11 25 0 0 0,-13 32 0 0 0,-25 24 0 0 0,-26 24 0 0 0,-27 27 0 0 0,-38 47 0 0 0,-33 38 0 0 0,-24 26 0 0 0,-17 28 0 0 0,-13 7 0 0 0,-1-9 0 0 0,6-16 0 0 0,15-17 0 0 0,15-34 0 0 0,13-39 0 0 0,16-23 0 0 0,9-16 0 0 0,8-11 0 0 0,8-5 0 0 0,6-3 0 0 0,3-5 0 0 0,2-2 0 0 0,1 8 0 0 0,-4 3 0 0 0,-8 13 0 0 0,-12 31 0 0 0,-8 23 0 0 0,-8 22 0 0 0,-9 22 0 0 0,-12 18 0 0 0,-6-2 0 0 0,4-12 0 0 0,16-46 0 0 0,37-56 0 0 0,37-45 0 0 0,33-38 0 0 0,22-17 0 0 0,23-9 0 0 0,15 1 0 0 0,2 7 0 0 0,-15 18 0 0 0,-26 27 0 0 0,-32 37 0 0 0,-35 40 0 0 0,-35 35 0 0 0,-36 33 0 0 0,-24 24 0 0 0,-9 8 0 0 0,-4 2 0 0 0,-9-7 0 0 0,4-14 0 0 0,8-22 0 0 0,18-52 0 0 0,33-59 0 0 0,48-78 0 0 0,44-54 0 0 0,34-28 0 0 0,23-8 0 0 0,7 16 0 0 0,-4 32 0 0 0,-23 40 0 0 0,-31 69 0 0 0,-36 75 0 0 0,-49 56 0 0 0,-40 58 0 0 0,-35 29 0 0 0,-22 18 0 0 0,-10 0 0 0 0,1-13 0 0 0,8-19 0 0 0,14-29 0 0 0,16-28 0 0 0,18-24 0 0 0,32-38 0 0 0,30-38 0 0 0,21-28 0 0 0,15-17 0 0 0,4-9 0 0 0,-8 2 0 0 0,-7 13 0 0 0,-21 24 0 0 0,-30 29 0 0 0,-28 30 0 0 0,-25 35 0 0 0,-22 28 0 0 0,-28 19 0 0 0,-21 12 0 0 0,-14-6 0 0 0,7-12 0 0 0,23-24 0 0 0,31-20 0 0 0,30-48 0 0 0,35-46 0 0 0,32-39 0 0 0,29-29 0 0 0,24-17 0 0 0,6-5 0 0 0,1 3 0 0 0,0 11 0 0 0,-8 18 0 0 0,-14 31 0 0 0,-26 45 0 0 0,-22 36 0 0 0,-27 30 0 0 0,-19 21 0 0 0,-8 4 0 0 0,1 0 0 0 0,3-4 0 0 0,16-19 0 0 0,23-24 0 0 0,25-27 0 0 0,24-20 0 0 0,22-12 0 0 0,21-12 0 0 0,8 2 0 0 0,-2 2 0 0 0,0 2 0 0 0,-15 22 0 0 0,-25 24 0 0 0,-31 16 0 0 0,-23 18 0 0 0,-22 18 0 0 0,-17 8 0 0 0,-10 8 0 0 0,-6-4 0 0 0,1-10 0 0 0,11-11 0 0 0,14-9 0 0 0,13-18 0 0 0,16-34 0 0 0,24-31 0 0 0,35-25 0 0 0,19-13 0 0 0,13-8 0 0 0,8-1 0 0 0,8-1 0 0 0,19 3 0 0 0,0 10 0 0 0,-22 24 0 0 0,-36 40 0 0 0,-36 28 0 0 0,-31 25 0 0 0,-26 21 0 0 0,-28 21 0 0 0,-31 11 0 0 0,-5 0 0 0 0,-1-7 0 0 0,4-8 0 0 0,13-17 0 0 0,20-16 0 0 0,30-25 0 0 0,36-34 0 0 0,38-30 0 0 0,26-18 0 0 0,7-11 0 0 0,1 2 0 0 0,1 2 0 0 0,4 1 0 0 0,3 1 0 0 0,-8 7 0 0 0,-12 7 0 0 0,-13 11 0 0 0,-20 29 0 0 0,-26 26 0 0 0,-21 15 0 0 0,-17 18 0 0 0,-15 16 0 0 0,-15 8 0 0 0,-8 1 0 0 0,2-7 0 0 0,13-10 0 0 0,21-14 0 0 0,36-36 0 0 0,38-25 0 0 0,23-14 0 0 0,21-7 0 0 0,17-8 0 0 0,1-1 0 0 0,-2 2 0 0 0,-12 9 0 0 0,-17 10 0 0 0,-20 21 0 0 0,-30 21 0 0 0,-24 13 0 0 0,-17 7 0 0 0,-6 7 0 0 0,-3 3 0 0 0,-3 3 0 0 0,-2 3 0 0 0,11-11 0 0 0,18-29 0 0 0,16-27 0 0 0,15-11 0 0 0,14-11 0 0 0,11-5 0 0 0,-5 0 0 0 0,-5 7 0 0 0,-9 4 0 0 0,-12 23 0 0 0,-8 18 0 0 0,-12 18 0 0 0,-12 14 0 0 0,-9 6 0 0 0,-7 5 0 0 0,1-2 0 0 0,5-4 0 0 0,11-20 0 0 0,17-31 0 0 0,19-19 0 0 0,8-7 0 0 0,0-2 0 0 0,-2-2 0 0 0,-1 5 0 0 0,-6 3 0 0 0,-7-6 0 0 0,19-12 0 0 0,8-9 0 0 0,12 4 0 0 0,2 5 0 0 0,-5 11 0 0 0,-11 5 0 0 0,-8 7 0 0 0,-5 3 0 0 0,-8 14 0 0 0,-8 24 0 0 0,-6 13 0 0 0,-10 12 0 0 0,-10 9 0 0 0,-14 10 0 0 0,-12 0 0 0 0,-12-1 0 0 0,-1 0 0 0 0,2-1 0 0 0,3-10 0 0 0,6-15 0 0 0,3-8 0 0 0,7-4 0 0 0,21-16 0 0 0,31-31 0 0 0,17-22 0 0 0,13-14 0 0 0,7-8 0 0 0,4-8 0 0 0,2-2 0 0 0,-11 2 0 0 0,-4 3 0 0 0,-5 13 0 0 0,-11 11 0 0 0,-12 9 0 0 0,-8 6 0 0 0,-9 2 0 0 0,-9 2 0 0 0,-4-5 0 0 0,-7-2 0 0 0,-6 4 0 0 0,-4 9 0 0 0,-9 12 0 0 0,-10 19 0 0 0,-2 18 0 0 0,-9 20 0 0 0,-11 12 0 0 0,-16 13 0 0 0,-14 3 0 0 0,-23 6 0 0 0,-12-7 0 0 0,-5-5 0 0 0,11-14 0 0 0,25-11 0 0 0,31-19 0 0 0,36-34 0 0 0,35-26 0 0 0,27-23 0 0 0,18-17 0 0 0,13-16 0 0 0,5-15 0 0 0,3-4 0 0 0,4 1 0 0 0,1 9 0 0 0,-7 15 0 0 0,-5 13 0 0 0,-2 12 0 0 0,-6 18 0 0 0,-18 35 0 0 0,-19 41 0 0 0,-30 30 0 0 0,-27 20 0 0 0,-23 16 0 0 0,-26 17 0 0 0,-14 5 0 0 0,-11-8 0 0 0,4-19 0 0 0,16-19 0 0 0,18-24 0 0 0,17-20 0 0 0,13-25 0 0 0,15-26 0 0 0,12-19 0 0 0,20-14 0 0 0,15-13 0 0 0,16-12 0 0 0,6 3 0 0 0,4 2 0 0 0,-7 9 0 0 0,-4 16 0 0 0,-1 9 0 0 0,-1 2 0 0 0,0 6 0 0 0,0 4 0 0 0,0 6 0 0 0,1 11 0 0 0,0 23 0 0 0,-5 26 0 0 0,-6 15 0 0 0,-7 14 0 0 0,-6 12 0 0 0,-3-4 0 0 0,-2-3 0 0 0,-2-11 0 0 0,5-40 0 0 0,7-41 0 0 0,6-38 0 0 0,7-25 0 0 0,-2-30 0 0 0,-4-12 0 0 0,-1 5 0 0 0,-2 11 0 0 0,-9 35 0 0 0,-17 35 0 0 0,-16 34 0 0 0,-14 23 0 0 0,-5 13 0 0 0,-6 6 0 0 0,1-3 0 0 0,4 2 0 0 0,10 0 0 0 0,12-22 0 0 0,9-29 0 0 0,8-18 0 0 0,10-14 0 0 0,11-5 0 0 0,-3 17 0 0 0,-13 25 0 0 0,-12 18 0 0 0,-13 18 0 0 0,-13 15 0 0 0,-9 11 0 0 0,-2-5 0 0 0,3-10 0 0 0,5-6 0 0 0,4-9 0 0 0,4-25 0 0 0,8-32 0 0 0,9-21 0 0 0,7-18 0 0 0,6-11 0 0 0,4 2 0 0 0,3 1 0 0 0,0 7 0 0 0,1 12 0 0 0,0 5 0 0 0,-1 7 0 0 0,0 7 0 0 0,-1 5 0 0 0,0 4 0 0 0,1 2 0 0 0,-1 2 0 0 0,-1-1 0 0 0,7 1 0 0 0,0-1 0 0 0,1 11 0 0 0,-2 29 0 0 0,-11 33 0 0 0,-11 26 0 0 0,-18 21 0 0 0,-13 12 0 0 0,-19 9 0 0 0,-14-4 0 0 0,-4-10 0 0 0,2-11 0 0 0,10-19 0 0 0,13-23 0 0 0,15-12 0 0 0,12-12 0 0 0,10-20 0 0 0,9-25 0 0 0,8-20 0 0 0,4-11 0 0 0,3-3 0 0 0,1-1 0 0 0,0 0 0 0 0,0 4 0 0 0,-1 6 0 0 0,0 2 0 0 0,0 3 0 0 0,-1 5 0 0 0,11 9 0 0 0,3 4 0 0 0,4 2 0 0 0,0-1 0 0 0,1 5 0 0 0,-2 1 0 0 0,-4-2 0 0 0,-5-3 0 0 0,-8 4 0 0 0,-20 21 0 0 0,-17 15 0 0 0,-8 11 0 0 0,-6 0 0 0 0,-5 2 0 0 0,2-5 0 0 0,15-5 0 0 0,35-22 0 0 0,29-16 0 0 0,10-9 0 0 0,4 0 0 0 0,1 5 0 0 0,14 2 0 0 0,9 4 0 0 0,14 0 0 0 0,5 3 0 0 0,4-1 0 0 0,-8 2 0 0 0,-6 4 0 0 0,-11 3 0 0 0,-10 3 0 0 0,-8 2 0 0 0,-12 7 0 0 0,-11 7 0 0 0,-15 7 0 0 0,-12 6 0 0 0,-16-1 0 0 0,-20-1 0 0 0,-8-3 0 0 0,-15-5 0 0 0,-13 0 0 0 0,2-3 0 0 0,-2-3 0 0 0,3-3 0 0 0,8-3 0 0 0,11-2 0 0 0,10 0 0 0 0,8-2 0 0 0,5 1 0 0 0,3-1 0 0 0,12 0 0 0 0,15 1 0 0 0,13 0 0 0 0,10 0 0 0 0,12 0 0 0 0,12 5 0 0 0,14 2 0 0 0,12 5 0 0 0,12 0 0 0 0,0 3 0 0 0,-1 0 0 0 0,-5 2 0 0 0,-4-2 0 0 0,-10-3 0 0 0,-9-4 0 0 0,-9-3 0 0 0,-11 2 0 0 0,-1 16 0 0 0,-6 20 0 0 0,-6 24 0 0 0,-8 25 0 0 0,-5 14 0 0 0,-19 15 0 0 0,-23 17 0 0 0,-21 2 0 0 0,-6-13 0 0 0,2-23 0 0 0,7-18 0 0 0,17-24 0 0 0,20-23 0 0 0,24-18 0 0 0,26-12 0 0 0,18-18 0 0 0,11-14 0 0 0,0-7 0 0 0,-6-4 0 0 0,-6-6 0 0 0,-7-8 0 0 0,-1-5 0 0 0,-1 6 0 0 0,-4 0 0 0 0,-1 9 0 0 0,-3 5 0 0 0,-2 9 0 0 0,-5 2 0 0 0,-3 1 0 0 0,1-2 0 0 0,-4-2 0 0 0,-1-2 0 0 0,2 3 0 0 0,-2 1 0 0 0,-5-1 0 0 0,1-1 0 0 0,3 3 0 0 0,-2 0 0 0 0,2 4 0 0 0,-3 0 0 0 0,3 3 0 0 0,2 19 0 0 0,-2 20 0 0 0,-9 11 0 0 0,-17 10 0 0 0,-12 13 0 0 0,-28 17 0 0 0,-28 12 0 0 0,-21 1 0 0 0,-15-3 0 0 0,-20-1 0 0 0,2-10 0 0 0,18-17 0 0 0,23-13 0 0 0,26-8 0 0 0,30-12 0 0 0,30-8 0 0 0,32-8 0 0 0,31-5 0 0 0,27-3 0 0 0,14-2 0 0 0,-5-5 0 0 0,-3-12 0 0 0,-7-9 0 0 0,-3-3 0 0 0,-9-3 0 0 0,-19 4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6-09T08:21:41.018"/>
    </inkml:context>
    <inkml:brush xml:id="br0">
      <inkml:brushProperty name="width" value="0.35" units="cm"/>
      <inkml:brushProperty name="height" value="0.35" units="cm"/>
      <inkml:brushProperty name="color" value="#FFFFFF"/>
    </inkml:brush>
  </inkml:definitions>
  <inkml:trace contextRef="#ctx0" brushRef="#br0">1630 4847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77178-4E8E-4C18-86C5-37FEBD35ADEC}" type="datetimeFigureOut">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E56384-8E75-4BEF-AFFB-4614A41EA5A8}" type="slidenum">
              <a:t>‹#›</a:t>
            </a:fld>
            <a:endParaRPr lang="en-US"/>
          </a:p>
        </p:txBody>
      </p:sp>
    </p:spTree>
    <p:extLst>
      <p:ext uri="{BB962C8B-B14F-4D97-AF65-F5344CB8AC3E}">
        <p14:creationId xmlns:p14="http://schemas.microsoft.com/office/powerpoint/2010/main" val="392447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34567-478F-0EEC-3B23-EF2874B63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F7FEE-7810-DFB7-CEC4-A2FDA8F53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07AFF9-5725-162E-7731-BCF33BAFBB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3BC6BD-430D-0C28-22D1-200DB11A8F8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557292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D9B21-1C95-C9AD-049F-C5D7B4A69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0327E-3A21-D5D3-C294-72D989B98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BD9CAA-B71F-C283-8A45-2997E4B6B7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FB4994-6A43-C202-E49D-7C8C46746375}"/>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78521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BC63A-9D8D-C6CD-93BE-73F86E76B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2B18D-2A7E-1FD3-69D9-67B960D81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891DC8-9A73-5CF7-7E9E-B08BE0F0ED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7CFD03-D8F5-9E18-35AC-80B7479683F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591135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4459C-7AFF-799C-888E-56E04959C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2B19F-5FC1-AF64-7FC2-AD7066078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C035A3-08E4-A413-7F83-E054CBF15B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8F5742-5886-5D06-17D4-019B44952CB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437346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F269-B7AF-B7DA-8437-AC2B45E6D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39CE88-4AE8-E0AD-81F8-049FA2CA24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143EB8-DA8C-E7C7-7B3B-CA4791B3F7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EB4374-23E3-2AD2-56F1-BD8A494F1CF3}"/>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819417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5A909-D2EC-F397-80C5-F2D4F9131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EDA1F7-6715-8F4E-3FF8-688B24EBFE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C633D-0E76-3A5A-5A79-7833824D43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B05755-0D1A-1561-0953-73BE398BA24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25373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B1716-9FE2-DF96-298E-CB8FA01B2C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886435-6A81-25C5-A230-C02A6B133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524522-4351-C9A9-C9F2-DF70429B62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B7BAE2-17C1-919E-4865-477CA5628CF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370995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839F5-D69F-CF0C-4FE6-D49CB0FE57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4026E9-2E4E-904C-EA79-7A6F21E4CE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BB4FF-6FCF-6BD5-BD49-19BD415821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D59164-B93B-B4F6-C861-495174CC8EC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80549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AA2A8-5AFF-49AA-6684-E09AAA16F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E27D6-708C-EDC3-FFF7-F2471E2FB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983BF3-D416-F512-4BC8-3181D4769EA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53AE1F-A4E9-3789-7A6D-41A9B6A7161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5159434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F8C5-C043-2D46-E812-F10439AEB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5F04B-4AAA-4411-7315-F9E0ABBCE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878B4-B742-FDC8-F2AB-783DFC045A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6DA0E5-7688-BCAC-5F94-030A81741035}"/>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735830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36B6-2828-F37F-40DE-5C0BE7D37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16132-9584-2592-819E-E92739C45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5CD0B4-0397-94DB-061F-9027BD116F8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28F89B5-F887-D0BE-EBA8-D5CDA828191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56438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18DA090-B962-4EA6-AFA8-D23DB1663BE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10" name="Text Placeholder 2">
            <a:extLst>
              <a:ext uri="{FF2B5EF4-FFF2-40B4-BE49-F238E27FC236}">
                <a16:creationId xmlns:a16="http://schemas.microsoft.com/office/drawing/2014/main" id="{B92AF09F-07AE-C764-E134-8CF9E9C55218}"/>
              </a:ext>
            </a:extLst>
          </p:cNvPr>
          <p:cNvSpPr>
            <a:spLocks noGrp="1"/>
          </p:cNvSpPr>
          <p:nvPr>
            <p:ph type="body" sz="quarter" idx="10" hasCustomPrompt="1"/>
          </p:nvPr>
        </p:nvSpPr>
        <p:spPr>
          <a:xfrm>
            <a:off x="698208" y="2032000"/>
            <a:ext cx="5778792" cy="571500"/>
          </a:xfrm>
        </p:spPr>
        <p:txBody>
          <a:bodyPr anchor="ctr">
            <a:noAutofit/>
          </a:bodyPr>
          <a:lstStyle>
            <a:lvl1pPr marL="0" indent="0">
              <a:buNone/>
              <a:defRPr sz="3200" b="1">
                <a:solidFill>
                  <a:srgbClr val="0070CD"/>
                </a:solidFill>
                <a:latin typeface="+mn-lt"/>
              </a:defRPr>
            </a:lvl1pPr>
          </a:lstStyle>
          <a:p>
            <a:pPr lvl="0"/>
            <a:r>
              <a:rPr lang="en-US"/>
              <a:t>Divider Slide Headline Goes Here </a:t>
            </a:r>
          </a:p>
        </p:txBody>
      </p:sp>
      <p:sp>
        <p:nvSpPr>
          <p:cNvPr id="13" name="Text Placeholder 2">
            <a:extLst>
              <a:ext uri="{FF2B5EF4-FFF2-40B4-BE49-F238E27FC236}">
                <a16:creationId xmlns:a16="http://schemas.microsoft.com/office/drawing/2014/main" id="{D0AE8B31-9939-70DC-8937-B5BEE4908430}"/>
              </a:ext>
            </a:extLst>
          </p:cNvPr>
          <p:cNvSpPr>
            <a:spLocks noGrp="1"/>
          </p:cNvSpPr>
          <p:nvPr>
            <p:ph type="body" sz="quarter" idx="11" hasCustomPrompt="1"/>
          </p:nvPr>
        </p:nvSpPr>
        <p:spPr>
          <a:xfrm>
            <a:off x="698208" y="2762880"/>
            <a:ext cx="5778792" cy="868218"/>
          </a:xfrm>
        </p:spPr>
        <p:txBody>
          <a:bodyPr anchor="t">
            <a:normAutofit/>
          </a:bodyPr>
          <a:lstStyle>
            <a:lvl1pPr marL="0" indent="0">
              <a:buNone/>
              <a:defRPr sz="2000" b="0">
                <a:solidFill>
                  <a:schemeClr val="tx1">
                    <a:lumMod val="85000"/>
                    <a:lumOff val="15000"/>
                  </a:schemeClr>
                </a:solidFill>
                <a:latin typeface="+mn-lt"/>
              </a:defRPr>
            </a:lvl1pPr>
          </a:lstStyle>
          <a:p>
            <a:pPr lvl="0"/>
            <a:r>
              <a:rPr lang="en-US"/>
              <a:t>Corporate presentation sub-headline</a:t>
            </a:r>
            <a:endParaRPr lang="en-IN"/>
          </a:p>
        </p:txBody>
      </p:sp>
      <p:sp>
        <p:nvSpPr>
          <p:cNvPr id="4" name="Rectangle 3">
            <a:extLst>
              <a:ext uri="{FF2B5EF4-FFF2-40B4-BE49-F238E27FC236}">
                <a16:creationId xmlns:a16="http://schemas.microsoft.com/office/drawing/2014/main" id="{D6F6AB9E-CA71-E265-F07E-C83891769439}"/>
              </a:ext>
            </a:extLst>
          </p:cNvPr>
          <p:cNvSpPr/>
          <p:nvPr userDrawn="1"/>
        </p:nvSpPr>
        <p:spPr>
          <a:xfrm>
            <a:off x="1104" y="1900382"/>
            <a:ext cx="99391" cy="1154544"/>
          </a:xfrm>
          <a:prstGeom prst="rect">
            <a:avLst/>
          </a:prstGeom>
          <a:solidFill>
            <a:srgbClr val="BBD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3C53091-AAA8-64AA-7154-EDE6C5C0A0EA}"/>
              </a:ext>
            </a:extLst>
          </p:cNvPr>
          <p:cNvSpPr txBox="1"/>
          <p:nvPr userDrawn="1"/>
        </p:nvSpPr>
        <p:spPr>
          <a:xfrm>
            <a:off x="309296" y="6393978"/>
            <a:ext cx="4944693" cy="276999"/>
          </a:xfrm>
          <a:prstGeom prst="rect">
            <a:avLst/>
          </a:prstGeom>
          <a:noFill/>
        </p:spPr>
        <p:txBody>
          <a:bodyPr wrap="square" rtlCol="0">
            <a:spAutoFit/>
          </a:bodyPr>
          <a:lstStyle/>
          <a:p>
            <a:pPr algn="r"/>
            <a:r>
              <a:rPr lang="en-US" sz="1200">
                <a:solidFill>
                  <a:schemeClr val="bg1"/>
                </a:solidFill>
                <a:latin typeface="+mn-lt"/>
              </a:rPr>
              <a:t>2400 Meadowbrook Parkway, Duluth, GA 30096 | www.innovasolutions.com</a:t>
            </a:r>
            <a:endParaRPr lang="en-IN" sz="1200">
              <a:solidFill>
                <a:schemeClr val="bg1"/>
              </a:solidFill>
              <a:latin typeface="+mn-lt"/>
            </a:endParaRPr>
          </a:p>
        </p:txBody>
      </p:sp>
      <p:sp>
        <p:nvSpPr>
          <p:cNvPr id="7" name="TextBox 6">
            <a:extLst>
              <a:ext uri="{FF2B5EF4-FFF2-40B4-BE49-F238E27FC236}">
                <a16:creationId xmlns:a16="http://schemas.microsoft.com/office/drawing/2014/main" id="{6BB88E00-C2F3-3239-7A6B-5C958AFFC1FB}"/>
              </a:ext>
            </a:extLst>
          </p:cNvPr>
          <p:cNvSpPr txBox="1"/>
          <p:nvPr userDrawn="1"/>
        </p:nvSpPr>
        <p:spPr>
          <a:xfrm>
            <a:off x="11524691" y="6393978"/>
            <a:ext cx="491362" cy="258532"/>
          </a:xfrm>
          <a:prstGeom prst="rect">
            <a:avLst/>
          </a:prstGeom>
          <a:noFill/>
        </p:spPr>
        <p:txBody>
          <a:bodyPr wrap="square" rtlCol="0">
            <a:spAutoFit/>
          </a:bodyPr>
          <a:lstStyle/>
          <a:p>
            <a:pPr algn="r">
              <a:lnSpc>
                <a:spcPct val="90000"/>
              </a:lnSpc>
            </a:pPr>
            <a:fld id="{8969AB99-42F4-44DB-8447-084200F48697}" type="slidenum">
              <a:rPr lang="en-IN" sz="1200">
                <a:solidFill>
                  <a:schemeClr val="bg1"/>
                </a:solidFill>
                <a:latin typeface="+mn-lt"/>
              </a:rPr>
              <a:pPr algn="r">
                <a:lnSpc>
                  <a:spcPct val="90000"/>
                </a:lnSpc>
              </a:pPr>
              <a:t>‹#›</a:t>
            </a:fld>
            <a:endParaRPr lang="en-IN" sz="1200">
              <a:solidFill>
                <a:schemeClr val="bg1"/>
              </a:solidFill>
              <a:latin typeface="+mn-lt"/>
            </a:endParaRPr>
          </a:p>
        </p:txBody>
      </p:sp>
      <p:pic>
        <p:nvPicPr>
          <p:cNvPr id="2" name="Graphic 1">
            <a:extLst>
              <a:ext uri="{FF2B5EF4-FFF2-40B4-BE49-F238E27FC236}">
                <a16:creationId xmlns:a16="http://schemas.microsoft.com/office/drawing/2014/main" id="{DB6C5181-544A-D4A4-CB35-B2ADC20DF34D}"/>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8869988" y="682672"/>
            <a:ext cx="2213364" cy="704088"/>
          </a:xfrm>
          <a:prstGeom prst="rect">
            <a:avLst/>
          </a:prstGeom>
        </p:spPr>
      </p:pic>
    </p:spTree>
    <p:extLst>
      <p:ext uri="{BB962C8B-B14F-4D97-AF65-F5344CB8AC3E}">
        <p14:creationId xmlns:p14="http://schemas.microsoft.com/office/powerpoint/2010/main" val="37388557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1 Line) + Caption">
    <p:spTree>
      <p:nvGrpSpPr>
        <p:cNvPr id="1" name=""/>
        <p:cNvGrpSpPr/>
        <p:nvPr/>
      </p:nvGrpSpPr>
      <p:grpSpPr>
        <a:xfrm>
          <a:off x="0" y="0"/>
          <a:ext cx="0" cy="0"/>
          <a:chOff x="0" y="0"/>
          <a:chExt cx="0" cy="0"/>
        </a:xfrm>
      </p:grpSpPr>
      <p:sp>
        <p:nvSpPr>
          <p:cNvPr id="4" name="Freeform 3"/>
          <p:cNvSpPr/>
          <p:nvPr/>
        </p:nvSpPr>
        <p:spPr>
          <a:xfrm>
            <a:off x="0" y="6400800"/>
            <a:ext cx="11430000" cy="365760"/>
          </a:xfrm>
          <a:custGeom>
            <a:avLst/>
            <a:gdLst>
              <a:gd name="connsiteX0" fmla="*/ 0 w 11600597"/>
              <a:gd name="connsiteY0" fmla="*/ 0 h 365126"/>
              <a:gd name="connsiteX1" fmla="*/ 11418034 w 11600597"/>
              <a:gd name="connsiteY1" fmla="*/ 0 h 365126"/>
              <a:gd name="connsiteX2" fmla="*/ 11600597 w 11600597"/>
              <a:gd name="connsiteY2" fmla="*/ 182563 h 365126"/>
              <a:gd name="connsiteX3" fmla="*/ 11600596 w 11600597"/>
              <a:gd name="connsiteY3" fmla="*/ 182563 h 365126"/>
              <a:gd name="connsiteX4" fmla="*/ 11418033 w 11600597"/>
              <a:gd name="connsiteY4" fmla="*/ 365126 h 365126"/>
              <a:gd name="connsiteX5" fmla="*/ 0 w 11600597"/>
              <a:gd name="connsiteY5" fmla="*/ 365125 h 365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00597" h="365126">
                <a:moveTo>
                  <a:pt x="0" y="0"/>
                </a:moveTo>
                <a:lnTo>
                  <a:pt x="11418034" y="0"/>
                </a:lnTo>
                <a:cubicBezTo>
                  <a:pt x="11518861" y="0"/>
                  <a:pt x="11600597" y="81736"/>
                  <a:pt x="11600597" y="182563"/>
                </a:cubicBezTo>
                <a:lnTo>
                  <a:pt x="11600596" y="182563"/>
                </a:lnTo>
                <a:cubicBezTo>
                  <a:pt x="11600596" y="283390"/>
                  <a:pt x="11518860" y="365126"/>
                  <a:pt x="11418033" y="365126"/>
                </a:cubicBezTo>
                <a:lnTo>
                  <a:pt x="0" y="365125"/>
                </a:lnTo>
                <a:close/>
              </a:path>
            </a:pathLst>
          </a:custGeom>
          <a:gradFill>
            <a:gsLst>
              <a:gs pos="90000">
                <a:srgbClr val="0070C0"/>
              </a:gs>
              <a:gs pos="70000">
                <a:srgbClr val="00B0F0"/>
              </a:gs>
              <a:gs pos="40000">
                <a:schemeClr val="accent4"/>
              </a:gs>
              <a:gs pos="0">
                <a:schemeClr val="accent4">
                  <a:lumMod val="5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0" rIns="0" bIns="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bg1"/>
                </a:solidFill>
                <a:effectLst/>
                <a:uLnTx/>
                <a:uFillTx/>
                <a:latin typeface="Calibri Light" panose="020F0302020204030204" pitchFamily="34" charset="0"/>
                <a:ea typeface="+mn-ea"/>
                <a:cs typeface="Calibri Light" panose="020F0302020204030204" pitchFamily="34" charset="0"/>
              </a:rPr>
              <a:t>CONFIDENTIAL RESTRICTED			2400 Meadowbrook Parkway, Duluth, GA 30096 | www.innovasolutions.com</a:t>
            </a:r>
          </a:p>
        </p:txBody>
      </p:sp>
      <p:sp>
        <p:nvSpPr>
          <p:cNvPr id="2" name="Title 1"/>
          <p:cNvSpPr>
            <a:spLocks noGrp="1"/>
          </p:cNvSpPr>
          <p:nvPr>
            <p:ph type="title"/>
          </p:nvPr>
        </p:nvSpPr>
        <p:spPr>
          <a:xfrm>
            <a:off x="640080" y="365125"/>
            <a:ext cx="9601200" cy="548640"/>
          </a:xfrm>
          <a:prstGeom prst="rect">
            <a:avLst/>
          </a:prstGeom>
        </p:spPr>
        <p:txBody>
          <a:bodyPr lIns="0" tIns="0" rIns="0" bIns="0">
            <a:normAutofit/>
          </a:bodyPr>
          <a:lstStyle>
            <a:lvl1pPr algn="l" defTabSz="914377" rtl="0" eaLnBrk="1" latinLnBrk="0" hangingPunct="1">
              <a:lnSpc>
                <a:spcPct val="90000"/>
              </a:lnSpc>
              <a:spcBef>
                <a:spcPct val="0"/>
              </a:spcBef>
              <a:buNone/>
              <a:defRPr lang="en-US" sz="3000" kern="1200" spc="-150" dirty="0">
                <a:solidFill>
                  <a:srgbClr val="002060"/>
                </a:solidFill>
                <a:latin typeface="+mj-lt"/>
                <a:ea typeface="+mj-ea"/>
                <a:cs typeface="+mj-cs"/>
              </a:defRPr>
            </a:lvl1pPr>
          </a:lstStyle>
          <a:p>
            <a:r>
              <a:rPr lang="en-US"/>
              <a:t>Click to edit Master title style</a:t>
            </a:r>
          </a:p>
        </p:txBody>
      </p:sp>
      <p:sp>
        <p:nvSpPr>
          <p:cNvPr id="12" name="Rectangle 11">
            <a:extLst>
              <a:ext uri="{FF2B5EF4-FFF2-40B4-BE49-F238E27FC236}">
                <a16:creationId xmlns:a16="http://schemas.microsoft.com/office/drawing/2014/main" id="{FB5CF25D-5C46-2C52-2D74-9940990B960B}"/>
              </a:ext>
            </a:extLst>
          </p:cNvPr>
          <p:cNvSpPr/>
          <p:nvPr userDrawn="1"/>
        </p:nvSpPr>
        <p:spPr>
          <a:xfrm>
            <a:off x="11612880" y="6400800"/>
            <a:ext cx="365760" cy="365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B9293121-5D74-44BC-A4A2-56631E275B95}" type="slidenum">
              <a:rPr lang="en-IN" sz="1100" smtClean="0">
                <a:gradFill>
                  <a:gsLst>
                    <a:gs pos="70000">
                      <a:srgbClr val="00B0F0"/>
                    </a:gs>
                    <a:gs pos="30000">
                      <a:schemeClr val="accent4"/>
                    </a:gs>
                  </a:gsLst>
                  <a:lin ang="0" scaled="1"/>
                </a:gradFill>
                <a:latin typeface="+mj-lt"/>
              </a:rPr>
              <a:t>‹#›</a:t>
            </a:fld>
            <a:endParaRPr lang="en-IN" sz="1100">
              <a:gradFill>
                <a:gsLst>
                  <a:gs pos="70000">
                    <a:srgbClr val="00B0F0"/>
                  </a:gs>
                  <a:gs pos="30000">
                    <a:schemeClr val="accent4"/>
                  </a:gs>
                </a:gsLst>
                <a:lin ang="0" scaled="1"/>
              </a:gradFill>
              <a:latin typeface="+mj-lt"/>
            </a:endParaRPr>
          </a:p>
        </p:txBody>
      </p:sp>
      <p:grpSp>
        <p:nvGrpSpPr>
          <p:cNvPr id="13" name="Group 12">
            <a:extLst>
              <a:ext uri="{FF2B5EF4-FFF2-40B4-BE49-F238E27FC236}">
                <a16:creationId xmlns:a16="http://schemas.microsoft.com/office/drawing/2014/main" id="{C4657391-8D27-20B2-BA35-C85F1ACFAB0C}"/>
              </a:ext>
            </a:extLst>
          </p:cNvPr>
          <p:cNvGrpSpPr/>
          <p:nvPr userDrawn="1"/>
        </p:nvGrpSpPr>
        <p:grpSpPr>
          <a:xfrm>
            <a:off x="10241280" y="355821"/>
            <a:ext cx="1371600" cy="450929"/>
            <a:chOff x="10241280" y="365760"/>
            <a:chExt cx="1371600" cy="450929"/>
          </a:xfrm>
        </p:grpSpPr>
        <p:grpSp>
          <p:nvGrpSpPr>
            <p:cNvPr id="14" name="Picture 1">
              <a:extLst>
                <a:ext uri="{FF2B5EF4-FFF2-40B4-BE49-F238E27FC236}">
                  <a16:creationId xmlns:a16="http://schemas.microsoft.com/office/drawing/2014/main" id="{1F8B4328-0EB4-AC2E-A559-04DAC833B019}"/>
                </a:ext>
              </a:extLst>
            </p:cNvPr>
            <p:cNvGrpSpPr/>
            <p:nvPr/>
          </p:nvGrpSpPr>
          <p:grpSpPr>
            <a:xfrm>
              <a:off x="10241280" y="458992"/>
              <a:ext cx="1280717" cy="260488"/>
              <a:chOff x="10397324" y="505723"/>
              <a:chExt cx="1000113" cy="203415"/>
            </a:xfrm>
            <a:solidFill>
              <a:srgbClr val="000000"/>
            </a:solidFill>
          </p:grpSpPr>
          <p:grpSp>
            <p:nvGrpSpPr>
              <p:cNvPr id="27" name="Picture 1">
                <a:extLst>
                  <a:ext uri="{FF2B5EF4-FFF2-40B4-BE49-F238E27FC236}">
                    <a16:creationId xmlns:a16="http://schemas.microsoft.com/office/drawing/2014/main" id="{BE34AA45-1EE8-C429-84CF-76B8B2400031}"/>
                  </a:ext>
                </a:extLst>
              </p:cNvPr>
              <p:cNvGrpSpPr/>
              <p:nvPr/>
            </p:nvGrpSpPr>
            <p:grpSpPr>
              <a:xfrm>
                <a:off x="10397324" y="569648"/>
                <a:ext cx="1000113" cy="139491"/>
                <a:chOff x="10397324" y="569648"/>
                <a:chExt cx="1000113" cy="139491"/>
              </a:xfrm>
              <a:solidFill>
                <a:srgbClr val="000000"/>
              </a:solidFill>
            </p:grpSpPr>
            <p:sp>
              <p:nvSpPr>
                <p:cNvPr id="29" name="Freeform: Shape 28">
                  <a:extLst>
                    <a:ext uri="{FF2B5EF4-FFF2-40B4-BE49-F238E27FC236}">
                      <a16:creationId xmlns:a16="http://schemas.microsoft.com/office/drawing/2014/main" id="{91AE62B1-CF56-0890-5F85-3F79B6704412}"/>
                    </a:ext>
                  </a:extLst>
                </p:cNvPr>
                <p:cNvSpPr/>
                <p:nvPr/>
              </p:nvSpPr>
              <p:spPr>
                <a:xfrm>
                  <a:off x="10397324" y="574556"/>
                  <a:ext cx="66904" cy="129692"/>
                </a:xfrm>
                <a:custGeom>
                  <a:avLst/>
                  <a:gdLst>
                    <a:gd name="connsiteX0" fmla="*/ 66904 w 66904"/>
                    <a:gd name="connsiteY0" fmla="*/ 0 h 129692"/>
                    <a:gd name="connsiteX1" fmla="*/ 39264 w 66904"/>
                    <a:gd name="connsiteY1" fmla="*/ 129692 h 129692"/>
                    <a:gd name="connsiteX2" fmla="*/ 0 w 66904"/>
                    <a:gd name="connsiteY2" fmla="*/ 129692 h 129692"/>
                    <a:gd name="connsiteX3" fmla="*/ 27640 w 66904"/>
                    <a:gd name="connsiteY3" fmla="*/ 0 h 129692"/>
                    <a:gd name="connsiteX4" fmla="*/ 66904 w 66904"/>
                    <a:gd name="connsiteY4" fmla="*/ 0 h 129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904" h="129692">
                      <a:moveTo>
                        <a:pt x="66904" y="0"/>
                      </a:moveTo>
                      <a:lnTo>
                        <a:pt x="39264" y="129692"/>
                      </a:lnTo>
                      <a:lnTo>
                        <a:pt x="0" y="129692"/>
                      </a:lnTo>
                      <a:lnTo>
                        <a:pt x="27640" y="0"/>
                      </a:lnTo>
                      <a:lnTo>
                        <a:pt x="66904" y="0"/>
                      </a:lnTo>
                      <a:close/>
                    </a:path>
                  </a:pathLst>
                </a:custGeom>
                <a:solidFill>
                  <a:srgbClr val="000000"/>
                </a:solidFill>
                <a:ln w="1720" cap="flat">
                  <a:noFill/>
                  <a:prstDash val="solid"/>
                  <a:miter/>
                </a:ln>
              </p:spPr>
              <p:txBody>
                <a:bodyPr rtlCol="0" anchor="ctr"/>
                <a:lstStyle/>
                <a:p>
                  <a:endParaRPr lang="en-IN"/>
                </a:p>
              </p:txBody>
            </p:sp>
            <p:sp>
              <p:nvSpPr>
                <p:cNvPr id="30" name="Freeform: Shape 29">
                  <a:extLst>
                    <a:ext uri="{FF2B5EF4-FFF2-40B4-BE49-F238E27FC236}">
                      <a16:creationId xmlns:a16="http://schemas.microsoft.com/office/drawing/2014/main" id="{171F34E8-4B5C-572E-48F1-C56F37002697}"/>
                    </a:ext>
                  </a:extLst>
                </p:cNvPr>
                <p:cNvSpPr/>
                <p:nvPr/>
              </p:nvSpPr>
              <p:spPr>
                <a:xfrm>
                  <a:off x="10474560" y="569648"/>
                  <a:ext cx="170895" cy="134600"/>
                </a:xfrm>
                <a:custGeom>
                  <a:avLst/>
                  <a:gdLst>
                    <a:gd name="connsiteX0" fmla="*/ 20924 w 170895"/>
                    <a:gd name="connsiteY0" fmla="*/ 35648 h 134600"/>
                    <a:gd name="connsiteX1" fmla="*/ 26607 w 170895"/>
                    <a:gd name="connsiteY1" fmla="*/ 4908 h 134600"/>
                    <a:gd name="connsiteX2" fmla="*/ 64321 w 170895"/>
                    <a:gd name="connsiteY2" fmla="*/ 4908 h 134600"/>
                    <a:gd name="connsiteX3" fmla="*/ 60704 w 170895"/>
                    <a:gd name="connsiteY3" fmla="*/ 26348 h 134600"/>
                    <a:gd name="connsiteX4" fmla="*/ 61221 w 170895"/>
                    <a:gd name="connsiteY4" fmla="*/ 26348 h 134600"/>
                    <a:gd name="connsiteX5" fmla="*/ 121667 w 170895"/>
                    <a:gd name="connsiteY5" fmla="*/ 0 h 134600"/>
                    <a:gd name="connsiteX6" fmla="*/ 169456 w 170895"/>
                    <a:gd name="connsiteY6" fmla="*/ 54763 h 134600"/>
                    <a:gd name="connsiteX7" fmla="*/ 152407 w 170895"/>
                    <a:gd name="connsiteY7" fmla="*/ 134600 h 134600"/>
                    <a:gd name="connsiteX8" fmla="*/ 113143 w 170895"/>
                    <a:gd name="connsiteY8" fmla="*/ 134600 h 134600"/>
                    <a:gd name="connsiteX9" fmla="*/ 127867 w 170895"/>
                    <a:gd name="connsiteY9" fmla="*/ 65888 h 134600"/>
                    <a:gd name="connsiteX10" fmla="*/ 102552 w 170895"/>
                    <a:gd name="connsiteY10" fmla="*/ 26366 h 134600"/>
                    <a:gd name="connsiteX11" fmla="*/ 52438 w 170895"/>
                    <a:gd name="connsiteY11" fmla="*/ 72088 h 134600"/>
                    <a:gd name="connsiteX12" fmla="*/ 39264 w 170895"/>
                    <a:gd name="connsiteY12" fmla="*/ 134600 h 134600"/>
                    <a:gd name="connsiteX13" fmla="*/ 0 w 170895"/>
                    <a:gd name="connsiteY13" fmla="*/ 134600 h 134600"/>
                    <a:gd name="connsiteX14" fmla="*/ 20924 w 170895"/>
                    <a:gd name="connsiteY14" fmla="*/ 35648 h 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895" h="134600">
                      <a:moveTo>
                        <a:pt x="20924" y="35648"/>
                      </a:moveTo>
                      <a:cubicBezTo>
                        <a:pt x="23507" y="24282"/>
                        <a:pt x="25315" y="13174"/>
                        <a:pt x="26607" y="4908"/>
                      </a:cubicBezTo>
                      <a:lnTo>
                        <a:pt x="64321" y="4908"/>
                      </a:lnTo>
                      <a:cubicBezTo>
                        <a:pt x="63288" y="12141"/>
                        <a:pt x="62254" y="19115"/>
                        <a:pt x="60704" y="26348"/>
                      </a:cubicBezTo>
                      <a:lnTo>
                        <a:pt x="61221" y="26348"/>
                      </a:lnTo>
                      <a:cubicBezTo>
                        <a:pt x="78270" y="8008"/>
                        <a:pt x="97902" y="0"/>
                        <a:pt x="121667" y="0"/>
                      </a:cubicBezTo>
                      <a:cubicBezTo>
                        <a:pt x="144916" y="0"/>
                        <a:pt x="178239" y="12658"/>
                        <a:pt x="169456" y="54763"/>
                      </a:cubicBezTo>
                      <a:lnTo>
                        <a:pt x="152407" y="134600"/>
                      </a:lnTo>
                      <a:lnTo>
                        <a:pt x="113143" y="134600"/>
                      </a:lnTo>
                      <a:lnTo>
                        <a:pt x="127867" y="65888"/>
                      </a:lnTo>
                      <a:cubicBezTo>
                        <a:pt x="134583" y="33857"/>
                        <a:pt x="121409" y="26366"/>
                        <a:pt x="102552" y="26366"/>
                      </a:cubicBezTo>
                      <a:cubicBezTo>
                        <a:pt x="82145" y="26366"/>
                        <a:pt x="59155" y="40573"/>
                        <a:pt x="52438" y="72088"/>
                      </a:cubicBezTo>
                      <a:lnTo>
                        <a:pt x="39264" y="134600"/>
                      </a:lnTo>
                      <a:lnTo>
                        <a:pt x="0" y="134600"/>
                      </a:lnTo>
                      <a:lnTo>
                        <a:pt x="20924" y="35648"/>
                      </a:lnTo>
                      <a:close/>
                    </a:path>
                  </a:pathLst>
                </a:custGeom>
                <a:solidFill>
                  <a:srgbClr val="000000"/>
                </a:solidFill>
                <a:ln w="1720" cap="flat">
                  <a:noFill/>
                  <a:prstDash val="solid"/>
                  <a:miter/>
                </a:ln>
              </p:spPr>
              <p:txBody>
                <a:bodyPr rtlCol="0" anchor="ctr"/>
                <a:lstStyle/>
                <a:p>
                  <a:endParaRPr lang="en-IN"/>
                </a:p>
              </p:txBody>
            </p:sp>
            <p:sp>
              <p:nvSpPr>
                <p:cNvPr id="31" name="Freeform: Shape 30">
                  <a:extLst>
                    <a:ext uri="{FF2B5EF4-FFF2-40B4-BE49-F238E27FC236}">
                      <a16:creationId xmlns:a16="http://schemas.microsoft.com/office/drawing/2014/main" id="{4455DA50-1440-456D-5E22-0D56ADF92793}"/>
                    </a:ext>
                  </a:extLst>
                </p:cNvPr>
                <p:cNvSpPr/>
                <p:nvPr/>
              </p:nvSpPr>
              <p:spPr>
                <a:xfrm>
                  <a:off x="10665749" y="569648"/>
                  <a:ext cx="170895" cy="134600"/>
                </a:xfrm>
                <a:custGeom>
                  <a:avLst/>
                  <a:gdLst>
                    <a:gd name="connsiteX0" fmla="*/ 20924 w 170895"/>
                    <a:gd name="connsiteY0" fmla="*/ 35648 h 134600"/>
                    <a:gd name="connsiteX1" fmla="*/ 26607 w 170895"/>
                    <a:gd name="connsiteY1" fmla="*/ 4908 h 134600"/>
                    <a:gd name="connsiteX2" fmla="*/ 64321 w 170895"/>
                    <a:gd name="connsiteY2" fmla="*/ 4908 h 134600"/>
                    <a:gd name="connsiteX3" fmla="*/ 60704 w 170895"/>
                    <a:gd name="connsiteY3" fmla="*/ 26348 h 134600"/>
                    <a:gd name="connsiteX4" fmla="*/ 61221 w 170895"/>
                    <a:gd name="connsiteY4" fmla="*/ 26348 h 134600"/>
                    <a:gd name="connsiteX5" fmla="*/ 121667 w 170895"/>
                    <a:gd name="connsiteY5" fmla="*/ 0 h 134600"/>
                    <a:gd name="connsiteX6" fmla="*/ 169456 w 170895"/>
                    <a:gd name="connsiteY6" fmla="*/ 54763 h 134600"/>
                    <a:gd name="connsiteX7" fmla="*/ 152407 w 170895"/>
                    <a:gd name="connsiteY7" fmla="*/ 134600 h 134600"/>
                    <a:gd name="connsiteX8" fmla="*/ 113143 w 170895"/>
                    <a:gd name="connsiteY8" fmla="*/ 134600 h 134600"/>
                    <a:gd name="connsiteX9" fmla="*/ 127867 w 170895"/>
                    <a:gd name="connsiteY9" fmla="*/ 65888 h 134600"/>
                    <a:gd name="connsiteX10" fmla="*/ 102552 w 170895"/>
                    <a:gd name="connsiteY10" fmla="*/ 26366 h 134600"/>
                    <a:gd name="connsiteX11" fmla="*/ 52438 w 170895"/>
                    <a:gd name="connsiteY11" fmla="*/ 72088 h 134600"/>
                    <a:gd name="connsiteX12" fmla="*/ 39264 w 170895"/>
                    <a:gd name="connsiteY12" fmla="*/ 134600 h 134600"/>
                    <a:gd name="connsiteX13" fmla="*/ 0 w 170895"/>
                    <a:gd name="connsiteY13" fmla="*/ 134600 h 134600"/>
                    <a:gd name="connsiteX14" fmla="*/ 20924 w 170895"/>
                    <a:gd name="connsiteY14" fmla="*/ 35648 h 13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0895" h="134600">
                      <a:moveTo>
                        <a:pt x="20924" y="35648"/>
                      </a:moveTo>
                      <a:cubicBezTo>
                        <a:pt x="23507" y="24282"/>
                        <a:pt x="25315" y="13174"/>
                        <a:pt x="26607" y="4908"/>
                      </a:cubicBezTo>
                      <a:lnTo>
                        <a:pt x="64321" y="4908"/>
                      </a:lnTo>
                      <a:cubicBezTo>
                        <a:pt x="63288" y="12141"/>
                        <a:pt x="62254" y="19115"/>
                        <a:pt x="60704" y="26348"/>
                      </a:cubicBezTo>
                      <a:lnTo>
                        <a:pt x="61221" y="26348"/>
                      </a:lnTo>
                      <a:cubicBezTo>
                        <a:pt x="78270" y="8008"/>
                        <a:pt x="97902" y="0"/>
                        <a:pt x="121667" y="0"/>
                      </a:cubicBezTo>
                      <a:cubicBezTo>
                        <a:pt x="144916" y="0"/>
                        <a:pt x="178239" y="12658"/>
                        <a:pt x="169456" y="54763"/>
                      </a:cubicBezTo>
                      <a:lnTo>
                        <a:pt x="152407" y="134600"/>
                      </a:lnTo>
                      <a:lnTo>
                        <a:pt x="113143" y="134600"/>
                      </a:lnTo>
                      <a:lnTo>
                        <a:pt x="127867" y="65888"/>
                      </a:lnTo>
                      <a:cubicBezTo>
                        <a:pt x="134583" y="33857"/>
                        <a:pt x="121409" y="26366"/>
                        <a:pt x="102552" y="26366"/>
                      </a:cubicBezTo>
                      <a:cubicBezTo>
                        <a:pt x="82145" y="26366"/>
                        <a:pt x="59155" y="40573"/>
                        <a:pt x="52438" y="72088"/>
                      </a:cubicBezTo>
                      <a:lnTo>
                        <a:pt x="39264" y="134600"/>
                      </a:lnTo>
                      <a:lnTo>
                        <a:pt x="0" y="134600"/>
                      </a:lnTo>
                      <a:lnTo>
                        <a:pt x="20924" y="35648"/>
                      </a:lnTo>
                      <a:close/>
                    </a:path>
                  </a:pathLst>
                </a:custGeom>
                <a:solidFill>
                  <a:srgbClr val="000000"/>
                </a:solidFill>
                <a:ln w="1720"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2EA15ABF-1F7A-5D68-1EEE-C1FAD19BCB7C}"/>
                    </a:ext>
                  </a:extLst>
                </p:cNvPr>
                <p:cNvSpPr/>
                <p:nvPr/>
              </p:nvSpPr>
              <p:spPr>
                <a:xfrm>
                  <a:off x="10860329" y="569648"/>
                  <a:ext cx="173095" cy="139491"/>
                </a:xfrm>
                <a:custGeom>
                  <a:avLst/>
                  <a:gdLst>
                    <a:gd name="connsiteX0" fmla="*/ 170973 w 173095"/>
                    <a:gd name="connsiteY0" fmla="*/ 69746 h 139491"/>
                    <a:gd name="connsiteX1" fmla="*/ 71762 w 173095"/>
                    <a:gd name="connsiteY1" fmla="*/ 139491 h 139491"/>
                    <a:gd name="connsiteX2" fmla="*/ 2017 w 173095"/>
                    <a:gd name="connsiteY2" fmla="*/ 69746 h 139491"/>
                    <a:gd name="connsiteX3" fmla="*/ 101486 w 173095"/>
                    <a:gd name="connsiteY3" fmla="*/ 0 h 139491"/>
                    <a:gd name="connsiteX4" fmla="*/ 170973 w 173095"/>
                    <a:gd name="connsiteY4" fmla="*/ 69746 h 139491"/>
                    <a:gd name="connsiteX5" fmla="*/ 42848 w 173095"/>
                    <a:gd name="connsiteY5" fmla="*/ 69746 h 139491"/>
                    <a:gd name="connsiteX6" fmla="*/ 76946 w 173095"/>
                    <a:gd name="connsiteY6" fmla="*/ 114693 h 139491"/>
                    <a:gd name="connsiteX7" fmla="*/ 130159 w 173095"/>
                    <a:gd name="connsiteY7" fmla="*/ 69746 h 139491"/>
                    <a:gd name="connsiteX8" fmla="*/ 96061 w 173095"/>
                    <a:gd name="connsiteY8" fmla="*/ 24798 h 139491"/>
                    <a:gd name="connsiteX9" fmla="*/ 42848 w 173095"/>
                    <a:gd name="connsiteY9" fmla="*/ 69746 h 13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3095" h="139491">
                      <a:moveTo>
                        <a:pt x="170973" y="69746"/>
                      </a:moveTo>
                      <a:cubicBezTo>
                        <a:pt x="163482" y="105393"/>
                        <a:pt x="137650" y="139491"/>
                        <a:pt x="71762" y="139491"/>
                      </a:cubicBezTo>
                      <a:cubicBezTo>
                        <a:pt x="5891" y="139491"/>
                        <a:pt x="-5492" y="105393"/>
                        <a:pt x="2017" y="69746"/>
                      </a:cubicBezTo>
                      <a:cubicBezTo>
                        <a:pt x="9766" y="34098"/>
                        <a:pt x="35598" y="0"/>
                        <a:pt x="101486" y="0"/>
                      </a:cubicBezTo>
                      <a:cubicBezTo>
                        <a:pt x="167357" y="0"/>
                        <a:pt x="178722" y="34098"/>
                        <a:pt x="170973" y="69746"/>
                      </a:cubicBezTo>
                      <a:close/>
                      <a:moveTo>
                        <a:pt x="42848" y="69746"/>
                      </a:moveTo>
                      <a:cubicBezTo>
                        <a:pt x="37682" y="95061"/>
                        <a:pt x="47239" y="114693"/>
                        <a:pt x="76946" y="114693"/>
                      </a:cubicBezTo>
                      <a:cubicBezTo>
                        <a:pt x="106652" y="114693"/>
                        <a:pt x="124993" y="95061"/>
                        <a:pt x="130159" y="69746"/>
                      </a:cubicBezTo>
                      <a:cubicBezTo>
                        <a:pt x="135584" y="44431"/>
                        <a:pt x="125768" y="24798"/>
                        <a:pt x="96061" y="24798"/>
                      </a:cubicBezTo>
                      <a:cubicBezTo>
                        <a:pt x="66355" y="24798"/>
                        <a:pt x="48273" y="44431"/>
                        <a:pt x="42848" y="69746"/>
                      </a:cubicBezTo>
                      <a:close/>
                    </a:path>
                  </a:pathLst>
                </a:custGeom>
                <a:solidFill>
                  <a:srgbClr val="000000"/>
                </a:solidFill>
                <a:ln w="1720" cap="flat">
                  <a:noFill/>
                  <a:prstDash val="solid"/>
                  <a:miter/>
                </a:ln>
              </p:spPr>
              <p:txBody>
                <a:bodyPr rtlCol="0" anchor="ctr"/>
                <a:lstStyle/>
                <a:p>
                  <a:endParaRPr lang="en-IN"/>
                </a:p>
              </p:txBody>
            </p:sp>
            <p:sp>
              <p:nvSpPr>
                <p:cNvPr id="33" name="Freeform: Shape 32">
                  <a:extLst>
                    <a:ext uri="{FF2B5EF4-FFF2-40B4-BE49-F238E27FC236}">
                      <a16:creationId xmlns:a16="http://schemas.microsoft.com/office/drawing/2014/main" id="{6960E045-A158-4F74-19A3-05749D536375}"/>
                    </a:ext>
                  </a:extLst>
                </p:cNvPr>
                <p:cNvSpPr/>
                <p:nvPr/>
              </p:nvSpPr>
              <p:spPr>
                <a:xfrm>
                  <a:off x="11054550" y="574556"/>
                  <a:ext cx="185746" cy="129692"/>
                </a:xfrm>
                <a:custGeom>
                  <a:avLst/>
                  <a:gdLst>
                    <a:gd name="connsiteX0" fmla="*/ 45739 w 185746"/>
                    <a:gd name="connsiteY0" fmla="*/ 0 h 129692"/>
                    <a:gd name="connsiteX1" fmla="*/ 73379 w 185746"/>
                    <a:gd name="connsiteY1" fmla="*/ 100761 h 129692"/>
                    <a:gd name="connsiteX2" fmla="*/ 143900 w 185746"/>
                    <a:gd name="connsiteY2" fmla="*/ 0 h 129692"/>
                    <a:gd name="connsiteX3" fmla="*/ 185747 w 185746"/>
                    <a:gd name="connsiteY3" fmla="*/ 0 h 129692"/>
                    <a:gd name="connsiteX4" fmla="*/ 89894 w 185746"/>
                    <a:gd name="connsiteY4" fmla="*/ 129692 h 129692"/>
                    <a:gd name="connsiteX5" fmla="*/ 40814 w 185746"/>
                    <a:gd name="connsiteY5" fmla="*/ 129692 h 129692"/>
                    <a:gd name="connsiteX6" fmla="*/ 0 w 185746"/>
                    <a:gd name="connsiteY6" fmla="*/ 0 h 129692"/>
                    <a:gd name="connsiteX7" fmla="*/ 45739 w 185746"/>
                    <a:gd name="connsiteY7" fmla="*/ 0 h 129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746" h="129692">
                      <a:moveTo>
                        <a:pt x="45739" y="0"/>
                      </a:moveTo>
                      <a:lnTo>
                        <a:pt x="73379" y="100761"/>
                      </a:lnTo>
                      <a:lnTo>
                        <a:pt x="143900" y="0"/>
                      </a:lnTo>
                      <a:lnTo>
                        <a:pt x="185747" y="0"/>
                      </a:lnTo>
                      <a:lnTo>
                        <a:pt x="89894" y="129692"/>
                      </a:lnTo>
                      <a:lnTo>
                        <a:pt x="40814" y="129692"/>
                      </a:lnTo>
                      <a:lnTo>
                        <a:pt x="0" y="0"/>
                      </a:lnTo>
                      <a:lnTo>
                        <a:pt x="45739" y="0"/>
                      </a:lnTo>
                      <a:close/>
                    </a:path>
                  </a:pathLst>
                </a:custGeom>
                <a:solidFill>
                  <a:srgbClr val="000000"/>
                </a:solidFill>
                <a:ln w="1720"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55ED6FCF-3853-D5EF-AA2C-4D403F0A778C}"/>
                    </a:ext>
                  </a:extLst>
                </p:cNvPr>
                <p:cNvSpPr/>
                <p:nvPr/>
              </p:nvSpPr>
              <p:spPr>
                <a:xfrm>
                  <a:off x="11226887" y="569648"/>
                  <a:ext cx="170550" cy="139491"/>
                </a:xfrm>
                <a:custGeom>
                  <a:avLst/>
                  <a:gdLst>
                    <a:gd name="connsiteX0" fmla="*/ 157327 w 170550"/>
                    <a:gd name="connsiteY0" fmla="*/ 110043 h 139491"/>
                    <a:gd name="connsiteX1" fmla="*/ 153194 w 170550"/>
                    <a:gd name="connsiteY1" fmla="*/ 134583 h 139491"/>
                    <a:gd name="connsiteX2" fmla="*/ 117030 w 170550"/>
                    <a:gd name="connsiteY2" fmla="*/ 134583 h 139491"/>
                    <a:gd name="connsiteX3" fmla="*/ 119871 w 170550"/>
                    <a:gd name="connsiteY3" fmla="*/ 116759 h 139491"/>
                    <a:gd name="connsiteX4" fmla="*/ 53484 w 170550"/>
                    <a:gd name="connsiteY4" fmla="*/ 139491 h 139491"/>
                    <a:gd name="connsiteX5" fmla="*/ 787 w 170550"/>
                    <a:gd name="connsiteY5" fmla="*/ 99710 h 139491"/>
                    <a:gd name="connsiteX6" fmla="*/ 99223 w 170550"/>
                    <a:gd name="connsiteY6" fmla="*/ 52180 h 139491"/>
                    <a:gd name="connsiteX7" fmla="*/ 130479 w 170550"/>
                    <a:gd name="connsiteY7" fmla="*/ 52180 h 139491"/>
                    <a:gd name="connsiteX8" fmla="*/ 100773 w 170550"/>
                    <a:gd name="connsiteY8" fmla="*/ 23249 h 139491"/>
                    <a:gd name="connsiteX9" fmla="*/ 65384 w 170550"/>
                    <a:gd name="connsiteY9" fmla="*/ 41331 h 139491"/>
                    <a:gd name="connsiteX10" fmla="*/ 24569 w 170550"/>
                    <a:gd name="connsiteY10" fmla="*/ 41331 h 139491"/>
                    <a:gd name="connsiteX11" fmla="*/ 106714 w 170550"/>
                    <a:gd name="connsiteY11" fmla="*/ 0 h 139491"/>
                    <a:gd name="connsiteX12" fmla="*/ 168969 w 170550"/>
                    <a:gd name="connsiteY12" fmla="*/ 55796 h 139491"/>
                    <a:gd name="connsiteX13" fmla="*/ 157327 w 170550"/>
                    <a:gd name="connsiteY13" fmla="*/ 110043 h 139491"/>
                    <a:gd name="connsiteX14" fmla="*/ 93264 w 170550"/>
                    <a:gd name="connsiteY14" fmla="*/ 75429 h 139491"/>
                    <a:gd name="connsiteX15" fmla="*/ 42118 w 170550"/>
                    <a:gd name="connsiteY15" fmla="*/ 97127 h 139491"/>
                    <a:gd name="connsiteX16" fmla="*/ 67433 w 170550"/>
                    <a:gd name="connsiteY16" fmla="*/ 117793 h 139491"/>
                    <a:gd name="connsiteX17" fmla="*/ 125554 w 170550"/>
                    <a:gd name="connsiteY17" fmla="*/ 75429 h 139491"/>
                    <a:gd name="connsiteX18" fmla="*/ 93264 w 170550"/>
                    <a:gd name="connsiteY18" fmla="*/ 75429 h 13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0550" h="139491">
                      <a:moveTo>
                        <a:pt x="157327" y="110043"/>
                      </a:moveTo>
                      <a:cubicBezTo>
                        <a:pt x="155519" y="118567"/>
                        <a:pt x="154227" y="125800"/>
                        <a:pt x="153194" y="134583"/>
                      </a:cubicBezTo>
                      <a:lnTo>
                        <a:pt x="117030" y="134583"/>
                      </a:lnTo>
                      <a:cubicBezTo>
                        <a:pt x="117546" y="128642"/>
                        <a:pt x="118580" y="122701"/>
                        <a:pt x="119871" y="116759"/>
                      </a:cubicBezTo>
                      <a:cubicBezTo>
                        <a:pt x="99981" y="133033"/>
                        <a:pt x="78540" y="139491"/>
                        <a:pt x="53484" y="139491"/>
                      </a:cubicBezTo>
                      <a:cubicBezTo>
                        <a:pt x="8020" y="139491"/>
                        <a:pt x="-3346" y="118309"/>
                        <a:pt x="787" y="99710"/>
                      </a:cubicBezTo>
                      <a:cubicBezTo>
                        <a:pt x="9312" y="59155"/>
                        <a:pt x="49609" y="52180"/>
                        <a:pt x="99223" y="52180"/>
                      </a:cubicBezTo>
                      <a:lnTo>
                        <a:pt x="130479" y="52180"/>
                      </a:lnTo>
                      <a:cubicBezTo>
                        <a:pt x="135387" y="29190"/>
                        <a:pt x="120405" y="23249"/>
                        <a:pt x="100773" y="23249"/>
                      </a:cubicBezTo>
                      <a:cubicBezTo>
                        <a:pt x="81657" y="23249"/>
                        <a:pt x="69000" y="31256"/>
                        <a:pt x="65384" y="41331"/>
                      </a:cubicBezTo>
                      <a:lnTo>
                        <a:pt x="24569" y="41331"/>
                      </a:lnTo>
                      <a:cubicBezTo>
                        <a:pt x="35419" y="8008"/>
                        <a:pt x="73133" y="0"/>
                        <a:pt x="106714" y="0"/>
                      </a:cubicBezTo>
                      <a:cubicBezTo>
                        <a:pt x="143137" y="0"/>
                        <a:pt x="178526" y="10333"/>
                        <a:pt x="168969" y="55796"/>
                      </a:cubicBezTo>
                      <a:lnTo>
                        <a:pt x="157327" y="110043"/>
                      </a:lnTo>
                      <a:close/>
                      <a:moveTo>
                        <a:pt x="93264" y="75429"/>
                      </a:moveTo>
                      <a:cubicBezTo>
                        <a:pt x="63558" y="75429"/>
                        <a:pt x="45476" y="81628"/>
                        <a:pt x="42118" y="97127"/>
                      </a:cubicBezTo>
                      <a:cubicBezTo>
                        <a:pt x="40310" y="105910"/>
                        <a:pt x="44959" y="117793"/>
                        <a:pt x="67433" y="117793"/>
                      </a:cubicBezTo>
                      <a:cubicBezTo>
                        <a:pt x="86807" y="117793"/>
                        <a:pt x="118321" y="106427"/>
                        <a:pt x="125554" y="75429"/>
                      </a:cubicBezTo>
                      <a:lnTo>
                        <a:pt x="93264" y="75429"/>
                      </a:lnTo>
                      <a:close/>
                    </a:path>
                  </a:pathLst>
                </a:custGeom>
                <a:solidFill>
                  <a:srgbClr val="000000"/>
                </a:solidFill>
                <a:ln w="1720" cap="flat">
                  <a:noFill/>
                  <a:prstDash val="solid"/>
                  <a:miter/>
                </a:ln>
              </p:spPr>
              <p:txBody>
                <a:bodyPr rtlCol="0" anchor="ctr"/>
                <a:lstStyle/>
                <a:p>
                  <a:endParaRPr lang="en-IN"/>
                </a:p>
              </p:txBody>
            </p:sp>
          </p:grpSp>
          <p:sp>
            <p:nvSpPr>
              <p:cNvPr id="28" name="Freeform: Shape 27">
                <a:extLst>
                  <a:ext uri="{FF2B5EF4-FFF2-40B4-BE49-F238E27FC236}">
                    <a16:creationId xmlns:a16="http://schemas.microsoft.com/office/drawing/2014/main" id="{ED5FBC9F-CD2A-0F66-A6D2-AB772DA36D7B}"/>
                  </a:ext>
                </a:extLst>
              </p:cNvPr>
              <p:cNvSpPr/>
              <p:nvPr/>
            </p:nvSpPr>
            <p:spPr>
              <a:xfrm>
                <a:off x="10427323" y="505723"/>
                <a:ext cx="51525" cy="53557"/>
              </a:xfrm>
              <a:custGeom>
                <a:avLst/>
                <a:gdLst>
                  <a:gd name="connsiteX0" fmla="*/ 51526 w 51525"/>
                  <a:gd name="connsiteY0" fmla="*/ 26779 h 53557"/>
                  <a:gd name="connsiteX1" fmla="*/ 25763 w 51525"/>
                  <a:gd name="connsiteY1" fmla="*/ 53558 h 53557"/>
                  <a:gd name="connsiteX2" fmla="*/ 0 w 51525"/>
                  <a:gd name="connsiteY2" fmla="*/ 26779 h 53557"/>
                  <a:gd name="connsiteX3" fmla="*/ 25763 w 51525"/>
                  <a:gd name="connsiteY3" fmla="*/ 0 h 53557"/>
                  <a:gd name="connsiteX4" fmla="*/ 51526 w 51525"/>
                  <a:gd name="connsiteY4" fmla="*/ 26779 h 535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25" h="53557">
                    <a:moveTo>
                      <a:pt x="51526" y="26779"/>
                    </a:moveTo>
                    <a:cubicBezTo>
                      <a:pt x="51526" y="41568"/>
                      <a:pt x="39991" y="53558"/>
                      <a:pt x="25763" y="53558"/>
                    </a:cubicBezTo>
                    <a:cubicBezTo>
                      <a:pt x="11534" y="53558"/>
                      <a:pt x="0" y="41568"/>
                      <a:pt x="0" y="26779"/>
                    </a:cubicBezTo>
                    <a:cubicBezTo>
                      <a:pt x="0" y="11989"/>
                      <a:pt x="11534" y="0"/>
                      <a:pt x="25763" y="0"/>
                    </a:cubicBezTo>
                    <a:cubicBezTo>
                      <a:pt x="39991" y="0"/>
                      <a:pt x="51526" y="11989"/>
                      <a:pt x="51526" y="26779"/>
                    </a:cubicBezTo>
                    <a:close/>
                  </a:path>
                </a:pathLst>
              </a:custGeom>
              <a:solidFill>
                <a:srgbClr val="000000"/>
              </a:solidFill>
              <a:ln w="1720" cap="flat">
                <a:noFill/>
                <a:prstDash val="solid"/>
                <a:miter/>
              </a:ln>
            </p:spPr>
            <p:txBody>
              <a:bodyPr rtlCol="0" anchor="ctr"/>
              <a:lstStyle/>
              <a:p>
                <a:endParaRPr lang="en-IN"/>
              </a:p>
            </p:txBody>
          </p:sp>
        </p:grpSp>
        <p:sp>
          <p:nvSpPr>
            <p:cNvPr id="15" name="Freeform: Shape 14">
              <a:extLst>
                <a:ext uri="{FF2B5EF4-FFF2-40B4-BE49-F238E27FC236}">
                  <a16:creationId xmlns:a16="http://schemas.microsoft.com/office/drawing/2014/main" id="{CC657526-9FD3-3992-CE8D-F4EC3CD7C4B0}"/>
                </a:ext>
              </a:extLst>
            </p:cNvPr>
            <p:cNvSpPr/>
            <p:nvPr/>
          </p:nvSpPr>
          <p:spPr>
            <a:xfrm>
              <a:off x="10780186" y="695399"/>
              <a:ext cx="71848" cy="53146"/>
            </a:xfrm>
            <a:custGeom>
              <a:avLst/>
              <a:gdLst>
                <a:gd name="connsiteX0" fmla="*/ 44895 w 56106"/>
                <a:gd name="connsiteY0" fmla="*/ 0 h 41502"/>
                <a:gd name="connsiteX1" fmla="*/ 0 w 56106"/>
                <a:gd name="connsiteY1" fmla="*/ 41503 h 41502"/>
                <a:gd name="connsiteX2" fmla="*/ 56106 w 56106"/>
                <a:gd name="connsiteY2" fmla="*/ 10763 h 41502"/>
                <a:gd name="connsiteX3" fmla="*/ 44895 w 56106"/>
                <a:gd name="connsiteY3" fmla="*/ 0 h 41502"/>
              </a:gdLst>
              <a:ahLst/>
              <a:cxnLst>
                <a:cxn ang="0">
                  <a:pos x="connsiteX0" y="connsiteY0"/>
                </a:cxn>
                <a:cxn ang="0">
                  <a:pos x="connsiteX1" y="connsiteY1"/>
                </a:cxn>
                <a:cxn ang="0">
                  <a:pos x="connsiteX2" y="connsiteY2"/>
                </a:cxn>
                <a:cxn ang="0">
                  <a:pos x="connsiteX3" y="connsiteY3"/>
                </a:cxn>
              </a:cxnLst>
              <a:rect l="l" t="t" r="r" b="b"/>
              <a:pathLst>
                <a:path w="56106" h="41502">
                  <a:moveTo>
                    <a:pt x="44895" y="0"/>
                  </a:moveTo>
                  <a:cubicBezTo>
                    <a:pt x="69" y="41468"/>
                    <a:pt x="0" y="41503"/>
                    <a:pt x="0" y="41503"/>
                  </a:cubicBezTo>
                  <a:cubicBezTo>
                    <a:pt x="0" y="41503"/>
                    <a:pt x="0" y="41503"/>
                    <a:pt x="56106" y="10763"/>
                  </a:cubicBezTo>
                  <a:cubicBezTo>
                    <a:pt x="51526" y="7629"/>
                    <a:pt x="47840" y="3995"/>
                    <a:pt x="44895" y="0"/>
                  </a:cubicBezTo>
                  <a:close/>
                </a:path>
              </a:pathLst>
            </a:custGeom>
            <a:solidFill>
              <a:srgbClr val="0070CD"/>
            </a:solidFill>
            <a:ln w="1720"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A69D29FC-0052-3459-C38D-850B15497A03}"/>
                </a:ext>
              </a:extLst>
            </p:cNvPr>
            <p:cNvSpPr/>
            <p:nvPr/>
          </p:nvSpPr>
          <p:spPr>
            <a:xfrm>
              <a:off x="10666768" y="365760"/>
              <a:ext cx="468021" cy="193374"/>
            </a:xfrm>
            <a:custGeom>
              <a:avLst/>
              <a:gdLst>
                <a:gd name="connsiteX0" fmla="*/ 249655 w 365478"/>
                <a:gd name="connsiteY0" fmla="*/ 87822 h 151006"/>
                <a:gd name="connsiteX1" fmla="*/ 242869 w 365478"/>
                <a:gd name="connsiteY1" fmla="*/ 131632 h 151006"/>
                <a:gd name="connsiteX2" fmla="*/ 297409 w 365478"/>
                <a:gd name="connsiteY2" fmla="*/ 151006 h 151006"/>
                <a:gd name="connsiteX3" fmla="*/ 359697 w 365478"/>
                <a:gd name="connsiteY3" fmla="*/ 28667 h 151006"/>
                <a:gd name="connsiteX4" fmla="*/ 224529 w 365478"/>
                <a:gd name="connsiteY4" fmla="*/ 4868 h 151006"/>
                <a:gd name="connsiteX5" fmla="*/ 153940 w 365478"/>
                <a:gd name="connsiteY5" fmla="*/ 18386 h 151006"/>
                <a:gd name="connsiteX6" fmla="*/ 0 w 365478"/>
                <a:gd name="connsiteY6" fmla="*/ 62748 h 151006"/>
                <a:gd name="connsiteX7" fmla="*/ 249655 w 365478"/>
                <a:gd name="connsiteY7" fmla="*/ 87822 h 15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5478" h="151006">
                  <a:moveTo>
                    <a:pt x="249655" y="87822"/>
                  </a:moveTo>
                  <a:cubicBezTo>
                    <a:pt x="252772" y="100979"/>
                    <a:pt x="249930" y="115858"/>
                    <a:pt x="242869" y="131632"/>
                  </a:cubicBezTo>
                  <a:cubicBezTo>
                    <a:pt x="269734" y="133010"/>
                    <a:pt x="287042" y="140260"/>
                    <a:pt x="297409" y="151006"/>
                  </a:cubicBezTo>
                  <a:cubicBezTo>
                    <a:pt x="346782" y="105129"/>
                    <a:pt x="379278" y="59924"/>
                    <a:pt x="359697" y="28667"/>
                  </a:cubicBezTo>
                  <a:cubicBezTo>
                    <a:pt x="343079" y="2112"/>
                    <a:pt x="290434" y="-6429"/>
                    <a:pt x="224529" y="4868"/>
                  </a:cubicBezTo>
                  <a:cubicBezTo>
                    <a:pt x="199455" y="9173"/>
                    <a:pt x="175896" y="13737"/>
                    <a:pt x="153940" y="18386"/>
                  </a:cubicBezTo>
                  <a:cubicBezTo>
                    <a:pt x="100589" y="31371"/>
                    <a:pt x="47909" y="47042"/>
                    <a:pt x="0" y="62748"/>
                  </a:cubicBezTo>
                  <a:cubicBezTo>
                    <a:pt x="73965" y="46508"/>
                    <a:pt x="233604" y="19781"/>
                    <a:pt x="249655" y="87822"/>
                  </a:cubicBezTo>
                  <a:close/>
                </a:path>
              </a:pathLst>
            </a:custGeom>
            <a:solidFill>
              <a:srgbClr val="0070CD"/>
            </a:solidFill>
            <a:ln w="1720"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E94A01F5-E1F6-0B7B-3CA4-8E91D45D8C01}"/>
                </a:ext>
              </a:extLst>
            </p:cNvPr>
            <p:cNvSpPr/>
            <p:nvPr/>
          </p:nvSpPr>
          <p:spPr>
            <a:xfrm>
              <a:off x="10809494" y="765372"/>
              <a:ext cx="47083" cy="51250"/>
            </a:xfrm>
            <a:custGeom>
              <a:avLst/>
              <a:gdLst>
                <a:gd name="connsiteX0" fmla="*/ 9334 w 36767"/>
                <a:gd name="connsiteY0" fmla="*/ 27709 h 40021"/>
                <a:gd name="connsiteX1" fmla="*/ 19477 w 36767"/>
                <a:gd name="connsiteY1" fmla="*/ 33220 h 40021"/>
                <a:gd name="connsiteX2" fmla="*/ 27192 w 36767"/>
                <a:gd name="connsiteY2" fmla="*/ 28914 h 40021"/>
                <a:gd name="connsiteX3" fmla="*/ 17307 w 36767"/>
                <a:gd name="connsiteY3" fmla="*/ 23386 h 40021"/>
                <a:gd name="connsiteX4" fmla="*/ 1533 w 36767"/>
                <a:gd name="connsiteY4" fmla="*/ 11607 h 40021"/>
                <a:gd name="connsiteX5" fmla="*/ 18031 w 36767"/>
                <a:gd name="connsiteY5" fmla="*/ 0 h 40021"/>
                <a:gd name="connsiteX6" fmla="*/ 35252 w 36767"/>
                <a:gd name="connsiteY6" fmla="*/ 11263 h 40021"/>
                <a:gd name="connsiteX7" fmla="*/ 25901 w 36767"/>
                <a:gd name="connsiteY7" fmla="*/ 11263 h 40021"/>
                <a:gd name="connsiteX8" fmla="*/ 17738 w 36767"/>
                <a:gd name="connsiteY8" fmla="*/ 6802 h 40021"/>
                <a:gd name="connsiteX9" fmla="*/ 11039 w 36767"/>
                <a:gd name="connsiteY9" fmla="*/ 10712 h 40021"/>
                <a:gd name="connsiteX10" fmla="*/ 19856 w 36767"/>
                <a:gd name="connsiteY10" fmla="*/ 15344 h 40021"/>
                <a:gd name="connsiteX11" fmla="*/ 36767 w 36767"/>
                <a:gd name="connsiteY11" fmla="*/ 27967 h 40021"/>
                <a:gd name="connsiteX12" fmla="*/ 18633 w 36767"/>
                <a:gd name="connsiteY12" fmla="*/ 40022 h 40021"/>
                <a:gd name="connsiteX13" fmla="*/ 0 w 36767"/>
                <a:gd name="connsiteY13" fmla="*/ 27726 h 40021"/>
                <a:gd name="connsiteX14" fmla="*/ 9334 w 36767"/>
                <a:gd name="connsiteY14" fmla="*/ 27726 h 4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67" h="40021">
                  <a:moveTo>
                    <a:pt x="9334" y="27709"/>
                  </a:moveTo>
                  <a:cubicBezTo>
                    <a:pt x="10436" y="31032"/>
                    <a:pt x="13088" y="33220"/>
                    <a:pt x="19477" y="33220"/>
                  </a:cubicBezTo>
                  <a:cubicBezTo>
                    <a:pt x="25453" y="33220"/>
                    <a:pt x="27192" y="31394"/>
                    <a:pt x="27192" y="28914"/>
                  </a:cubicBezTo>
                  <a:cubicBezTo>
                    <a:pt x="27192" y="26262"/>
                    <a:pt x="25418" y="24764"/>
                    <a:pt x="17307" y="23386"/>
                  </a:cubicBezTo>
                  <a:cubicBezTo>
                    <a:pt x="3961" y="21096"/>
                    <a:pt x="1533" y="16773"/>
                    <a:pt x="1533" y="11607"/>
                  </a:cubicBezTo>
                  <a:cubicBezTo>
                    <a:pt x="1533" y="3926"/>
                    <a:pt x="8938" y="0"/>
                    <a:pt x="18031" y="0"/>
                  </a:cubicBezTo>
                  <a:cubicBezTo>
                    <a:pt x="31239" y="0"/>
                    <a:pt x="34821" y="6785"/>
                    <a:pt x="35252" y="11263"/>
                  </a:cubicBezTo>
                  <a:lnTo>
                    <a:pt x="25901" y="11263"/>
                  </a:lnTo>
                  <a:cubicBezTo>
                    <a:pt x="25349" y="9351"/>
                    <a:pt x="24075" y="6802"/>
                    <a:pt x="17738" y="6802"/>
                  </a:cubicBezTo>
                  <a:cubicBezTo>
                    <a:pt x="13295" y="6802"/>
                    <a:pt x="11039" y="8214"/>
                    <a:pt x="11039" y="10712"/>
                  </a:cubicBezTo>
                  <a:cubicBezTo>
                    <a:pt x="11039" y="12933"/>
                    <a:pt x="12623" y="14052"/>
                    <a:pt x="19856" y="15344"/>
                  </a:cubicBezTo>
                  <a:cubicBezTo>
                    <a:pt x="34477" y="17962"/>
                    <a:pt x="36767" y="22387"/>
                    <a:pt x="36767" y="27967"/>
                  </a:cubicBezTo>
                  <a:cubicBezTo>
                    <a:pt x="36767" y="34632"/>
                    <a:pt x="31532" y="40022"/>
                    <a:pt x="18633" y="40022"/>
                  </a:cubicBezTo>
                  <a:cubicBezTo>
                    <a:pt x="6596" y="40022"/>
                    <a:pt x="1171" y="34649"/>
                    <a:pt x="0" y="27726"/>
                  </a:cubicBezTo>
                  <a:lnTo>
                    <a:pt x="9334" y="27726"/>
                  </a:lnTo>
                  <a:close/>
                </a:path>
              </a:pathLst>
            </a:custGeom>
            <a:solidFill>
              <a:srgbClr val="0070CD"/>
            </a:solidFill>
            <a:ln w="172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ABADE44A-D22B-3452-63AA-0525F7EBF40B}"/>
                </a:ext>
              </a:extLst>
            </p:cNvPr>
            <p:cNvSpPr/>
            <p:nvPr/>
          </p:nvSpPr>
          <p:spPr>
            <a:xfrm>
              <a:off x="10893163" y="765328"/>
              <a:ext cx="53301" cy="51361"/>
            </a:xfrm>
            <a:custGeom>
              <a:avLst/>
              <a:gdLst>
                <a:gd name="connsiteX0" fmla="*/ 41623 w 41623"/>
                <a:gd name="connsiteY0" fmla="*/ 19908 h 40108"/>
                <a:gd name="connsiteX1" fmla="*/ 20510 w 41623"/>
                <a:gd name="connsiteY1" fmla="*/ 40108 h 40108"/>
                <a:gd name="connsiteX2" fmla="*/ 0 w 41623"/>
                <a:gd name="connsiteY2" fmla="*/ 19959 h 40108"/>
                <a:gd name="connsiteX3" fmla="*/ 20941 w 41623"/>
                <a:gd name="connsiteY3" fmla="*/ 0 h 40108"/>
                <a:gd name="connsiteX4" fmla="*/ 41623 w 41623"/>
                <a:gd name="connsiteY4" fmla="*/ 19908 h 40108"/>
                <a:gd name="connsiteX5" fmla="*/ 9850 w 41623"/>
                <a:gd name="connsiteY5" fmla="*/ 19839 h 40108"/>
                <a:gd name="connsiteX6" fmla="*/ 21044 w 41623"/>
                <a:gd name="connsiteY6" fmla="*/ 32806 h 40108"/>
                <a:gd name="connsiteX7" fmla="*/ 31773 w 41623"/>
                <a:gd name="connsiteY7" fmla="*/ 20011 h 40108"/>
                <a:gd name="connsiteX8" fmla="*/ 20665 w 41623"/>
                <a:gd name="connsiteY8" fmla="*/ 7267 h 40108"/>
                <a:gd name="connsiteX9" fmla="*/ 9850 w 41623"/>
                <a:gd name="connsiteY9" fmla="*/ 19839 h 40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23" h="40108">
                  <a:moveTo>
                    <a:pt x="41623" y="19908"/>
                  </a:moveTo>
                  <a:cubicBezTo>
                    <a:pt x="41623" y="30568"/>
                    <a:pt x="34511" y="40108"/>
                    <a:pt x="20510" y="40108"/>
                  </a:cubicBezTo>
                  <a:cubicBezTo>
                    <a:pt x="7457" y="40108"/>
                    <a:pt x="0" y="31187"/>
                    <a:pt x="0" y="19959"/>
                  </a:cubicBezTo>
                  <a:cubicBezTo>
                    <a:pt x="0" y="9368"/>
                    <a:pt x="7887" y="0"/>
                    <a:pt x="20941" y="0"/>
                  </a:cubicBezTo>
                  <a:cubicBezTo>
                    <a:pt x="34373" y="-17"/>
                    <a:pt x="41623" y="9420"/>
                    <a:pt x="41623" y="19908"/>
                  </a:cubicBezTo>
                  <a:close/>
                  <a:moveTo>
                    <a:pt x="9850" y="19839"/>
                  </a:moveTo>
                  <a:cubicBezTo>
                    <a:pt x="9850" y="27123"/>
                    <a:pt x="13536" y="32806"/>
                    <a:pt x="21044" y="32806"/>
                  </a:cubicBezTo>
                  <a:cubicBezTo>
                    <a:pt x="28794" y="32806"/>
                    <a:pt x="31773" y="26262"/>
                    <a:pt x="31773" y="20011"/>
                  </a:cubicBezTo>
                  <a:cubicBezTo>
                    <a:pt x="31773" y="13191"/>
                    <a:pt x="28449" y="7267"/>
                    <a:pt x="20665" y="7267"/>
                  </a:cubicBezTo>
                  <a:cubicBezTo>
                    <a:pt x="13174" y="7267"/>
                    <a:pt x="9850" y="13346"/>
                    <a:pt x="9850" y="19839"/>
                  </a:cubicBezTo>
                  <a:close/>
                </a:path>
              </a:pathLst>
            </a:custGeom>
            <a:solidFill>
              <a:srgbClr val="0070CD"/>
            </a:solidFill>
            <a:ln w="172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12EF87E-4160-7C05-75B3-46C749D1F0E1}"/>
                </a:ext>
              </a:extLst>
            </p:cNvPr>
            <p:cNvSpPr/>
            <p:nvPr/>
          </p:nvSpPr>
          <p:spPr>
            <a:xfrm>
              <a:off x="10985895" y="766364"/>
              <a:ext cx="39540" cy="49288"/>
            </a:xfrm>
            <a:custGeom>
              <a:avLst/>
              <a:gdLst>
                <a:gd name="connsiteX0" fmla="*/ 0 w 30877"/>
                <a:gd name="connsiteY0" fmla="*/ 0 h 38489"/>
                <a:gd name="connsiteX1" fmla="*/ 9334 w 30877"/>
                <a:gd name="connsiteY1" fmla="*/ 0 h 38489"/>
                <a:gd name="connsiteX2" fmla="*/ 9334 w 30877"/>
                <a:gd name="connsiteY2" fmla="*/ 30998 h 38489"/>
                <a:gd name="connsiteX3" fmla="*/ 30877 w 30877"/>
                <a:gd name="connsiteY3" fmla="*/ 30998 h 38489"/>
                <a:gd name="connsiteX4" fmla="*/ 29655 w 30877"/>
                <a:gd name="connsiteY4" fmla="*/ 38489 h 38489"/>
                <a:gd name="connsiteX5" fmla="*/ 0 w 30877"/>
                <a:gd name="connsiteY5" fmla="*/ 38489 h 38489"/>
                <a:gd name="connsiteX6" fmla="*/ 0 w 30877"/>
                <a:gd name="connsiteY6" fmla="*/ 0 h 38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877" h="38489">
                  <a:moveTo>
                    <a:pt x="0" y="0"/>
                  </a:moveTo>
                  <a:lnTo>
                    <a:pt x="9334" y="0"/>
                  </a:lnTo>
                  <a:lnTo>
                    <a:pt x="9334" y="30998"/>
                  </a:lnTo>
                  <a:lnTo>
                    <a:pt x="30877" y="30998"/>
                  </a:lnTo>
                  <a:lnTo>
                    <a:pt x="29655" y="38489"/>
                  </a:lnTo>
                  <a:lnTo>
                    <a:pt x="0" y="38489"/>
                  </a:lnTo>
                  <a:lnTo>
                    <a:pt x="0" y="0"/>
                  </a:lnTo>
                  <a:close/>
                </a:path>
              </a:pathLst>
            </a:custGeom>
            <a:solidFill>
              <a:srgbClr val="0070CD"/>
            </a:solidFill>
            <a:ln w="1720"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FB40AD4-A7F0-6123-8C10-163F19139235}"/>
                </a:ext>
              </a:extLst>
            </p:cNvPr>
            <p:cNvSpPr/>
            <p:nvPr/>
          </p:nvSpPr>
          <p:spPr>
            <a:xfrm>
              <a:off x="11060786" y="766364"/>
              <a:ext cx="46222" cy="50324"/>
            </a:xfrm>
            <a:custGeom>
              <a:avLst/>
              <a:gdLst>
                <a:gd name="connsiteX0" fmla="*/ 9334 w 36095"/>
                <a:gd name="connsiteY0" fmla="*/ 0 h 39298"/>
                <a:gd name="connsiteX1" fmla="*/ 9334 w 36095"/>
                <a:gd name="connsiteY1" fmla="*/ 21750 h 39298"/>
                <a:gd name="connsiteX2" fmla="*/ 18358 w 36095"/>
                <a:gd name="connsiteY2" fmla="*/ 31997 h 39298"/>
                <a:gd name="connsiteX3" fmla="*/ 26762 w 36095"/>
                <a:gd name="connsiteY3" fmla="*/ 21750 h 39298"/>
                <a:gd name="connsiteX4" fmla="*/ 26762 w 36095"/>
                <a:gd name="connsiteY4" fmla="*/ 0 h 39298"/>
                <a:gd name="connsiteX5" fmla="*/ 36095 w 36095"/>
                <a:gd name="connsiteY5" fmla="*/ 0 h 39298"/>
                <a:gd name="connsiteX6" fmla="*/ 36095 w 36095"/>
                <a:gd name="connsiteY6" fmla="*/ 22060 h 39298"/>
                <a:gd name="connsiteX7" fmla="*/ 18099 w 36095"/>
                <a:gd name="connsiteY7" fmla="*/ 39299 h 39298"/>
                <a:gd name="connsiteX8" fmla="*/ 0 w 36095"/>
                <a:gd name="connsiteY8" fmla="*/ 22267 h 39298"/>
                <a:gd name="connsiteX9" fmla="*/ 0 w 36095"/>
                <a:gd name="connsiteY9" fmla="*/ 0 h 39298"/>
                <a:gd name="connsiteX10" fmla="*/ 9334 w 36095"/>
                <a:gd name="connsiteY10" fmla="*/ 0 h 39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095" h="39298">
                  <a:moveTo>
                    <a:pt x="9334" y="0"/>
                  </a:moveTo>
                  <a:lnTo>
                    <a:pt x="9334" y="21750"/>
                  </a:lnTo>
                  <a:cubicBezTo>
                    <a:pt x="9334" y="29930"/>
                    <a:pt x="13622" y="31997"/>
                    <a:pt x="18358" y="31997"/>
                  </a:cubicBezTo>
                  <a:cubicBezTo>
                    <a:pt x="23386" y="31997"/>
                    <a:pt x="26762" y="29827"/>
                    <a:pt x="26762" y="21750"/>
                  </a:cubicBezTo>
                  <a:lnTo>
                    <a:pt x="26762" y="0"/>
                  </a:lnTo>
                  <a:lnTo>
                    <a:pt x="36095" y="0"/>
                  </a:lnTo>
                  <a:lnTo>
                    <a:pt x="36095" y="22060"/>
                  </a:lnTo>
                  <a:cubicBezTo>
                    <a:pt x="36095" y="33736"/>
                    <a:pt x="29534" y="39299"/>
                    <a:pt x="18099" y="39299"/>
                  </a:cubicBezTo>
                  <a:cubicBezTo>
                    <a:pt x="7043" y="39299"/>
                    <a:pt x="0" y="34218"/>
                    <a:pt x="0" y="22267"/>
                  </a:cubicBezTo>
                  <a:lnTo>
                    <a:pt x="0" y="0"/>
                  </a:lnTo>
                  <a:lnTo>
                    <a:pt x="9334" y="0"/>
                  </a:lnTo>
                  <a:close/>
                </a:path>
              </a:pathLst>
            </a:custGeom>
            <a:solidFill>
              <a:srgbClr val="0070CD"/>
            </a:solidFill>
            <a:ln w="1720"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A18B7008-CC71-185B-4B73-7629A5FED5B4}"/>
                </a:ext>
              </a:extLst>
            </p:cNvPr>
            <p:cNvSpPr/>
            <p:nvPr/>
          </p:nvSpPr>
          <p:spPr>
            <a:xfrm>
              <a:off x="11144058" y="766342"/>
              <a:ext cx="46597" cy="49288"/>
            </a:xfrm>
            <a:custGeom>
              <a:avLst/>
              <a:gdLst>
                <a:gd name="connsiteX0" fmla="*/ 13553 w 36388"/>
                <a:gd name="connsiteY0" fmla="*/ 7440 h 38489"/>
                <a:gd name="connsiteX1" fmla="*/ 0 w 36388"/>
                <a:gd name="connsiteY1" fmla="*/ 7440 h 38489"/>
                <a:gd name="connsiteX2" fmla="*/ 0 w 36388"/>
                <a:gd name="connsiteY2" fmla="*/ 0 h 38489"/>
                <a:gd name="connsiteX3" fmla="*/ 36388 w 36388"/>
                <a:gd name="connsiteY3" fmla="*/ 0 h 38489"/>
                <a:gd name="connsiteX4" fmla="*/ 36388 w 36388"/>
                <a:gd name="connsiteY4" fmla="*/ 7440 h 38489"/>
                <a:gd name="connsiteX5" fmla="*/ 22887 w 36388"/>
                <a:gd name="connsiteY5" fmla="*/ 7440 h 38489"/>
                <a:gd name="connsiteX6" fmla="*/ 22887 w 36388"/>
                <a:gd name="connsiteY6" fmla="*/ 38489 h 38489"/>
                <a:gd name="connsiteX7" fmla="*/ 13536 w 36388"/>
                <a:gd name="connsiteY7" fmla="*/ 38489 h 38489"/>
                <a:gd name="connsiteX8" fmla="*/ 13536 w 36388"/>
                <a:gd name="connsiteY8" fmla="*/ 7440 h 38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388" h="38489">
                  <a:moveTo>
                    <a:pt x="13553" y="7440"/>
                  </a:moveTo>
                  <a:lnTo>
                    <a:pt x="0" y="7440"/>
                  </a:lnTo>
                  <a:lnTo>
                    <a:pt x="0" y="0"/>
                  </a:lnTo>
                  <a:lnTo>
                    <a:pt x="36388" y="0"/>
                  </a:lnTo>
                  <a:lnTo>
                    <a:pt x="36388" y="7440"/>
                  </a:lnTo>
                  <a:lnTo>
                    <a:pt x="22887" y="7440"/>
                  </a:lnTo>
                  <a:lnTo>
                    <a:pt x="22887" y="38489"/>
                  </a:lnTo>
                  <a:lnTo>
                    <a:pt x="13536" y="38489"/>
                  </a:lnTo>
                  <a:lnTo>
                    <a:pt x="13536" y="7440"/>
                  </a:lnTo>
                  <a:close/>
                </a:path>
              </a:pathLst>
            </a:custGeom>
            <a:solidFill>
              <a:srgbClr val="0070CD"/>
            </a:solidFill>
            <a:ln w="1720"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B5BDC72-D4B3-92C0-742F-36C8EEC5A961}"/>
                </a:ext>
              </a:extLst>
            </p:cNvPr>
            <p:cNvSpPr/>
            <p:nvPr/>
          </p:nvSpPr>
          <p:spPr>
            <a:xfrm>
              <a:off x="11227925" y="766364"/>
              <a:ext cx="11952" cy="49265"/>
            </a:xfrm>
            <a:custGeom>
              <a:avLst/>
              <a:gdLst>
                <a:gd name="connsiteX0" fmla="*/ 9334 w 9333"/>
                <a:gd name="connsiteY0" fmla="*/ 0 h 38471"/>
                <a:gd name="connsiteX1" fmla="*/ 9334 w 9333"/>
                <a:gd name="connsiteY1" fmla="*/ 38472 h 38471"/>
                <a:gd name="connsiteX2" fmla="*/ 0 w 9333"/>
                <a:gd name="connsiteY2" fmla="*/ 38472 h 38471"/>
                <a:gd name="connsiteX3" fmla="*/ 0 w 9333"/>
                <a:gd name="connsiteY3" fmla="*/ 0 h 38471"/>
                <a:gd name="connsiteX4" fmla="*/ 9334 w 9333"/>
                <a:gd name="connsiteY4" fmla="*/ 0 h 384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33" h="38471">
                  <a:moveTo>
                    <a:pt x="9334" y="0"/>
                  </a:moveTo>
                  <a:lnTo>
                    <a:pt x="9334" y="38472"/>
                  </a:lnTo>
                  <a:lnTo>
                    <a:pt x="0" y="38472"/>
                  </a:lnTo>
                  <a:lnTo>
                    <a:pt x="0" y="0"/>
                  </a:lnTo>
                  <a:lnTo>
                    <a:pt x="9334" y="0"/>
                  </a:lnTo>
                  <a:close/>
                </a:path>
              </a:pathLst>
            </a:custGeom>
            <a:solidFill>
              <a:srgbClr val="0070CD"/>
            </a:solidFill>
            <a:ln w="1720"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324A4362-BEFD-8502-9CB6-5F8C1D24B267}"/>
                </a:ext>
              </a:extLst>
            </p:cNvPr>
            <p:cNvSpPr/>
            <p:nvPr/>
          </p:nvSpPr>
          <p:spPr>
            <a:xfrm>
              <a:off x="11279793" y="765328"/>
              <a:ext cx="53301" cy="51361"/>
            </a:xfrm>
            <a:custGeom>
              <a:avLst/>
              <a:gdLst>
                <a:gd name="connsiteX0" fmla="*/ 41623 w 41623"/>
                <a:gd name="connsiteY0" fmla="*/ 19908 h 40108"/>
                <a:gd name="connsiteX1" fmla="*/ 20510 w 41623"/>
                <a:gd name="connsiteY1" fmla="*/ 40108 h 40108"/>
                <a:gd name="connsiteX2" fmla="*/ 0 w 41623"/>
                <a:gd name="connsiteY2" fmla="*/ 19959 h 40108"/>
                <a:gd name="connsiteX3" fmla="*/ 20941 w 41623"/>
                <a:gd name="connsiteY3" fmla="*/ 0 h 40108"/>
                <a:gd name="connsiteX4" fmla="*/ 41623 w 41623"/>
                <a:gd name="connsiteY4" fmla="*/ 19908 h 40108"/>
                <a:gd name="connsiteX5" fmla="*/ 9851 w 41623"/>
                <a:gd name="connsiteY5" fmla="*/ 19839 h 40108"/>
                <a:gd name="connsiteX6" fmla="*/ 21044 w 41623"/>
                <a:gd name="connsiteY6" fmla="*/ 32806 h 40108"/>
                <a:gd name="connsiteX7" fmla="*/ 31773 w 41623"/>
                <a:gd name="connsiteY7" fmla="*/ 20011 h 40108"/>
                <a:gd name="connsiteX8" fmla="*/ 20665 w 41623"/>
                <a:gd name="connsiteY8" fmla="*/ 7267 h 40108"/>
                <a:gd name="connsiteX9" fmla="*/ 9851 w 41623"/>
                <a:gd name="connsiteY9" fmla="*/ 19839 h 40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23" h="40108">
                  <a:moveTo>
                    <a:pt x="41623" y="19908"/>
                  </a:moveTo>
                  <a:cubicBezTo>
                    <a:pt x="41623" y="30568"/>
                    <a:pt x="34511" y="40108"/>
                    <a:pt x="20510" y="40108"/>
                  </a:cubicBezTo>
                  <a:cubicBezTo>
                    <a:pt x="7457" y="40108"/>
                    <a:pt x="0" y="31187"/>
                    <a:pt x="0" y="19959"/>
                  </a:cubicBezTo>
                  <a:cubicBezTo>
                    <a:pt x="0" y="9368"/>
                    <a:pt x="7887" y="0"/>
                    <a:pt x="20941" y="0"/>
                  </a:cubicBezTo>
                  <a:cubicBezTo>
                    <a:pt x="34391" y="-17"/>
                    <a:pt x="41623" y="9420"/>
                    <a:pt x="41623" y="19908"/>
                  </a:cubicBezTo>
                  <a:close/>
                  <a:moveTo>
                    <a:pt x="9851" y="19839"/>
                  </a:moveTo>
                  <a:cubicBezTo>
                    <a:pt x="9851" y="27123"/>
                    <a:pt x="13536" y="32806"/>
                    <a:pt x="21044" y="32806"/>
                  </a:cubicBezTo>
                  <a:cubicBezTo>
                    <a:pt x="28794" y="32806"/>
                    <a:pt x="31773" y="26262"/>
                    <a:pt x="31773" y="20011"/>
                  </a:cubicBezTo>
                  <a:cubicBezTo>
                    <a:pt x="31773" y="13191"/>
                    <a:pt x="28449" y="7267"/>
                    <a:pt x="20665" y="7267"/>
                  </a:cubicBezTo>
                  <a:cubicBezTo>
                    <a:pt x="13174" y="7267"/>
                    <a:pt x="9851" y="13346"/>
                    <a:pt x="9851" y="19839"/>
                  </a:cubicBezTo>
                  <a:close/>
                </a:path>
              </a:pathLst>
            </a:custGeom>
            <a:solidFill>
              <a:srgbClr val="0070CD"/>
            </a:solidFill>
            <a:ln w="1720"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A109F7AB-656D-FC52-DFCC-0F04A52EA52A}"/>
                </a:ext>
              </a:extLst>
            </p:cNvPr>
            <p:cNvSpPr/>
            <p:nvPr/>
          </p:nvSpPr>
          <p:spPr>
            <a:xfrm>
              <a:off x="11372526" y="766364"/>
              <a:ext cx="47281" cy="49265"/>
            </a:xfrm>
            <a:custGeom>
              <a:avLst/>
              <a:gdLst>
                <a:gd name="connsiteX0" fmla="*/ 0 w 36922"/>
                <a:gd name="connsiteY0" fmla="*/ 38472 h 38471"/>
                <a:gd name="connsiteX1" fmla="*/ 0 w 36922"/>
                <a:gd name="connsiteY1" fmla="*/ 0 h 38471"/>
                <a:gd name="connsiteX2" fmla="*/ 11056 w 36922"/>
                <a:gd name="connsiteY2" fmla="*/ 0 h 38471"/>
                <a:gd name="connsiteX3" fmla="*/ 28587 w 36922"/>
                <a:gd name="connsiteY3" fmla="*/ 27072 h 38471"/>
                <a:gd name="connsiteX4" fmla="*/ 28690 w 36922"/>
                <a:gd name="connsiteY4" fmla="*/ 27072 h 38471"/>
                <a:gd name="connsiteX5" fmla="*/ 28363 w 36922"/>
                <a:gd name="connsiteY5" fmla="*/ 9506 h 38471"/>
                <a:gd name="connsiteX6" fmla="*/ 28363 w 36922"/>
                <a:gd name="connsiteY6" fmla="*/ 0 h 38471"/>
                <a:gd name="connsiteX7" fmla="*/ 36922 w 36922"/>
                <a:gd name="connsiteY7" fmla="*/ 0 h 38471"/>
                <a:gd name="connsiteX8" fmla="*/ 36922 w 36922"/>
                <a:gd name="connsiteY8" fmla="*/ 38472 h 38471"/>
                <a:gd name="connsiteX9" fmla="*/ 26555 w 36922"/>
                <a:gd name="connsiteY9" fmla="*/ 38472 h 38471"/>
                <a:gd name="connsiteX10" fmla="*/ 8318 w 36922"/>
                <a:gd name="connsiteY10" fmla="*/ 9213 h 38471"/>
                <a:gd name="connsiteX11" fmla="*/ 8215 w 36922"/>
                <a:gd name="connsiteY11" fmla="*/ 9213 h 38471"/>
                <a:gd name="connsiteX12" fmla="*/ 8542 w 36922"/>
                <a:gd name="connsiteY12" fmla="*/ 26262 h 38471"/>
                <a:gd name="connsiteX13" fmla="*/ 8542 w 36922"/>
                <a:gd name="connsiteY13" fmla="*/ 38455 h 38471"/>
                <a:gd name="connsiteX14" fmla="*/ 0 w 36922"/>
                <a:gd name="connsiteY14" fmla="*/ 38455 h 38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922" h="38471">
                  <a:moveTo>
                    <a:pt x="0" y="38472"/>
                  </a:moveTo>
                  <a:lnTo>
                    <a:pt x="0" y="0"/>
                  </a:lnTo>
                  <a:lnTo>
                    <a:pt x="11056" y="0"/>
                  </a:lnTo>
                  <a:cubicBezTo>
                    <a:pt x="21871" y="16498"/>
                    <a:pt x="26176" y="22508"/>
                    <a:pt x="28587" y="27072"/>
                  </a:cubicBezTo>
                  <a:lnTo>
                    <a:pt x="28690" y="27072"/>
                  </a:lnTo>
                  <a:cubicBezTo>
                    <a:pt x="28312" y="23025"/>
                    <a:pt x="28363" y="15826"/>
                    <a:pt x="28363" y="9506"/>
                  </a:cubicBezTo>
                  <a:lnTo>
                    <a:pt x="28363" y="0"/>
                  </a:lnTo>
                  <a:lnTo>
                    <a:pt x="36922" y="0"/>
                  </a:lnTo>
                  <a:lnTo>
                    <a:pt x="36922" y="38472"/>
                  </a:lnTo>
                  <a:lnTo>
                    <a:pt x="26555" y="38472"/>
                  </a:lnTo>
                  <a:cubicBezTo>
                    <a:pt x="22921" y="32737"/>
                    <a:pt x="10608" y="13622"/>
                    <a:pt x="8318" y="9213"/>
                  </a:cubicBezTo>
                  <a:lnTo>
                    <a:pt x="8215" y="9213"/>
                  </a:lnTo>
                  <a:cubicBezTo>
                    <a:pt x="8542" y="13966"/>
                    <a:pt x="8542" y="19443"/>
                    <a:pt x="8542" y="26262"/>
                  </a:cubicBezTo>
                  <a:lnTo>
                    <a:pt x="8542" y="38455"/>
                  </a:lnTo>
                  <a:lnTo>
                    <a:pt x="0" y="38455"/>
                  </a:lnTo>
                  <a:close/>
                </a:path>
              </a:pathLst>
            </a:custGeom>
            <a:solidFill>
              <a:srgbClr val="0070CD"/>
            </a:solidFill>
            <a:ln w="1720"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21AD9FD4-2D5C-3A73-4A7C-1D19F0599FB1}"/>
                </a:ext>
              </a:extLst>
            </p:cNvPr>
            <p:cNvSpPr/>
            <p:nvPr/>
          </p:nvSpPr>
          <p:spPr>
            <a:xfrm>
              <a:off x="11457804" y="765372"/>
              <a:ext cx="47083" cy="51250"/>
            </a:xfrm>
            <a:custGeom>
              <a:avLst/>
              <a:gdLst>
                <a:gd name="connsiteX0" fmla="*/ 9351 w 36767"/>
                <a:gd name="connsiteY0" fmla="*/ 27709 h 40021"/>
                <a:gd name="connsiteX1" fmla="*/ 19494 w 36767"/>
                <a:gd name="connsiteY1" fmla="*/ 33220 h 40021"/>
                <a:gd name="connsiteX2" fmla="*/ 27209 w 36767"/>
                <a:gd name="connsiteY2" fmla="*/ 28914 h 40021"/>
                <a:gd name="connsiteX3" fmla="*/ 17324 w 36767"/>
                <a:gd name="connsiteY3" fmla="*/ 23386 h 40021"/>
                <a:gd name="connsiteX4" fmla="*/ 1550 w 36767"/>
                <a:gd name="connsiteY4" fmla="*/ 11607 h 40021"/>
                <a:gd name="connsiteX5" fmla="*/ 18048 w 36767"/>
                <a:gd name="connsiteY5" fmla="*/ 0 h 40021"/>
                <a:gd name="connsiteX6" fmla="*/ 35269 w 36767"/>
                <a:gd name="connsiteY6" fmla="*/ 11263 h 40021"/>
                <a:gd name="connsiteX7" fmla="*/ 25918 w 36767"/>
                <a:gd name="connsiteY7" fmla="*/ 11263 h 40021"/>
                <a:gd name="connsiteX8" fmla="*/ 17755 w 36767"/>
                <a:gd name="connsiteY8" fmla="*/ 6802 h 40021"/>
                <a:gd name="connsiteX9" fmla="*/ 11056 w 36767"/>
                <a:gd name="connsiteY9" fmla="*/ 10712 h 40021"/>
                <a:gd name="connsiteX10" fmla="*/ 19856 w 36767"/>
                <a:gd name="connsiteY10" fmla="*/ 15344 h 40021"/>
                <a:gd name="connsiteX11" fmla="*/ 36767 w 36767"/>
                <a:gd name="connsiteY11" fmla="*/ 27967 h 40021"/>
                <a:gd name="connsiteX12" fmla="*/ 18633 w 36767"/>
                <a:gd name="connsiteY12" fmla="*/ 40022 h 40021"/>
                <a:gd name="connsiteX13" fmla="*/ 0 w 36767"/>
                <a:gd name="connsiteY13" fmla="*/ 27726 h 40021"/>
                <a:gd name="connsiteX14" fmla="*/ 9351 w 36767"/>
                <a:gd name="connsiteY14" fmla="*/ 27726 h 4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767" h="40021">
                  <a:moveTo>
                    <a:pt x="9351" y="27709"/>
                  </a:moveTo>
                  <a:cubicBezTo>
                    <a:pt x="10453" y="31032"/>
                    <a:pt x="13105" y="33220"/>
                    <a:pt x="19494" y="33220"/>
                  </a:cubicBezTo>
                  <a:cubicBezTo>
                    <a:pt x="25470" y="33220"/>
                    <a:pt x="27209" y="31394"/>
                    <a:pt x="27209" y="28914"/>
                  </a:cubicBezTo>
                  <a:cubicBezTo>
                    <a:pt x="27209" y="26262"/>
                    <a:pt x="25436" y="24764"/>
                    <a:pt x="17324" y="23386"/>
                  </a:cubicBezTo>
                  <a:cubicBezTo>
                    <a:pt x="3978" y="21096"/>
                    <a:pt x="1550" y="16773"/>
                    <a:pt x="1550" y="11607"/>
                  </a:cubicBezTo>
                  <a:cubicBezTo>
                    <a:pt x="1550" y="3926"/>
                    <a:pt x="8955" y="0"/>
                    <a:pt x="18048" y="0"/>
                  </a:cubicBezTo>
                  <a:cubicBezTo>
                    <a:pt x="31256" y="0"/>
                    <a:pt x="34838" y="6785"/>
                    <a:pt x="35269" y="11263"/>
                  </a:cubicBezTo>
                  <a:lnTo>
                    <a:pt x="25918" y="11263"/>
                  </a:lnTo>
                  <a:cubicBezTo>
                    <a:pt x="25367" y="9351"/>
                    <a:pt x="24092" y="6802"/>
                    <a:pt x="17755" y="6802"/>
                  </a:cubicBezTo>
                  <a:cubicBezTo>
                    <a:pt x="13312" y="6802"/>
                    <a:pt x="11056" y="8214"/>
                    <a:pt x="11056" y="10712"/>
                  </a:cubicBezTo>
                  <a:cubicBezTo>
                    <a:pt x="11056" y="12933"/>
                    <a:pt x="12640" y="14052"/>
                    <a:pt x="19856" y="15344"/>
                  </a:cubicBezTo>
                  <a:cubicBezTo>
                    <a:pt x="34477" y="17962"/>
                    <a:pt x="36767" y="22387"/>
                    <a:pt x="36767" y="27967"/>
                  </a:cubicBezTo>
                  <a:cubicBezTo>
                    <a:pt x="36767" y="34632"/>
                    <a:pt x="31532" y="40022"/>
                    <a:pt x="18633" y="40022"/>
                  </a:cubicBezTo>
                  <a:cubicBezTo>
                    <a:pt x="6596" y="40022"/>
                    <a:pt x="1171" y="34649"/>
                    <a:pt x="0" y="27726"/>
                  </a:cubicBezTo>
                  <a:lnTo>
                    <a:pt x="9351" y="27726"/>
                  </a:lnTo>
                  <a:close/>
                </a:path>
              </a:pathLst>
            </a:custGeom>
            <a:solidFill>
              <a:srgbClr val="0070CD"/>
            </a:solidFill>
            <a:ln w="1720"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AE67BA3D-D0F0-32E5-2885-6DD57ECE9CCB}"/>
                </a:ext>
              </a:extLst>
            </p:cNvPr>
            <p:cNvSpPr/>
            <p:nvPr userDrawn="1"/>
          </p:nvSpPr>
          <p:spPr>
            <a:xfrm>
              <a:off x="11545531" y="687195"/>
              <a:ext cx="67349" cy="32306"/>
            </a:xfrm>
            <a:custGeom>
              <a:avLst/>
              <a:gdLst>
                <a:gd name="connsiteX0" fmla="*/ 8869 w 52593"/>
                <a:gd name="connsiteY0" fmla="*/ 4202 h 25228"/>
                <a:gd name="connsiteX1" fmla="*/ 0 w 52593"/>
                <a:gd name="connsiteY1" fmla="*/ 4202 h 25228"/>
                <a:gd name="connsiteX2" fmla="*/ 0 w 52593"/>
                <a:gd name="connsiteY2" fmla="*/ 17 h 25228"/>
                <a:gd name="connsiteX3" fmla="*/ 22973 w 52593"/>
                <a:gd name="connsiteY3" fmla="*/ 17 h 25228"/>
                <a:gd name="connsiteX4" fmla="*/ 22973 w 52593"/>
                <a:gd name="connsiteY4" fmla="*/ 4202 h 25228"/>
                <a:gd name="connsiteX5" fmla="*/ 14173 w 52593"/>
                <a:gd name="connsiteY5" fmla="*/ 4202 h 25228"/>
                <a:gd name="connsiteX6" fmla="*/ 14173 w 52593"/>
                <a:gd name="connsiteY6" fmla="*/ 25229 h 25228"/>
                <a:gd name="connsiteX7" fmla="*/ 8869 w 52593"/>
                <a:gd name="connsiteY7" fmla="*/ 25229 h 25228"/>
                <a:gd name="connsiteX8" fmla="*/ 8869 w 52593"/>
                <a:gd name="connsiteY8" fmla="*/ 4202 h 25228"/>
                <a:gd name="connsiteX9" fmla="*/ 25212 w 52593"/>
                <a:gd name="connsiteY9" fmla="*/ 0 h 25228"/>
                <a:gd name="connsiteX10" fmla="*/ 33736 w 52593"/>
                <a:gd name="connsiteY10" fmla="*/ 0 h 25228"/>
                <a:gd name="connsiteX11" fmla="*/ 38834 w 52593"/>
                <a:gd name="connsiteY11" fmla="*/ 18444 h 25228"/>
                <a:gd name="connsiteX12" fmla="*/ 44344 w 52593"/>
                <a:gd name="connsiteY12" fmla="*/ 0 h 25228"/>
                <a:gd name="connsiteX13" fmla="*/ 52593 w 52593"/>
                <a:gd name="connsiteY13" fmla="*/ 0 h 25228"/>
                <a:gd name="connsiteX14" fmla="*/ 52593 w 52593"/>
                <a:gd name="connsiteY14" fmla="*/ 25212 h 25228"/>
                <a:gd name="connsiteX15" fmla="*/ 47427 w 52593"/>
                <a:gd name="connsiteY15" fmla="*/ 25212 h 25228"/>
                <a:gd name="connsiteX16" fmla="*/ 47427 w 52593"/>
                <a:gd name="connsiteY16" fmla="*/ 3565 h 25228"/>
                <a:gd name="connsiteX17" fmla="*/ 40866 w 52593"/>
                <a:gd name="connsiteY17" fmla="*/ 25212 h 25228"/>
                <a:gd name="connsiteX18" fmla="*/ 36543 w 52593"/>
                <a:gd name="connsiteY18" fmla="*/ 25212 h 25228"/>
                <a:gd name="connsiteX19" fmla="*/ 30051 w 52593"/>
                <a:gd name="connsiteY19" fmla="*/ 3565 h 25228"/>
                <a:gd name="connsiteX20" fmla="*/ 30051 w 52593"/>
                <a:gd name="connsiteY20" fmla="*/ 25212 h 25228"/>
                <a:gd name="connsiteX21" fmla="*/ 25229 w 52593"/>
                <a:gd name="connsiteY21" fmla="*/ 25212 h 25228"/>
                <a:gd name="connsiteX22" fmla="*/ 25229 w 52593"/>
                <a:gd name="connsiteY22" fmla="*/ 0 h 2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593" h="25228">
                  <a:moveTo>
                    <a:pt x="8869" y="4202"/>
                  </a:moveTo>
                  <a:lnTo>
                    <a:pt x="0" y="4202"/>
                  </a:lnTo>
                  <a:lnTo>
                    <a:pt x="0" y="17"/>
                  </a:lnTo>
                  <a:lnTo>
                    <a:pt x="22973" y="17"/>
                  </a:lnTo>
                  <a:lnTo>
                    <a:pt x="22973" y="4202"/>
                  </a:lnTo>
                  <a:lnTo>
                    <a:pt x="14173" y="4202"/>
                  </a:lnTo>
                  <a:lnTo>
                    <a:pt x="14173" y="25229"/>
                  </a:lnTo>
                  <a:lnTo>
                    <a:pt x="8869" y="25229"/>
                  </a:lnTo>
                  <a:lnTo>
                    <a:pt x="8869" y="4202"/>
                  </a:lnTo>
                  <a:close/>
                  <a:moveTo>
                    <a:pt x="25212" y="0"/>
                  </a:moveTo>
                  <a:lnTo>
                    <a:pt x="33736" y="0"/>
                  </a:lnTo>
                  <a:lnTo>
                    <a:pt x="38834" y="18444"/>
                  </a:lnTo>
                  <a:lnTo>
                    <a:pt x="44344" y="0"/>
                  </a:lnTo>
                  <a:lnTo>
                    <a:pt x="52593" y="0"/>
                  </a:lnTo>
                  <a:lnTo>
                    <a:pt x="52593" y="25212"/>
                  </a:lnTo>
                  <a:lnTo>
                    <a:pt x="47427" y="25212"/>
                  </a:lnTo>
                  <a:lnTo>
                    <a:pt x="47427" y="3565"/>
                  </a:lnTo>
                  <a:lnTo>
                    <a:pt x="40866" y="25212"/>
                  </a:lnTo>
                  <a:lnTo>
                    <a:pt x="36543" y="25212"/>
                  </a:lnTo>
                  <a:lnTo>
                    <a:pt x="30051" y="3565"/>
                  </a:lnTo>
                  <a:lnTo>
                    <a:pt x="30051" y="25212"/>
                  </a:lnTo>
                  <a:lnTo>
                    <a:pt x="25229" y="25212"/>
                  </a:lnTo>
                  <a:lnTo>
                    <a:pt x="25229" y="0"/>
                  </a:lnTo>
                  <a:close/>
                </a:path>
              </a:pathLst>
            </a:custGeom>
            <a:solidFill>
              <a:srgbClr val="000000"/>
            </a:solidFill>
            <a:ln w="1720" cap="flat">
              <a:noFill/>
              <a:prstDash val="solid"/>
              <a:miter/>
            </a:ln>
          </p:spPr>
          <p:txBody>
            <a:bodyPr rtlCol="0" anchor="ctr"/>
            <a:lstStyle/>
            <a:p>
              <a:endParaRPr lang="en-IN"/>
            </a:p>
          </p:txBody>
        </p:sp>
      </p:grpSp>
      <p:sp>
        <p:nvSpPr>
          <p:cNvPr id="3" name="Subtitle 2">
            <a:extLst>
              <a:ext uri="{FF2B5EF4-FFF2-40B4-BE49-F238E27FC236}">
                <a16:creationId xmlns:a16="http://schemas.microsoft.com/office/drawing/2014/main" id="{51772AEA-6D50-BF0C-3E0C-A12FE91CEC42}"/>
              </a:ext>
            </a:extLst>
          </p:cNvPr>
          <p:cNvSpPr>
            <a:spLocks noGrp="1"/>
          </p:cNvSpPr>
          <p:nvPr>
            <p:ph type="subTitle" idx="13"/>
          </p:nvPr>
        </p:nvSpPr>
        <p:spPr>
          <a:xfrm>
            <a:off x="639156" y="914400"/>
            <a:ext cx="10972800" cy="457200"/>
          </a:xfrm>
          <a:prstGeom prst="rect">
            <a:avLst/>
          </a:prstGeom>
        </p:spPr>
        <p:txBody>
          <a:bodyPr lIns="0" tIns="0" rIns="0" bIns="0"/>
          <a:lstStyle>
            <a:lvl1pPr marL="0" indent="0" algn="l">
              <a:buNone/>
              <a:defRPr sz="1600">
                <a:solidFill>
                  <a:schemeClr val="tx1">
                    <a:lumMod val="50000"/>
                    <a:lumOff val="50000"/>
                  </a:schemeClr>
                </a:solidFill>
                <a:latin typeface="+mj-lt"/>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Tree>
    <p:extLst>
      <p:ext uri="{BB962C8B-B14F-4D97-AF65-F5344CB8AC3E}">
        <p14:creationId xmlns:p14="http://schemas.microsoft.com/office/powerpoint/2010/main" val="33484217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18DA090-B962-4EA6-AFA8-D23DB1663BE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D5D53550-C9B8-D14F-7421-25CB54951B92}"/>
              </a:ext>
            </a:extLst>
          </p:cNvPr>
          <p:cNvSpPr txBox="1"/>
          <p:nvPr userDrawn="1"/>
        </p:nvSpPr>
        <p:spPr>
          <a:xfrm>
            <a:off x="309296" y="6393978"/>
            <a:ext cx="4944693" cy="276999"/>
          </a:xfrm>
          <a:prstGeom prst="rect">
            <a:avLst/>
          </a:prstGeom>
          <a:noFill/>
        </p:spPr>
        <p:txBody>
          <a:bodyPr wrap="square" rtlCol="0">
            <a:spAutoFit/>
          </a:bodyPr>
          <a:lstStyle/>
          <a:p>
            <a:pPr algn="r"/>
            <a:r>
              <a:rPr lang="en-US" sz="1200">
                <a:solidFill>
                  <a:schemeClr val="tx1">
                    <a:lumMod val="75000"/>
                    <a:lumOff val="25000"/>
                  </a:schemeClr>
                </a:solidFill>
                <a:latin typeface="+mn-lt"/>
              </a:rPr>
              <a:t>2400 Meadowbrook Parkway, Duluth, GA 30096 | www.innovasolutions.com</a:t>
            </a:r>
            <a:endParaRPr lang="en-IN" sz="1200">
              <a:solidFill>
                <a:schemeClr val="tx1">
                  <a:lumMod val="75000"/>
                  <a:lumOff val="25000"/>
                </a:schemeClr>
              </a:solidFill>
              <a:latin typeface="+mn-lt"/>
            </a:endParaRPr>
          </a:p>
        </p:txBody>
      </p:sp>
      <p:sp>
        <p:nvSpPr>
          <p:cNvPr id="3" name="Text Placeholder 2">
            <a:extLst>
              <a:ext uri="{FF2B5EF4-FFF2-40B4-BE49-F238E27FC236}">
                <a16:creationId xmlns:a16="http://schemas.microsoft.com/office/drawing/2014/main" id="{D15647E9-9AFF-CA0A-5A40-FB895A5EA9C3}"/>
              </a:ext>
            </a:extLst>
          </p:cNvPr>
          <p:cNvSpPr>
            <a:spLocks noGrp="1"/>
          </p:cNvSpPr>
          <p:nvPr>
            <p:ph type="body" sz="quarter" idx="10" hasCustomPrompt="1"/>
          </p:nvPr>
        </p:nvSpPr>
        <p:spPr>
          <a:xfrm>
            <a:off x="698208" y="3239838"/>
            <a:ext cx="4944693" cy="704088"/>
          </a:xfrm>
        </p:spPr>
        <p:txBody>
          <a:bodyPr anchor="ctr">
            <a:noAutofit/>
          </a:bodyPr>
          <a:lstStyle>
            <a:lvl1pPr marL="0" indent="0">
              <a:buNone/>
              <a:defRPr sz="4000" b="1">
                <a:solidFill>
                  <a:srgbClr val="0070CD"/>
                </a:solidFill>
                <a:latin typeface="+mn-lt"/>
              </a:defRPr>
            </a:lvl1pPr>
          </a:lstStyle>
          <a:p>
            <a:pPr lvl="0"/>
            <a:r>
              <a:rPr lang="en-US"/>
              <a:t>Thank You!</a:t>
            </a:r>
          </a:p>
        </p:txBody>
      </p:sp>
      <p:sp>
        <p:nvSpPr>
          <p:cNvPr id="5" name="Rectangle 4">
            <a:extLst>
              <a:ext uri="{FF2B5EF4-FFF2-40B4-BE49-F238E27FC236}">
                <a16:creationId xmlns:a16="http://schemas.microsoft.com/office/drawing/2014/main" id="{8C2C5078-D1BC-3872-B0AF-58A84D4FD5BE}"/>
              </a:ext>
            </a:extLst>
          </p:cNvPr>
          <p:cNvSpPr/>
          <p:nvPr userDrawn="1"/>
        </p:nvSpPr>
        <p:spPr>
          <a:xfrm>
            <a:off x="0" y="3014610"/>
            <a:ext cx="99391" cy="1154544"/>
          </a:xfrm>
          <a:prstGeom prst="rect">
            <a:avLst/>
          </a:prstGeom>
          <a:solidFill>
            <a:srgbClr val="BBD4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7676947-8552-630E-2B97-61DD6B2790D6}"/>
              </a:ext>
            </a:extLst>
          </p:cNvPr>
          <p:cNvSpPr txBox="1"/>
          <p:nvPr userDrawn="1"/>
        </p:nvSpPr>
        <p:spPr>
          <a:xfrm>
            <a:off x="11524691" y="6393978"/>
            <a:ext cx="491362" cy="258532"/>
          </a:xfrm>
          <a:prstGeom prst="rect">
            <a:avLst/>
          </a:prstGeom>
          <a:noFill/>
        </p:spPr>
        <p:txBody>
          <a:bodyPr wrap="square" rtlCol="0">
            <a:spAutoFit/>
          </a:bodyPr>
          <a:lstStyle/>
          <a:p>
            <a:pPr algn="r">
              <a:lnSpc>
                <a:spcPct val="90000"/>
              </a:lnSpc>
            </a:pPr>
            <a:fld id="{8969AB99-42F4-44DB-8447-084200F48697}" type="slidenum">
              <a:rPr lang="en-IN" sz="1200">
                <a:solidFill>
                  <a:schemeClr val="bg1">
                    <a:lumMod val="50000"/>
                  </a:schemeClr>
                </a:solidFill>
                <a:latin typeface="+mn-lt"/>
              </a:rPr>
              <a:pPr algn="r">
                <a:lnSpc>
                  <a:spcPct val="90000"/>
                </a:lnSpc>
              </a:pPr>
              <a:t>‹#›</a:t>
            </a:fld>
            <a:endParaRPr lang="en-IN" sz="1200">
              <a:solidFill>
                <a:schemeClr val="bg1">
                  <a:lumMod val="50000"/>
                </a:schemeClr>
              </a:solidFill>
              <a:latin typeface="+mn-lt"/>
            </a:endParaRPr>
          </a:p>
        </p:txBody>
      </p:sp>
      <p:pic>
        <p:nvPicPr>
          <p:cNvPr id="6" name="Graphic 5">
            <a:extLst>
              <a:ext uri="{FF2B5EF4-FFF2-40B4-BE49-F238E27FC236}">
                <a16:creationId xmlns:a16="http://schemas.microsoft.com/office/drawing/2014/main" id="{FE609E3A-B1AD-72BC-24A3-ED70F8AA4CF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535" y="683487"/>
            <a:ext cx="2213364" cy="704088"/>
          </a:xfrm>
          <a:prstGeom prst="rect">
            <a:avLst/>
          </a:prstGeom>
        </p:spPr>
      </p:pic>
    </p:spTree>
    <p:extLst>
      <p:ext uri="{BB962C8B-B14F-4D97-AF65-F5344CB8AC3E}">
        <p14:creationId xmlns:p14="http://schemas.microsoft.com/office/powerpoint/2010/main" val="4711065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4F47F0F-2441-E7FF-CEFB-EE2875DE47FF}"/>
              </a:ext>
            </a:extLst>
          </p:cNvPr>
          <p:cNvGrpSpPr/>
          <p:nvPr userDrawn="1"/>
        </p:nvGrpSpPr>
        <p:grpSpPr>
          <a:xfrm>
            <a:off x="0" y="6331226"/>
            <a:ext cx="12192000" cy="526774"/>
            <a:chOff x="0" y="6331226"/>
            <a:chExt cx="12192000" cy="526774"/>
          </a:xfrm>
        </p:grpSpPr>
        <p:pic>
          <p:nvPicPr>
            <p:cNvPr id="3" name="Picture 2">
              <a:extLst>
                <a:ext uri="{FF2B5EF4-FFF2-40B4-BE49-F238E27FC236}">
                  <a16:creationId xmlns:a16="http://schemas.microsoft.com/office/drawing/2014/main" id="{7B52F6F5-2866-3491-0DF3-93696403FA9C}"/>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92319"/>
            <a:stretch/>
          </p:blipFill>
          <p:spPr>
            <a:xfrm>
              <a:off x="0" y="6331226"/>
              <a:ext cx="12192000" cy="526774"/>
            </a:xfrm>
            <a:prstGeom prst="rect">
              <a:avLst/>
            </a:prstGeom>
          </p:spPr>
        </p:pic>
        <p:sp>
          <p:nvSpPr>
            <p:cNvPr id="4" name="TextBox 3">
              <a:extLst>
                <a:ext uri="{FF2B5EF4-FFF2-40B4-BE49-F238E27FC236}">
                  <a16:creationId xmlns:a16="http://schemas.microsoft.com/office/drawing/2014/main" id="{D915FDE2-0348-DE92-9BA2-8F3F692866EB}"/>
                </a:ext>
              </a:extLst>
            </p:cNvPr>
            <p:cNvSpPr txBox="1"/>
            <p:nvPr userDrawn="1"/>
          </p:nvSpPr>
          <p:spPr>
            <a:xfrm>
              <a:off x="212298" y="6545667"/>
              <a:ext cx="1636571" cy="246221"/>
            </a:xfrm>
            <a:prstGeom prst="rect">
              <a:avLst/>
            </a:prstGeom>
            <a:noFill/>
          </p:spPr>
          <p:txBody>
            <a:bodyPr wrap="square" rtlCol="0">
              <a:spAutoFit/>
            </a:bodyPr>
            <a:lstStyle/>
            <a:p>
              <a:pPr algn="ctr"/>
              <a:r>
                <a:rPr lang="en-US" sz="1000">
                  <a:solidFill>
                    <a:schemeClr val="bg1"/>
                  </a:solidFill>
                  <a:latin typeface="Calibri Light"/>
                </a:rPr>
                <a:t>CONFIDENTIAL RESTRICTED</a:t>
              </a:r>
              <a:endParaRPr lang="en-IN" sz="1000">
                <a:solidFill>
                  <a:schemeClr val="bg1"/>
                </a:solidFill>
                <a:latin typeface="Calibri Light"/>
              </a:endParaRPr>
            </a:p>
          </p:txBody>
        </p:sp>
        <p:sp>
          <p:nvSpPr>
            <p:cNvPr id="5" name="TextBox 4">
              <a:extLst>
                <a:ext uri="{FF2B5EF4-FFF2-40B4-BE49-F238E27FC236}">
                  <a16:creationId xmlns:a16="http://schemas.microsoft.com/office/drawing/2014/main" id="{8704CE68-73E5-B976-BF58-716CB6B6DBDF}"/>
                </a:ext>
              </a:extLst>
            </p:cNvPr>
            <p:cNvSpPr txBox="1"/>
            <p:nvPr userDrawn="1"/>
          </p:nvSpPr>
          <p:spPr>
            <a:xfrm>
              <a:off x="1272209" y="6537838"/>
              <a:ext cx="5785641" cy="261610"/>
            </a:xfrm>
            <a:prstGeom prst="rect">
              <a:avLst/>
            </a:prstGeom>
            <a:noFill/>
          </p:spPr>
          <p:txBody>
            <a:bodyPr wrap="square" rtlCol="0">
              <a:spAutoFit/>
            </a:bodyPr>
            <a:lstStyle/>
            <a:p>
              <a:pPr algn="r"/>
              <a:r>
                <a:rPr lang="en-US" sz="1100">
                  <a:solidFill>
                    <a:schemeClr val="bg1"/>
                  </a:solidFill>
                  <a:latin typeface="Calibri Light"/>
                </a:rPr>
                <a:t>2400 Meadowbrook Parkway, Duluth, GA 30096 | www.innovasolutions.com</a:t>
              </a:r>
              <a:endParaRPr lang="en-IN" sz="1100">
                <a:solidFill>
                  <a:schemeClr val="bg1"/>
                </a:solidFill>
                <a:latin typeface="Calibri Light"/>
              </a:endParaRPr>
            </a:p>
          </p:txBody>
        </p:sp>
      </p:grpSp>
      <p:pic>
        <p:nvPicPr>
          <p:cNvPr id="7" name="Graphic 6">
            <a:extLst>
              <a:ext uri="{FF2B5EF4-FFF2-40B4-BE49-F238E27FC236}">
                <a16:creationId xmlns:a16="http://schemas.microsoft.com/office/drawing/2014/main" id="{5D85AF5A-1CF4-2BF1-C97D-C18E9D71699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07052" y="329387"/>
            <a:ext cx="1532322" cy="504000"/>
          </a:xfrm>
          <a:prstGeom prst="rect">
            <a:avLst/>
          </a:prstGeom>
        </p:spPr>
      </p:pic>
    </p:spTree>
    <p:extLst>
      <p:ext uri="{BB962C8B-B14F-4D97-AF65-F5344CB8AC3E}">
        <p14:creationId xmlns:p14="http://schemas.microsoft.com/office/powerpoint/2010/main" val="3382856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AC0B0CC6-8F01-C616-7F35-154206D54F05}"/>
              </a:ext>
            </a:extLst>
          </p:cNvPr>
          <p:cNvSpPr/>
          <p:nvPr userDrawn="1"/>
        </p:nvSpPr>
        <p:spPr>
          <a:xfrm>
            <a:off x="-407296" y="6237312"/>
            <a:ext cx="6493092" cy="648072"/>
          </a:xfrm>
          <a:custGeom>
            <a:avLst/>
            <a:gdLst>
              <a:gd name="connsiteX0" fmla="*/ 1438666 w 1507772"/>
              <a:gd name="connsiteY0" fmla="*/ 245013 h 251295"/>
              <a:gd name="connsiteX1" fmla="*/ 94236 w 1507772"/>
              <a:gd name="connsiteY1" fmla="*/ 245013 h 251295"/>
              <a:gd name="connsiteX2" fmla="*/ 94236 w 1507772"/>
              <a:gd name="connsiteY2" fmla="*/ 94236 h 251295"/>
              <a:gd name="connsiteX3" fmla="*/ 1287889 w 1507772"/>
              <a:gd name="connsiteY3" fmla="*/ 94236 h 251295"/>
            </a:gdLst>
            <a:ahLst/>
            <a:cxnLst>
              <a:cxn ang="0">
                <a:pos x="connsiteX0" y="connsiteY0"/>
              </a:cxn>
              <a:cxn ang="0">
                <a:pos x="connsiteX1" y="connsiteY1"/>
              </a:cxn>
              <a:cxn ang="0">
                <a:pos x="connsiteX2" y="connsiteY2"/>
              </a:cxn>
              <a:cxn ang="0">
                <a:pos x="connsiteX3" y="connsiteY3"/>
              </a:cxn>
            </a:cxnLst>
            <a:rect l="l" t="t" r="r" b="b"/>
            <a:pathLst>
              <a:path w="1507772" h="251295">
                <a:moveTo>
                  <a:pt x="1438666" y="245013"/>
                </a:moveTo>
                <a:lnTo>
                  <a:pt x="94236" y="245013"/>
                </a:lnTo>
                <a:lnTo>
                  <a:pt x="94236" y="94236"/>
                </a:lnTo>
                <a:lnTo>
                  <a:pt x="1287889" y="94236"/>
                </a:lnTo>
                <a:close/>
              </a:path>
            </a:pathLst>
          </a:custGeom>
          <a:solidFill>
            <a:srgbClr val="0072CE"/>
          </a:solidFill>
          <a:ln w="9525" cap="flat">
            <a:noFill/>
            <a:prstDash val="solid"/>
            <a:miter/>
          </a:ln>
        </p:spPr>
        <p:txBody>
          <a:bodyPr rtlCol="0" anchor="ctr"/>
          <a:lstStyle/>
          <a:p>
            <a:endParaRPr lang="en-US"/>
          </a:p>
        </p:txBody>
      </p:sp>
      <p:sp>
        <p:nvSpPr>
          <p:cNvPr id="8" name="TextBox 7">
            <a:extLst>
              <a:ext uri="{FF2B5EF4-FFF2-40B4-BE49-F238E27FC236}">
                <a16:creationId xmlns:a16="http://schemas.microsoft.com/office/drawing/2014/main" id="{0CB69DBF-3E5D-95EB-49C9-0156EA6CEA0D}"/>
              </a:ext>
            </a:extLst>
          </p:cNvPr>
          <p:cNvSpPr txBox="1"/>
          <p:nvPr userDrawn="1"/>
        </p:nvSpPr>
        <p:spPr>
          <a:xfrm>
            <a:off x="6606300" y="6545959"/>
            <a:ext cx="4891706" cy="261610"/>
          </a:xfrm>
          <a:prstGeom prst="rect">
            <a:avLst/>
          </a:prstGeom>
          <a:noFill/>
        </p:spPr>
        <p:txBody>
          <a:bodyPr wrap="square" rtlCol="0">
            <a:spAutoFit/>
          </a:bodyPr>
          <a:lstStyle/>
          <a:p>
            <a:pPr algn="r"/>
            <a:r>
              <a:rPr lang="en-US" sz="1100">
                <a:latin typeface="Calibri Light"/>
              </a:rPr>
              <a:t>2400 Meadowbrook Parkway, Duluth, GA 30096 | www.innovasolutions.com</a:t>
            </a:r>
            <a:endParaRPr lang="en-IN" sz="1100">
              <a:latin typeface="Calibri Light"/>
            </a:endParaRPr>
          </a:p>
        </p:txBody>
      </p:sp>
      <p:sp>
        <p:nvSpPr>
          <p:cNvPr id="10" name="TextBox 9">
            <a:extLst>
              <a:ext uri="{FF2B5EF4-FFF2-40B4-BE49-F238E27FC236}">
                <a16:creationId xmlns:a16="http://schemas.microsoft.com/office/drawing/2014/main" id="{EAA52E02-C63B-E067-1892-725BDC579D5B}"/>
              </a:ext>
            </a:extLst>
          </p:cNvPr>
          <p:cNvSpPr txBox="1"/>
          <p:nvPr userDrawn="1"/>
        </p:nvSpPr>
        <p:spPr>
          <a:xfrm>
            <a:off x="30119" y="6561348"/>
            <a:ext cx="1636571" cy="246221"/>
          </a:xfrm>
          <a:prstGeom prst="rect">
            <a:avLst/>
          </a:prstGeom>
          <a:noFill/>
        </p:spPr>
        <p:txBody>
          <a:bodyPr wrap="square" rtlCol="0">
            <a:spAutoFit/>
          </a:bodyPr>
          <a:lstStyle/>
          <a:p>
            <a:pPr algn="ctr"/>
            <a:r>
              <a:rPr lang="en-US" sz="1000">
                <a:solidFill>
                  <a:schemeClr val="bg1"/>
                </a:solidFill>
                <a:latin typeface="Calibri Light"/>
              </a:rPr>
              <a:t>CONFIDENTIAL RESTRICTED</a:t>
            </a:r>
            <a:endParaRPr lang="en-IN" sz="1000">
              <a:solidFill>
                <a:schemeClr val="bg1"/>
              </a:solidFill>
              <a:latin typeface="Calibri Light"/>
            </a:endParaRPr>
          </a:p>
        </p:txBody>
      </p:sp>
      <p:cxnSp>
        <p:nvCxnSpPr>
          <p:cNvPr id="5" name="Straight Connector 4">
            <a:extLst>
              <a:ext uri="{FF2B5EF4-FFF2-40B4-BE49-F238E27FC236}">
                <a16:creationId xmlns:a16="http://schemas.microsoft.com/office/drawing/2014/main" id="{B070838F-72A7-7C62-7F46-338BCF939425}"/>
              </a:ext>
            </a:extLst>
          </p:cNvPr>
          <p:cNvCxnSpPr>
            <a:cxnSpLocks/>
          </p:cNvCxnSpPr>
          <p:nvPr userDrawn="1"/>
        </p:nvCxnSpPr>
        <p:spPr>
          <a:xfrm>
            <a:off x="12852324" y="1833568"/>
            <a:ext cx="0" cy="529397"/>
          </a:xfrm>
          <a:prstGeom prst="line">
            <a:avLst/>
          </a:prstGeom>
          <a:ln w="19050">
            <a:solidFill>
              <a:srgbClr val="00205C"/>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AFA00CD7-1FFB-9577-159E-42908AA79E0C}"/>
              </a:ext>
            </a:extLst>
          </p:cNvPr>
          <p:cNvSpPr txBox="1">
            <a:spLocks/>
          </p:cNvSpPr>
          <p:nvPr userDrawn="1"/>
        </p:nvSpPr>
        <p:spPr>
          <a:xfrm>
            <a:off x="11630190" y="6488158"/>
            <a:ext cx="547452" cy="376417"/>
          </a:xfrm>
          <a:prstGeom prst="rect">
            <a:avLst/>
          </a:prstGeom>
        </p:spPr>
        <p:txBody>
          <a:bodyPr anchor="ctr"/>
          <a:lstStyle>
            <a:defPPr>
              <a:defRPr lang="en-US"/>
            </a:defPPr>
            <a:lvl1pPr marL="0" algn="ctr" defTabSz="914400" rtl="0" eaLnBrk="1" latinLnBrk="0" hangingPunct="1">
              <a:defRPr sz="1100" kern="1200">
                <a:solidFill>
                  <a:schemeClr val="tx1"/>
                </a:solidFill>
                <a:latin typeface="Roboto Light" panose="02000000000000000000" pitchFamily="2" charset="0"/>
                <a:ea typeface="Roboto Light" panose="02000000000000000000" pitchFamily="2" charset="0"/>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6E69268-9C8B-4EBF-A9EE-DC5DC2D48DC3}" type="slidenum">
              <a:rPr lang="en-US" smtClean="0"/>
              <a:pPr/>
              <a:t>‹#›</a:t>
            </a:fld>
            <a:endParaRPr lang="en-US"/>
          </a:p>
        </p:txBody>
      </p:sp>
      <p:pic>
        <p:nvPicPr>
          <p:cNvPr id="3" name="Graphic 2">
            <a:extLst>
              <a:ext uri="{FF2B5EF4-FFF2-40B4-BE49-F238E27FC236}">
                <a16:creationId xmlns:a16="http://schemas.microsoft.com/office/drawing/2014/main" id="{AD1077DA-EE10-54C3-FE00-A31C00AB1B3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07052" y="329387"/>
            <a:ext cx="1532322" cy="504000"/>
          </a:xfrm>
          <a:prstGeom prst="rect">
            <a:avLst/>
          </a:prstGeom>
        </p:spPr>
      </p:pic>
    </p:spTree>
    <p:extLst>
      <p:ext uri="{BB962C8B-B14F-4D97-AF65-F5344CB8AC3E}">
        <p14:creationId xmlns:p14="http://schemas.microsoft.com/office/powerpoint/2010/main" val="3730963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37CB985-CBBB-64DD-5767-92BCE51EBC86}"/>
              </a:ext>
            </a:extLst>
          </p:cNvPr>
          <p:cNvSpPr/>
          <p:nvPr userDrawn="1"/>
        </p:nvSpPr>
        <p:spPr>
          <a:xfrm rot="5400000" flipV="1">
            <a:off x="4331760" y="-978808"/>
            <a:ext cx="6878257" cy="8835873"/>
          </a:xfrm>
          <a:custGeom>
            <a:avLst/>
            <a:gdLst>
              <a:gd name="connsiteX0" fmla="*/ 0 w 6878257"/>
              <a:gd name="connsiteY0" fmla="*/ 1380604 h 8835873"/>
              <a:gd name="connsiteX1" fmla="*/ 0 w 6878257"/>
              <a:gd name="connsiteY1" fmla="*/ 1941044 h 8835873"/>
              <a:gd name="connsiteX2" fmla="*/ 1 w 6878257"/>
              <a:gd name="connsiteY2" fmla="*/ 3742804 h 8835873"/>
              <a:gd name="connsiteX3" fmla="*/ 0 w 6878257"/>
              <a:gd name="connsiteY3" fmla="*/ 3742804 h 8835873"/>
              <a:gd name="connsiteX4" fmla="*/ 0 w 6878257"/>
              <a:gd name="connsiteY4" fmla="*/ 4303244 h 8835873"/>
              <a:gd name="connsiteX5" fmla="*/ 1 w 6878257"/>
              <a:gd name="connsiteY5" fmla="*/ 8835873 h 8835873"/>
              <a:gd name="connsiteX6" fmla="*/ 6878257 w 6878257"/>
              <a:gd name="connsiteY6" fmla="*/ 8835873 h 8835873"/>
              <a:gd name="connsiteX7" fmla="*/ 6878257 w 6878257"/>
              <a:gd name="connsiteY7" fmla="*/ 8275433 h 8835873"/>
              <a:gd name="connsiteX8" fmla="*/ 6878257 w 6878257"/>
              <a:gd name="connsiteY8" fmla="*/ 6473673 h 8835873"/>
              <a:gd name="connsiteX9" fmla="*/ 6878257 w 6878257"/>
              <a:gd name="connsiteY9" fmla="*/ 5913233 h 8835873"/>
              <a:gd name="connsiteX10" fmla="*/ 6878257 w 6878257"/>
              <a:gd name="connsiteY10" fmla="*/ 2922640 h 8835873"/>
              <a:gd name="connsiteX11" fmla="*/ 6878257 w 6878257"/>
              <a:gd name="connsiteY11" fmla="*/ 2362200 h 8835873"/>
              <a:gd name="connsiteX12" fmla="*/ 6878257 w 6878257"/>
              <a:gd name="connsiteY12" fmla="*/ 560440 h 8835873"/>
              <a:gd name="connsiteX13" fmla="*/ 6878257 w 6878257"/>
              <a:gd name="connsiteY13" fmla="*/ 0 h 883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878257" h="8835873">
                <a:moveTo>
                  <a:pt x="0" y="1380604"/>
                </a:moveTo>
                <a:lnTo>
                  <a:pt x="0" y="1941044"/>
                </a:lnTo>
                <a:lnTo>
                  <a:pt x="1" y="3742804"/>
                </a:lnTo>
                <a:lnTo>
                  <a:pt x="0" y="3742804"/>
                </a:lnTo>
                <a:lnTo>
                  <a:pt x="0" y="4303244"/>
                </a:lnTo>
                <a:lnTo>
                  <a:pt x="1" y="8835873"/>
                </a:lnTo>
                <a:lnTo>
                  <a:pt x="6878257" y="8835873"/>
                </a:lnTo>
                <a:lnTo>
                  <a:pt x="6878257" y="8275433"/>
                </a:lnTo>
                <a:lnTo>
                  <a:pt x="6878257" y="6473673"/>
                </a:lnTo>
                <a:lnTo>
                  <a:pt x="6878257" y="5913233"/>
                </a:lnTo>
                <a:lnTo>
                  <a:pt x="6878257" y="2922640"/>
                </a:lnTo>
                <a:lnTo>
                  <a:pt x="6878257" y="2362200"/>
                </a:lnTo>
                <a:lnTo>
                  <a:pt x="6878257" y="560440"/>
                </a:lnTo>
                <a:lnTo>
                  <a:pt x="6878257" y="0"/>
                </a:lnTo>
                <a:close/>
              </a:path>
            </a:pathLst>
          </a:custGeom>
          <a:solidFill>
            <a:srgbClr val="00205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4" name="Group 3">
            <a:extLst>
              <a:ext uri="{FF2B5EF4-FFF2-40B4-BE49-F238E27FC236}">
                <a16:creationId xmlns:a16="http://schemas.microsoft.com/office/drawing/2014/main" id="{A15BA1FC-BC31-1D4B-1D41-20FCB182F559}"/>
              </a:ext>
            </a:extLst>
          </p:cNvPr>
          <p:cNvGrpSpPr/>
          <p:nvPr userDrawn="1"/>
        </p:nvGrpSpPr>
        <p:grpSpPr>
          <a:xfrm>
            <a:off x="1003544" y="1700808"/>
            <a:ext cx="1564286" cy="2166970"/>
            <a:chOff x="875452" y="1864506"/>
            <a:chExt cx="1564286" cy="2166970"/>
          </a:xfrm>
        </p:grpSpPr>
        <p:sp>
          <p:nvSpPr>
            <p:cNvPr id="5" name="Oval 4">
              <a:extLst>
                <a:ext uri="{FF2B5EF4-FFF2-40B4-BE49-F238E27FC236}">
                  <a16:creationId xmlns:a16="http://schemas.microsoft.com/office/drawing/2014/main" id="{1317F270-39DD-21AF-552D-316D4DAE245A}"/>
                </a:ext>
              </a:extLst>
            </p:cNvPr>
            <p:cNvSpPr/>
            <p:nvPr/>
          </p:nvSpPr>
          <p:spPr>
            <a:xfrm rot="16888428" flipV="1">
              <a:off x="112835" y="2803842"/>
              <a:ext cx="2055859" cy="276778"/>
            </a:xfrm>
            <a:prstGeom prst="ellipse">
              <a:avLst/>
            </a:prstGeom>
            <a:gradFill flip="none" rotWithShape="1">
              <a:gsLst>
                <a:gs pos="0">
                  <a:schemeClr val="tx1">
                    <a:alpha val="28000"/>
                  </a:schemeClr>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6" name="Parallelogram 5">
              <a:extLst>
                <a:ext uri="{FF2B5EF4-FFF2-40B4-BE49-F238E27FC236}">
                  <a16:creationId xmlns:a16="http://schemas.microsoft.com/office/drawing/2014/main" id="{E6677037-5C93-996A-5390-ACACD4688EC5}"/>
                </a:ext>
              </a:extLst>
            </p:cNvPr>
            <p:cNvSpPr/>
            <p:nvPr/>
          </p:nvSpPr>
          <p:spPr>
            <a:xfrm>
              <a:off x="875452" y="1864506"/>
              <a:ext cx="1564286" cy="2166970"/>
            </a:xfrm>
            <a:prstGeom prst="parallelogram">
              <a:avLst>
                <a:gd name="adj" fmla="val 2913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oboto" panose="02000000000000000000" pitchFamily="2" charset="0"/>
                <a:ea typeface="Roboto" panose="02000000000000000000" pitchFamily="2" charset="0"/>
                <a:cs typeface="Roboto" panose="02000000000000000000" pitchFamily="2" charset="0"/>
              </a:endParaRPr>
            </a:p>
          </p:txBody>
        </p:sp>
      </p:grpSp>
      <p:sp>
        <p:nvSpPr>
          <p:cNvPr id="7" name="Parallelogram 6">
            <a:extLst>
              <a:ext uri="{FF2B5EF4-FFF2-40B4-BE49-F238E27FC236}">
                <a16:creationId xmlns:a16="http://schemas.microsoft.com/office/drawing/2014/main" id="{9F17B354-BAB1-3ADC-D60B-97431E614662}"/>
              </a:ext>
            </a:extLst>
          </p:cNvPr>
          <p:cNvSpPr/>
          <p:nvPr userDrawn="1"/>
        </p:nvSpPr>
        <p:spPr>
          <a:xfrm>
            <a:off x="1107828" y="2160838"/>
            <a:ext cx="1297979" cy="1225762"/>
          </a:xfrm>
          <a:prstGeom prst="parallelogram">
            <a:avLst>
              <a:gd name="adj" fmla="val 20882"/>
            </a:avLst>
          </a:prstGeom>
          <a:gradFill flip="none" rotWithShape="1">
            <a:gsLst>
              <a:gs pos="0">
                <a:srgbClr val="D6DE24"/>
              </a:gs>
              <a:gs pos="74000">
                <a:schemeClr val="bg1"/>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oboto" panose="02000000000000000000" pitchFamily="2" charset="0"/>
              <a:ea typeface="Roboto" panose="02000000000000000000" pitchFamily="2" charset="0"/>
              <a:cs typeface="Roboto" panose="02000000000000000000" pitchFamily="2" charset="0"/>
            </a:endParaRPr>
          </a:p>
        </p:txBody>
      </p:sp>
      <p:sp>
        <p:nvSpPr>
          <p:cNvPr id="8" name="Freeform: Shape 7">
            <a:extLst>
              <a:ext uri="{FF2B5EF4-FFF2-40B4-BE49-F238E27FC236}">
                <a16:creationId xmlns:a16="http://schemas.microsoft.com/office/drawing/2014/main" id="{99B07AF2-FD69-DDC8-02AD-A1ADA3A2B3AD}"/>
              </a:ext>
            </a:extLst>
          </p:cNvPr>
          <p:cNvSpPr/>
          <p:nvPr userDrawn="1"/>
        </p:nvSpPr>
        <p:spPr>
          <a:xfrm>
            <a:off x="1634037" y="2160838"/>
            <a:ext cx="771771" cy="1073166"/>
          </a:xfrm>
          <a:custGeom>
            <a:avLst/>
            <a:gdLst>
              <a:gd name="connsiteX0" fmla="*/ 0 w 771771"/>
              <a:gd name="connsiteY0" fmla="*/ 0 h 1073166"/>
              <a:gd name="connsiteX1" fmla="*/ 771771 w 771771"/>
              <a:gd name="connsiteY1" fmla="*/ 0 h 1073166"/>
              <a:gd name="connsiteX2" fmla="*/ 680146 w 771771"/>
              <a:gd name="connsiteY2" fmla="*/ 438775 h 1073166"/>
              <a:gd name="connsiteX3" fmla="*/ 670184 w 771771"/>
              <a:gd name="connsiteY3" fmla="*/ 438775 h 1073166"/>
              <a:gd name="connsiteX4" fmla="*/ 547805 w 771771"/>
              <a:gd name="connsiteY4" fmla="*/ 1072529 h 1073166"/>
              <a:gd name="connsiteX5" fmla="*/ 547672 w 771771"/>
              <a:gd name="connsiteY5" fmla="*/ 1073166 h 1073166"/>
              <a:gd name="connsiteX6" fmla="*/ 529948 w 771771"/>
              <a:gd name="connsiteY6" fmla="*/ 1059911 h 1073166"/>
              <a:gd name="connsiteX7" fmla="*/ 5450 w 771771"/>
              <a:gd name="connsiteY7" fmla="*/ 95964 h 1073166"/>
              <a:gd name="connsiteX8" fmla="*/ 0 w 771771"/>
              <a:gd name="connsiteY8" fmla="*/ 0 h 1073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1771" h="1073166">
                <a:moveTo>
                  <a:pt x="0" y="0"/>
                </a:moveTo>
                <a:lnTo>
                  <a:pt x="771771" y="0"/>
                </a:lnTo>
                <a:lnTo>
                  <a:pt x="680146" y="438775"/>
                </a:lnTo>
                <a:lnTo>
                  <a:pt x="670184" y="438775"/>
                </a:lnTo>
                <a:lnTo>
                  <a:pt x="547805" y="1072529"/>
                </a:lnTo>
                <a:lnTo>
                  <a:pt x="547672" y="1073166"/>
                </a:lnTo>
                <a:lnTo>
                  <a:pt x="529948" y="1059911"/>
                </a:lnTo>
                <a:cubicBezTo>
                  <a:pt x="244550" y="824380"/>
                  <a:pt x="49703" y="483049"/>
                  <a:pt x="5450" y="95964"/>
                </a:cubicBezTo>
                <a:lnTo>
                  <a:pt x="0" y="0"/>
                </a:lnTo>
                <a:close/>
              </a:path>
            </a:pathLst>
          </a:custGeom>
          <a:gradFill flip="none" rotWithShape="1">
            <a:gsLst>
              <a:gs pos="0">
                <a:srgbClr val="00CC66"/>
              </a:gs>
              <a:gs pos="88000">
                <a:srgbClr val="0070CD"/>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atin typeface="Roboto" panose="02000000000000000000" pitchFamily="2" charset="0"/>
              <a:ea typeface="Roboto" panose="02000000000000000000" pitchFamily="2" charset="0"/>
              <a:cs typeface="Roboto" panose="02000000000000000000" pitchFamily="2" charset="0"/>
            </a:endParaRPr>
          </a:p>
        </p:txBody>
      </p:sp>
      <p:grpSp>
        <p:nvGrpSpPr>
          <p:cNvPr id="9" name="Group 8">
            <a:extLst>
              <a:ext uri="{FF2B5EF4-FFF2-40B4-BE49-F238E27FC236}">
                <a16:creationId xmlns:a16="http://schemas.microsoft.com/office/drawing/2014/main" id="{96A3F559-C9ED-FEFC-5AF6-8973BA95DF7E}"/>
              </a:ext>
            </a:extLst>
          </p:cNvPr>
          <p:cNvGrpSpPr/>
          <p:nvPr userDrawn="1"/>
        </p:nvGrpSpPr>
        <p:grpSpPr>
          <a:xfrm>
            <a:off x="1957323" y="1270193"/>
            <a:ext cx="1007081" cy="4721778"/>
            <a:chOff x="976156" y="2436721"/>
            <a:chExt cx="622866" cy="2920357"/>
          </a:xfrm>
        </p:grpSpPr>
        <p:sp>
          <p:nvSpPr>
            <p:cNvPr id="10" name="Oval 9">
              <a:extLst>
                <a:ext uri="{FF2B5EF4-FFF2-40B4-BE49-F238E27FC236}">
                  <a16:creationId xmlns:a16="http://schemas.microsoft.com/office/drawing/2014/main" id="{80C85999-66F4-8088-569E-28AD09D283B4}"/>
                </a:ext>
              </a:extLst>
            </p:cNvPr>
            <p:cNvSpPr/>
            <p:nvPr/>
          </p:nvSpPr>
          <p:spPr>
            <a:xfrm rot="16888428" flipV="1">
              <a:off x="-395889" y="3808766"/>
              <a:ext cx="2917042" cy="172951"/>
            </a:xfrm>
            <a:prstGeom prst="ellipse">
              <a:avLst/>
            </a:prstGeom>
            <a:gradFill flip="none" rotWithShape="1">
              <a:gsLst>
                <a:gs pos="0">
                  <a:schemeClr val="tx1">
                    <a:alpha val="28000"/>
                  </a:schemeClr>
                </a:gs>
                <a:gs pos="100000">
                  <a:schemeClr val="tx1">
                    <a:alpha val="0"/>
                  </a:schemeClr>
                </a:gs>
              </a:gsLst>
              <a:path path="shape">
                <a:fillToRect l="50000" t="50000" r="50000" b="50000"/>
              </a:path>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Roboto" panose="02000000000000000000" pitchFamily="2" charset="0"/>
                <a:ea typeface="Roboto" panose="02000000000000000000" pitchFamily="2" charset="0"/>
                <a:cs typeface="Roboto" panose="02000000000000000000" pitchFamily="2" charset="0"/>
              </a:endParaRPr>
            </a:p>
          </p:txBody>
        </p:sp>
        <p:sp>
          <p:nvSpPr>
            <p:cNvPr id="11" name="Rectangle 10">
              <a:extLst>
                <a:ext uri="{FF2B5EF4-FFF2-40B4-BE49-F238E27FC236}">
                  <a16:creationId xmlns:a16="http://schemas.microsoft.com/office/drawing/2014/main" id="{088A16C7-5E11-BE64-670D-73B1C57CA77B}"/>
                </a:ext>
              </a:extLst>
            </p:cNvPr>
            <p:cNvSpPr/>
            <p:nvPr/>
          </p:nvSpPr>
          <p:spPr>
            <a:xfrm rot="654318">
              <a:off x="1058890" y="2632274"/>
              <a:ext cx="540132" cy="2724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oboto" panose="02000000000000000000" pitchFamily="2" charset="0"/>
                <a:ea typeface="Roboto" panose="02000000000000000000" pitchFamily="2" charset="0"/>
                <a:cs typeface="Roboto" panose="02000000000000000000" pitchFamily="2" charset="0"/>
              </a:endParaRPr>
            </a:p>
          </p:txBody>
        </p:sp>
      </p:grpSp>
      <p:sp>
        <p:nvSpPr>
          <p:cNvPr id="12" name="Parallelogram 11">
            <a:extLst>
              <a:ext uri="{FF2B5EF4-FFF2-40B4-BE49-F238E27FC236}">
                <a16:creationId xmlns:a16="http://schemas.microsoft.com/office/drawing/2014/main" id="{20C668BB-3067-F4B0-D510-6CA6BED53B77}"/>
              </a:ext>
            </a:extLst>
          </p:cNvPr>
          <p:cNvSpPr/>
          <p:nvPr userDrawn="1"/>
        </p:nvSpPr>
        <p:spPr>
          <a:xfrm>
            <a:off x="1709330" y="2599613"/>
            <a:ext cx="2848816" cy="3080711"/>
          </a:xfrm>
          <a:prstGeom prst="parallelogram">
            <a:avLst>
              <a:gd name="adj" fmla="val 20882"/>
            </a:avLst>
          </a:prstGeom>
          <a:gradFill flip="none" rotWithShape="1">
            <a:gsLst>
              <a:gs pos="0">
                <a:srgbClr val="D6DE24"/>
              </a:gs>
              <a:gs pos="74000">
                <a:schemeClr val="bg1"/>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Roboto" panose="02000000000000000000" pitchFamily="2" charset="0"/>
              <a:ea typeface="Roboto" panose="02000000000000000000" pitchFamily="2" charset="0"/>
              <a:cs typeface="Roboto" panose="02000000000000000000" pitchFamily="2" charset="0"/>
            </a:endParaRPr>
          </a:p>
        </p:txBody>
      </p:sp>
      <p:sp>
        <p:nvSpPr>
          <p:cNvPr id="13" name="Freeform: Shape 12">
            <a:extLst>
              <a:ext uri="{FF2B5EF4-FFF2-40B4-BE49-F238E27FC236}">
                <a16:creationId xmlns:a16="http://schemas.microsoft.com/office/drawing/2014/main" id="{C404855A-FCDD-70A1-FF6B-E9252CAEEE74}"/>
              </a:ext>
            </a:extLst>
          </p:cNvPr>
          <p:cNvSpPr/>
          <p:nvPr userDrawn="1"/>
        </p:nvSpPr>
        <p:spPr>
          <a:xfrm>
            <a:off x="2181718" y="2599613"/>
            <a:ext cx="2289989" cy="956263"/>
          </a:xfrm>
          <a:custGeom>
            <a:avLst/>
            <a:gdLst>
              <a:gd name="connsiteX0" fmla="*/ 122503 w 2289989"/>
              <a:gd name="connsiteY0" fmla="*/ 0 h 956263"/>
              <a:gd name="connsiteX1" fmla="*/ 2289989 w 2289989"/>
              <a:gd name="connsiteY1" fmla="*/ 0 h 956263"/>
              <a:gd name="connsiteX2" fmla="*/ 2268056 w 2289989"/>
              <a:gd name="connsiteY2" fmla="*/ 59923 h 956263"/>
              <a:gd name="connsiteX3" fmla="*/ 915793 w 2289989"/>
              <a:gd name="connsiteY3" fmla="*/ 956263 h 956263"/>
              <a:gd name="connsiteX4" fmla="*/ 95247 w 2289989"/>
              <a:gd name="connsiteY4" fmla="*/ 705621 h 956263"/>
              <a:gd name="connsiteX5" fmla="*/ 0 w 2289989"/>
              <a:gd name="connsiteY5" fmla="*/ 634397 h 956263"/>
              <a:gd name="connsiteX6" fmla="*/ 122503 w 2289989"/>
              <a:gd name="connsiteY6" fmla="*/ 0 h 956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89989" h="956263">
                <a:moveTo>
                  <a:pt x="122503" y="0"/>
                </a:moveTo>
                <a:lnTo>
                  <a:pt x="2289989" y="0"/>
                </a:lnTo>
                <a:lnTo>
                  <a:pt x="2268056" y="59923"/>
                </a:lnTo>
                <a:cubicBezTo>
                  <a:pt x="2045264" y="586665"/>
                  <a:pt x="1523691" y="956263"/>
                  <a:pt x="915793" y="956263"/>
                </a:cubicBezTo>
                <a:cubicBezTo>
                  <a:pt x="611844" y="956263"/>
                  <a:pt x="329477" y="863864"/>
                  <a:pt x="95247" y="705621"/>
                </a:cubicBezTo>
                <a:lnTo>
                  <a:pt x="0" y="634397"/>
                </a:lnTo>
                <a:lnTo>
                  <a:pt x="122503" y="0"/>
                </a:lnTo>
                <a:close/>
              </a:path>
            </a:pathLst>
          </a:custGeom>
          <a:gradFill flip="none" rotWithShape="1">
            <a:gsLst>
              <a:gs pos="9000">
                <a:srgbClr val="1DB1C0"/>
              </a:gs>
              <a:gs pos="100000">
                <a:srgbClr val="0070CD"/>
              </a:gs>
            </a:gsLst>
            <a:lin ang="6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latin typeface="Roboto" panose="02000000000000000000" pitchFamily="2" charset="0"/>
              <a:ea typeface="Roboto" panose="02000000000000000000" pitchFamily="2" charset="0"/>
              <a:cs typeface="Roboto" panose="02000000000000000000" pitchFamily="2" charset="0"/>
            </a:endParaRPr>
          </a:p>
        </p:txBody>
      </p:sp>
      <p:pic>
        <p:nvPicPr>
          <p:cNvPr id="2" name="Graphic 1">
            <a:extLst>
              <a:ext uri="{FF2B5EF4-FFF2-40B4-BE49-F238E27FC236}">
                <a16:creationId xmlns:a16="http://schemas.microsoft.com/office/drawing/2014/main" id="{7EFEB478-F4F3-D210-2F59-72B5A60E101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49396" y="329387"/>
            <a:ext cx="1532322" cy="504000"/>
          </a:xfrm>
          <a:prstGeom prst="rect">
            <a:avLst/>
          </a:prstGeom>
        </p:spPr>
      </p:pic>
    </p:spTree>
    <p:extLst>
      <p:ext uri="{BB962C8B-B14F-4D97-AF65-F5344CB8AC3E}">
        <p14:creationId xmlns:p14="http://schemas.microsoft.com/office/powerpoint/2010/main" val="497841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7192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1.xml"/><Relationship Id="rId1" Type="http://schemas.openxmlformats.org/officeDocument/2006/relationships/slideLayout" Target="../slideLayouts/slideLayout1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10C501-DC62-D61D-43E9-F2FCDBE1156F}"/>
              </a:ext>
            </a:extLst>
          </p:cNvPr>
          <p:cNvSpPr txBox="1"/>
          <p:nvPr/>
        </p:nvSpPr>
        <p:spPr>
          <a:xfrm>
            <a:off x="5148649" y="2625811"/>
            <a:ext cx="6096000" cy="1261884"/>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900" b="1" i="0" u="none" strike="noStrike" baseline="0">
                <a:solidFill>
                  <a:schemeClr val="bg1"/>
                </a:solidFill>
                <a:latin typeface="Aptos Display"/>
                <a:ea typeface="Segoe UI"/>
                <a:cs typeface="Segoe UI"/>
              </a:rPr>
              <a:t>AI-Driven Business Analysis: The </a:t>
            </a:r>
            <a:r>
              <a:rPr lang="en-US" sz="2900" b="1">
                <a:solidFill>
                  <a:schemeClr val="bg1"/>
                </a:solidFill>
                <a:latin typeface="Aptos Display"/>
                <a:ea typeface="Segoe UI"/>
                <a:cs typeface="Segoe UI"/>
              </a:rPr>
              <a:t>Claude Advantage</a:t>
            </a:r>
            <a:endParaRPr lang="en-US" err="1">
              <a:solidFill>
                <a:schemeClr val="bg1"/>
              </a:solidFill>
            </a:endParaRPr>
          </a:p>
          <a:p>
            <a:pPr algn="ctr"/>
            <a:endParaRPr lang="en-US">
              <a:solidFill>
                <a:schemeClr val="bg1"/>
              </a:solidFill>
            </a:endParaRPr>
          </a:p>
        </p:txBody>
      </p:sp>
      <mc:AlternateContent xmlns:mc="http://schemas.openxmlformats.org/markup-compatibility/2006" xmlns:p14="http://schemas.microsoft.com/office/powerpoint/2010/main">
        <mc:Choice Requires="p14">
          <p:contentPart p14:bwMode="auto" r:id="rId2">
            <p14:nvContentPartPr>
              <p14:cNvPr id="7" name="Ink 6">
                <a:extLst>
                  <a:ext uri="{FF2B5EF4-FFF2-40B4-BE49-F238E27FC236}">
                    <a16:creationId xmlns:a16="http://schemas.microsoft.com/office/drawing/2014/main" id="{B215E590-01FE-1999-1A52-91EE5ECED15E}"/>
                  </a:ext>
                </a:extLst>
              </p14:cNvPr>
              <p14:cNvContentPartPr/>
              <p14:nvPr/>
            </p14:nvContentPartPr>
            <p14:xfrm>
              <a:off x="625044" y="225124"/>
              <a:ext cx="1583713" cy="703086"/>
            </p14:xfrm>
          </p:contentPart>
        </mc:Choice>
        <mc:Fallback xmlns="">
          <p:pic>
            <p:nvPicPr>
              <p:cNvPr id="7" name="Ink 6">
                <a:extLst>
                  <a:ext uri="{FF2B5EF4-FFF2-40B4-BE49-F238E27FC236}">
                    <a16:creationId xmlns:a16="http://schemas.microsoft.com/office/drawing/2014/main" id="{B215E590-01FE-1999-1A52-91EE5ECED15E}"/>
                  </a:ext>
                </a:extLst>
              </p:cNvPr>
              <p:cNvPicPr/>
              <p:nvPr/>
            </p:nvPicPr>
            <p:blipFill>
              <a:blip r:embed="rId3"/>
              <a:stretch>
                <a:fillRect/>
              </a:stretch>
            </p:blipFill>
            <p:spPr>
              <a:xfrm>
                <a:off x="562055" y="162156"/>
                <a:ext cx="1709330" cy="82866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68FFB1F7-673C-5C43-97CC-9582A709F25B}"/>
                  </a:ext>
                </a:extLst>
              </p14:cNvPr>
              <p14:cNvContentPartPr/>
              <p14:nvPr/>
            </p14:nvContentPartPr>
            <p14:xfrm>
              <a:off x="-1537804" y="1921565"/>
              <a:ext cx="13804" cy="13804"/>
            </p14:xfrm>
          </p:contentPart>
        </mc:Choice>
        <mc:Fallback xmlns="">
          <p:pic>
            <p:nvPicPr>
              <p:cNvPr id="8" name="Ink 7">
                <a:extLst>
                  <a:ext uri="{FF2B5EF4-FFF2-40B4-BE49-F238E27FC236}">
                    <a16:creationId xmlns:a16="http://schemas.microsoft.com/office/drawing/2014/main" id="{68FFB1F7-673C-5C43-97CC-9582A709F25B}"/>
                  </a:ext>
                </a:extLst>
              </p:cNvPr>
              <p:cNvPicPr/>
              <p:nvPr/>
            </p:nvPicPr>
            <p:blipFill>
              <a:blip r:embed="rId5"/>
              <a:stretch>
                <a:fillRect/>
              </a:stretch>
            </p:blipFill>
            <p:spPr>
              <a:xfrm>
                <a:off x="-3953504" y="-494135"/>
                <a:ext cx="4831400" cy="4831400"/>
              </a:xfrm>
              <a:prstGeom prst="rect">
                <a:avLst/>
              </a:prstGeom>
            </p:spPr>
          </p:pic>
        </mc:Fallback>
      </mc:AlternateContent>
      <p:pic>
        <p:nvPicPr>
          <p:cNvPr id="3" name="Picture 2" descr="/home/claude/duals/ppt/media/image6.png">
            <a:extLst>
              <a:ext uri="{FF2B5EF4-FFF2-40B4-BE49-F238E27FC236}">
                <a16:creationId xmlns:a16="http://schemas.microsoft.com/office/drawing/2014/main" id="{4D7F16BA-3E21-5AA8-3CCD-79E6C997DF46}"/>
              </a:ext>
            </a:extLst>
          </p:cNvPr>
          <p:cNvPicPr>
            <a:picLocks noChangeAspect="1"/>
          </p:cNvPicPr>
          <p:nvPr/>
        </p:nvPicPr>
        <p:blipFill>
          <a:blip r:embed="rId6"/>
          <a:srcRect/>
          <a:stretch>
            <a:fillRect/>
          </a:stretch>
        </p:blipFill>
        <p:spPr>
          <a:xfrm>
            <a:off x="502572" y="219878"/>
            <a:ext cx="2047875" cy="781050"/>
          </a:xfrm>
          <a:prstGeom prst="rect">
            <a:avLst/>
          </a:prstGeom>
        </p:spPr>
      </p:pic>
    </p:spTree>
    <p:extLst>
      <p:ext uri="{BB962C8B-B14F-4D97-AF65-F5344CB8AC3E}">
        <p14:creationId xmlns:p14="http://schemas.microsoft.com/office/powerpoint/2010/main" val="2898264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orig/ppt/media/image1.jpeg"/>
          <p:cNvPicPr>
            <a:picLocks noChangeAspect="1"/>
          </p:cNvPicPr>
          <p:nvPr/>
        </p:nvPicPr>
        <p:blipFill>
          <a:blip r:embed="rId3"/>
          <a:stretch>
            <a:fillRect/>
          </a:stretch>
        </p:blipFill>
        <p:spPr>
          <a:xfrm>
            <a:off x="0" y="0"/>
            <a:ext cx="12191695" cy="6858000"/>
          </a:xfrm>
          <a:prstGeom prst="rect">
            <a:avLst/>
          </a:prstGeom>
        </p:spPr>
      </p:pic>
      <p:sp>
        <p:nvSpPr>
          <p:cNvPr id="4" name="Text 0"/>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C57AAE6E-C005-3111-DF5A-A979AE406F11}"/>
              </a:ext>
            </a:extLst>
          </p:cNvPr>
          <p:cNvPicPr>
            <a:picLocks noChangeAspect="1"/>
          </p:cNvPicPr>
          <p:nvPr/>
        </p:nvPicPr>
        <p:blipFill>
          <a:blip r:embed="rId4"/>
          <a:stretch>
            <a:fillRect/>
          </a:stretch>
        </p:blipFill>
        <p:spPr>
          <a:xfrm>
            <a:off x="9960940" y="103430"/>
            <a:ext cx="2040941" cy="769925"/>
          </a:xfrm>
          <a:prstGeom prst="rect">
            <a:avLst/>
          </a:prstGeom>
        </p:spPr>
      </p:pic>
      <p:sp>
        <p:nvSpPr>
          <p:cNvPr id="6" name="Shape 0">
            <a:extLst>
              <a:ext uri="{FF2B5EF4-FFF2-40B4-BE49-F238E27FC236}">
                <a16:creationId xmlns:a16="http://schemas.microsoft.com/office/drawing/2014/main" id="{65C82DA7-C056-2A30-3756-69095635D581}"/>
              </a:ext>
            </a:extLst>
          </p:cNvPr>
          <p:cNvSpPr/>
          <p:nvPr/>
        </p:nvSpPr>
        <p:spPr>
          <a:xfrm>
            <a:off x="0" y="0"/>
            <a:ext cx="3302883" cy="6537740"/>
          </a:xfrm>
          <a:prstGeom prst="rect">
            <a:avLst/>
          </a:prstGeom>
          <a:solidFill>
            <a:schemeClr val="tx1">
              <a:lumMod val="95000"/>
              <a:lumOff val="5000"/>
            </a:schemeClr>
          </a:solidFill>
          <a:ln w="12700">
            <a:solidFill>
              <a:srgbClr val="0A1628"/>
            </a:solidFill>
            <a:prstDash val="solid"/>
          </a:ln>
        </p:spPr>
      </p:sp>
      <p:sp>
        <p:nvSpPr>
          <p:cNvPr id="10" name="Shape 1">
            <a:extLst>
              <a:ext uri="{FF2B5EF4-FFF2-40B4-BE49-F238E27FC236}">
                <a16:creationId xmlns:a16="http://schemas.microsoft.com/office/drawing/2014/main" id="{EE56814B-EC06-3EA7-451D-112E20941FDA}"/>
              </a:ext>
            </a:extLst>
          </p:cNvPr>
          <p:cNvSpPr/>
          <p:nvPr/>
        </p:nvSpPr>
        <p:spPr>
          <a:xfrm flipH="1">
            <a:off x="3262155" y="-22087"/>
            <a:ext cx="44527" cy="6537740"/>
          </a:xfrm>
          <a:prstGeom prst="rect">
            <a:avLst/>
          </a:prstGeom>
          <a:solidFill>
            <a:srgbClr val="0070CD"/>
          </a:solidFill>
          <a:ln w="12700">
            <a:solidFill>
              <a:srgbClr val="0070CD"/>
            </a:solidFill>
            <a:prstDash val="solid"/>
          </a:ln>
        </p:spPr>
      </p:sp>
      <p:sp>
        <p:nvSpPr>
          <p:cNvPr id="14" name="Text 2">
            <a:extLst>
              <a:ext uri="{FF2B5EF4-FFF2-40B4-BE49-F238E27FC236}">
                <a16:creationId xmlns:a16="http://schemas.microsoft.com/office/drawing/2014/main" id="{2B9B099C-5F31-FD0A-38AF-D4D0BAD171DD}"/>
              </a:ext>
            </a:extLst>
          </p:cNvPr>
          <p:cNvSpPr/>
          <p:nvPr/>
        </p:nvSpPr>
        <p:spPr>
          <a:xfrm>
            <a:off x="274320" y="1005840"/>
            <a:ext cx="2743200" cy="347472"/>
          </a:xfrm>
          <a:prstGeom prst="rect">
            <a:avLst/>
          </a:prstGeom>
          <a:noFill/>
          <a:ln/>
        </p:spPr>
        <p:txBody>
          <a:bodyPr wrap="square" lIns="0" tIns="0" rIns="0" bIns="0" rtlCol="0" anchor="ctr"/>
          <a:lstStyle/>
          <a:p>
            <a:pPr marL="0" indent="0">
              <a:buNone/>
            </a:pPr>
            <a:r>
              <a:rPr lang="en-US" sz="1600" b="1" dirty="0">
                <a:solidFill>
                  <a:srgbClr val="0070CD"/>
                </a:solidFill>
                <a:latin typeface="Calibri"/>
                <a:ea typeface="Calibri"/>
                <a:cs typeface="Calibri"/>
              </a:rPr>
              <a:t>AGENDA</a:t>
            </a:r>
            <a:endParaRPr lang="en-US" sz="1600" dirty="0">
              <a:latin typeface="Calibri"/>
              <a:ea typeface="Calibri"/>
              <a:cs typeface="Calibri"/>
            </a:endParaRPr>
          </a:p>
        </p:txBody>
      </p:sp>
      <p:sp>
        <p:nvSpPr>
          <p:cNvPr id="18" name="Shape 3">
            <a:extLst>
              <a:ext uri="{FF2B5EF4-FFF2-40B4-BE49-F238E27FC236}">
                <a16:creationId xmlns:a16="http://schemas.microsoft.com/office/drawing/2014/main" id="{3598238F-ADF4-3AB7-FF26-C0BF2E0518FC}"/>
              </a:ext>
            </a:extLst>
          </p:cNvPr>
          <p:cNvSpPr/>
          <p:nvPr/>
        </p:nvSpPr>
        <p:spPr>
          <a:xfrm>
            <a:off x="274320" y="1389888"/>
            <a:ext cx="2560320" cy="36576"/>
          </a:xfrm>
          <a:prstGeom prst="rect">
            <a:avLst/>
          </a:prstGeom>
          <a:solidFill>
            <a:srgbClr val="0070CD"/>
          </a:solidFill>
          <a:ln w="12700">
            <a:solidFill>
              <a:srgbClr val="0070CD"/>
            </a:solidFill>
            <a:prstDash val="solid"/>
          </a:ln>
        </p:spPr>
      </p:sp>
      <p:sp>
        <p:nvSpPr>
          <p:cNvPr id="26" name="Text 5">
            <a:extLst>
              <a:ext uri="{FF2B5EF4-FFF2-40B4-BE49-F238E27FC236}">
                <a16:creationId xmlns:a16="http://schemas.microsoft.com/office/drawing/2014/main" id="{5145F415-6FE0-B646-DBDA-50331096003D}"/>
              </a:ext>
            </a:extLst>
          </p:cNvPr>
          <p:cNvSpPr/>
          <p:nvPr/>
        </p:nvSpPr>
        <p:spPr>
          <a:xfrm>
            <a:off x="274320" y="1636878"/>
            <a:ext cx="2743200" cy="1371600"/>
          </a:xfrm>
          <a:prstGeom prst="rect">
            <a:avLst/>
          </a:prstGeom>
          <a:noFill/>
          <a:ln/>
        </p:spPr>
        <p:txBody>
          <a:bodyPr wrap="square" lIns="0" tIns="0" rIns="0" bIns="0" rtlCol="0" anchor="ctr"/>
          <a:lstStyle/>
          <a:p>
            <a:pPr>
              <a:lnSpc>
                <a:spcPct val="150000"/>
              </a:lnSpc>
            </a:pPr>
            <a:r>
              <a:rPr lang="en-US" sz="1400">
                <a:solidFill>
                  <a:srgbClr val="7AAED4"/>
                </a:solidFill>
                <a:latin typeface="Calibri"/>
                <a:ea typeface="Calibri"/>
                <a:cs typeface="Calibri"/>
              </a:rPr>
              <a:t>A Deep-Dive Guide to</a:t>
            </a:r>
            <a:endParaRPr lang="en-US" sz="1400">
              <a:solidFill>
                <a:srgbClr val="000000"/>
              </a:solidFill>
              <a:latin typeface="Calibri"/>
              <a:ea typeface="Calibri"/>
              <a:cs typeface="Calibri"/>
            </a:endParaRPr>
          </a:p>
          <a:p>
            <a:pPr>
              <a:lnSpc>
                <a:spcPct val="150000"/>
              </a:lnSpc>
            </a:pPr>
            <a:r>
              <a:rPr lang="en-US" sz="1400">
                <a:solidFill>
                  <a:srgbClr val="7AAED4"/>
                </a:solidFill>
                <a:latin typeface="Calibri"/>
                <a:ea typeface="Calibri"/>
                <a:cs typeface="Calibri"/>
              </a:rPr>
              <a:t> AI Use Cases,</a:t>
            </a:r>
            <a:endParaRPr lang="en-US" sz="1400">
              <a:latin typeface="Calibri"/>
              <a:ea typeface="Calibri"/>
              <a:cs typeface="Calibri"/>
            </a:endParaRPr>
          </a:p>
          <a:p>
            <a:pPr>
              <a:lnSpc>
                <a:spcPct val="150000"/>
              </a:lnSpc>
            </a:pPr>
            <a:r>
              <a:rPr lang="en-US" sz="1400">
                <a:solidFill>
                  <a:srgbClr val="7AAED4"/>
                </a:solidFill>
                <a:latin typeface="Calibri"/>
                <a:ea typeface="Calibri"/>
                <a:cs typeface="Calibri"/>
              </a:rPr>
              <a:t>Claude, Prompt</a:t>
            </a:r>
            <a:endParaRPr lang="en-US" sz="1400">
              <a:latin typeface="Calibri"/>
              <a:ea typeface="Calibri"/>
              <a:cs typeface="Calibri"/>
            </a:endParaRPr>
          </a:p>
          <a:p>
            <a:pPr marL="0" indent="0">
              <a:lnSpc>
                <a:spcPct val="150000"/>
              </a:lnSpc>
              <a:buNone/>
            </a:pPr>
            <a:r>
              <a:rPr lang="en-US" sz="1400" dirty="0">
                <a:solidFill>
                  <a:srgbClr val="7AAED4"/>
                </a:solidFill>
                <a:latin typeface="Calibri"/>
                <a:ea typeface="Calibri"/>
                <a:cs typeface="Calibri"/>
              </a:rPr>
              <a:t>Engineering &amp; Developer</a:t>
            </a:r>
            <a:endParaRPr lang="en-US" sz="1400">
              <a:latin typeface="Calibri"/>
              <a:ea typeface="Calibri"/>
              <a:cs typeface="Calibri"/>
            </a:endParaRPr>
          </a:p>
          <a:p>
            <a:pPr marL="0" indent="0">
              <a:lnSpc>
                <a:spcPct val="150000"/>
              </a:lnSpc>
              <a:buNone/>
            </a:pPr>
            <a:r>
              <a:rPr lang="en-US" sz="1400" dirty="0">
                <a:solidFill>
                  <a:srgbClr val="7AAED4"/>
                </a:solidFill>
                <a:latin typeface="Calibri"/>
                <a:ea typeface="Calibri"/>
                <a:cs typeface="Calibri"/>
              </a:rPr>
              <a:t>Concepts</a:t>
            </a:r>
            <a:endParaRPr lang="en-US" sz="1400" dirty="0">
              <a:latin typeface="Calibri"/>
              <a:ea typeface="Calibri"/>
              <a:cs typeface="Calibri"/>
            </a:endParaRPr>
          </a:p>
        </p:txBody>
      </p:sp>
      <p:sp>
        <p:nvSpPr>
          <p:cNvPr id="30" name="Shape 7">
            <a:extLst>
              <a:ext uri="{FF2B5EF4-FFF2-40B4-BE49-F238E27FC236}">
                <a16:creationId xmlns:a16="http://schemas.microsoft.com/office/drawing/2014/main" id="{E272A850-C493-6122-7DF6-E5C4AC64D2BC}"/>
              </a:ext>
            </a:extLst>
          </p:cNvPr>
          <p:cNvSpPr/>
          <p:nvPr/>
        </p:nvSpPr>
        <p:spPr>
          <a:xfrm>
            <a:off x="3611880" y="1572768"/>
            <a:ext cx="4206240" cy="621792"/>
          </a:xfrm>
          <a:prstGeom prst="roundRect">
            <a:avLst>
              <a:gd name="adj" fmla="val 10294"/>
            </a:avLst>
          </a:prstGeom>
          <a:solidFill>
            <a:srgbClr val="FFFFFF"/>
          </a:solidFill>
          <a:ln w="9525">
            <a:solidFill>
              <a:srgbClr val="D6E6F7"/>
            </a:solidFill>
            <a:prstDash val="solid"/>
          </a:ln>
        </p:spPr>
      </p:sp>
      <p:sp>
        <p:nvSpPr>
          <p:cNvPr id="34" name="Shape 8">
            <a:extLst>
              <a:ext uri="{FF2B5EF4-FFF2-40B4-BE49-F238E27FC236}">
                <a16:creationId xmlns:a16="http://schemas.microsoft.com/office/drawing/2014/main" id="{77647311-1AAC-9DFE-4C75-2F1500E9A3E5}"/>
              </a:ext>
            </a:extLst>
          </p:cNvPr>
          <p:cNvSpPr/>
          <p:nvPr/>
        </p:nvSpPr>
        <p:spPr>
          <a:xfrm>
            <a:off x="3611880" y="1572768"/>
            <a:ext cx="45720" cy="621792"/>
          </a:xfrm>
          <a:prstGeom prst="roundRect">
            <a:avLst>
              <a:gd name="adj" fmla="val 80000"/>
            </a:avLst>
          </a:prstGeom>
          <a:solidFill>
            <a:srgbClr val="0070CD"/>
          </a:solidFill>
          <a:ln w="12700">
            <a:solidFill>
              <a:srgbClr val="0070CD"/>
            </a:solidFill>
            <a:prstDash val="solid"/>
          </a:ln>
        </p:spPr>
      </p:sp>
      <p:sp>
        <p:nvSpPr>
          <p:cNvPr id="38" name="Shape 9">
            <a:extLst>
              <a:ext uri="{FF2B5EF4-FFF2-40B4-BE49-F238E27FC236}">
                <a16:creationId xmlns:a16="http://schemas.microsoft.com/office/drawing/2014/main" id="{746E1973-28FD-F705-AC52-54FED8519EEC}"/>
              </a:ext>
            </a:extLst>
          </p:cNvPr>
          <p:cNvSpPr/>
          <p:nvPr/>
        </p:nvSpPr>
        <p:spPr>
          <a:xfrm>
            <a:off x="3703320" y="1691640"/>
            <a:ext cx="384048" cy="292608"/>
          </a:xfrm>
          <a:prstGeom prst="rect">
            <a:avLst/>
          </a:prstGeom>
          <a:solidFill>
            <a:srgbClr val="0070CD"/>
          </a:solidFill>
          <a:ln w="12700">
            <a:solidFill>
              <a:srgbClr val="0070CD"/>
            </a:solidFill>
            <a:prstDash val="solid"/>
          </a:ln>
        </p:spPr>
      </p:sp>
      <p:sp>
        <p:nvSpPr>
          <p:cNvPr id="42" name="Text 10">
            <a:extLst>
              <a:ext uri="{FF2B5EF4-FFF2-40B4-BE49-F238E27FC236}">
                <a16:creationId xmlns:a16="http://schemas.microsoft.com/office/drawing/2014/main" id="{00C67764-7DF8-03A6-E30F-1E26C9374102}"/>
              </a:ext>
            </a:extLst>
          </p:cNvPr>
          <p:cNvSpPr/>
          <p:nvPr/>
        </p:nvSpPr>
        <p:spPr>
          <a:xfrm>
            <a:off x="3701111" y="1722562"/>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46" name="Text 11">
            <a:extLst>
              <a:ext uri="{FF2B5EF4-FFF2-40B4-BE49-F238E27FC236}">
                <a16:creationId xmlns:a16="http://schemas.microsoft.com/office/drawing/2014/main" id="{FFA0BC00-6C03-553F-2B00-A0C6A848C046}"/>
              </a:ext>
            </a:extLst>
          </p:cNvPr>
          <p:cNvSpPr/>
          <p:nvPr/>
        </p:nvSpPr>
        <p:spPr>
          <a:xfrm>
            <a:off x="4178808" y="1627632"/>
            <a:ext cx="3547872" cy="237744"/>
          </a:xfrm>
          <a:prstGeom prst="rect">
            <a:avLst/>
          </a:prstGeom>
          <a:noFill/>
          <a:ln/>
        </p:spPr>
        <p:txBody>
          <a:bodyPr wrap="square" lIns="0" tIns="0" rIns="0" bIns="0"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Why AI?</a:t>
            </a:r>
            <a:endParaRPr lang="en-US" sz="1100" dirty="0"/>
          </a:p>
        </p:txBody>
      </p:sp>
      <p:sp>
        <p:nvSpPr>
          <p:cNvPr id="50" name="Text 12">
            <a:extLst>
              <a:ext uri="{FF2B5EF4-FFF2-40B4-BE49-F238E27FC236}">
                <a16:creationId xmlns:a16="http://schemas.microsoft.com/office/drawing/2014/main" id="{88505885-97D3-079B-D8B6-F3953818F3F9}"/>
              </a:ext>
            </a:extLst>
          </p:cNvPr>
          <p:cNvSpPr/>
          <p:nvPr/>
        </p:nvSpPr>
        <p:spPr>
          <a:xfrm>
            <a:off x="4178808" y="1874520"/>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The case for AI at work — before &amp; after</a:t>
            </a:r>
            <a:endParaRPr lang="en-US" sz="850" dirty="0"/>
          </a:p>
        </p:txBody>
      </p:sp>
      <p:sp>
        <p:nvSpPr>
          <p:cNvPr id="54" name="Shape 13">
            <a:extLst>
              <a:ext uri="{FF2B5EF4-FFF2-40B4-BE49-F238E27FC236}">
                <a16:creationId xmlns:a16="http://schemas.microsoft.com/office/drawing/2014/main" id="{65C36CF1-8FFB-F1CF-EDEC-26051FEA73CE}"/>
              </a:ext>
            </a:extLst>
          </p:cNvPr>
          <p:cNvSpPr/>
          <p:nvPr/>
        </p:nvSpPr>
        <p:spPr>
          <a:xfrm>
            <a:off x="3611880" y="2276856"/>
            <a:ext cx="4206240" cy="621792"/>
          </a:xfrm>
          <a:prstGeom prst="roundRect">
            <a:avLst>
              <a:gd name="adj" fmla="val 10294"/>
            </a:avLst>
          </a:prstGeom>
          <a:solidFill>
            <a:srgbClr val="F4F8FF"/>
          </a:solidFill>
          <a:ln w="9525">
            <a:solidFill>
              <a:srgbClr val="D6E6F7"/>
            </a:solidFill>
            <a:prstDash val="solid"/>
          </a:ln>
        </p:spPr>
      </p:sp>
      <p:sp>
        <p:nvSpPr>
          <p:cNvPr id="58" name="Shape 14">
            <a:extLst>
              <a:ext uri="{FF2B5EF4-FFF2-40B4-BE49-F238E27FC236}">
                <a16:creationId xmlns:a16="http://schemas.microsoft.com/office/drawing/2014/main" id="{7BAD720A-C7E1-0F11-5294-0A2FF9C22AF4}"/>
              </a:ext>
            </a:extLst>
          </p:cNvPr>
          <p:cNvSpPr/>
          <p:nvPr/>
        </p:nvSpPr>
        <p:spPr>
          <a:xfrm>
            <a:off x="3611880" y="2276856"/>
            <a:ext cx="45720" cy="621792"/>
          </a:xfrm>
          <a:prstGeom prst="roundRect">
            <a:avLst>
              <a:gd name="adj" fmla="val 80000"/>
            </a:avLst>
          </a:prstGeom>
          <a:solidFill>
            <a:srgbClr val="0070CD"/>
          </a:solidFill>
          <a:ln w="12700">
            <a:solidFill>
              <a:srgbClr val="0070CD"/>
            </a:solidFill>
            <a:prstDash val="solid"/>
          </a:ln>
        </p:spPr>
      </p:sp>
      <p:sp>
        <p:nvSpPr>
          <p:cNvPr id="62" name="Shape 15">
            <a:extLst>
              <a:ext uri="{FF2B5EF4-FFF2-40B4-BE49-F238E27FC236}">
                <a16:creationId xmlns:a16="http://schemas.microsoft.com/office/drawing/2014/main" id="{787DF4F7-4335-1E79-D5A8-8080406C2FA9}"/>
              </a:ext>
            </a:extLst>
          </p:cNvPr>
          <p:cNvSpPr/>
          <p:nvPr/>
        </p:nvSpPr>
        <p:spPr>
          <a:xfrm>
            <a:off x="3703320" y="2395728"/>
            <a:ext cx="384048" cy="292608"/>
          </a:xfrm>
          <a:prstGeom prst="rect">
            <a:avLst/>
          </a:prstGeom>
          <a:solidFill>
            <a:srgbClr val="0070CD"/>
          </a:solidFill>
          <a:ln w="12700">
            <a:solidFill>
              <a:srgbClr val="0070CD"/>
            </a:solidFill>
            <a:prstDash val="solid"/>
          </a:ln>
        </p:spPr>
      </p:sp>
      <p:sp>
        <p:nvSpPr>
          <p:cNvPr id="66" name="Text 16">
            <a:extLst>
              <a:ext uri="{FF2B5EF4-FFF2-40B4-BE49-F238E27FC236}">
                <a16:creationId xmlns:a16="http://schemas.microsoft.com/office/drawing/2014/main" id="{153A6A25-EE37-AF09-6E19-87A845A14313}"/>
              </a:ext>
            </a:extLst>
          </p:cNvPr>
          <p:cNvSpPr/>
          <p:nvPr/>
        </p:nvSpPr>
        <p:spPr>
          <a:xfrm>
            <a:off x="3701111" y="2404563"/>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79" name="Shape 19">
            <a:extLst>
              <a:ext uri="{FF2B5EF4-FFF2-40B4-BE49-F238E27FC236}">
                <a16:creationId xmlns:a16="http://schemas.microsoft.com/office/drawing/2014/main" id="{D2CDDBCB-404D-D92F-93A4-3AA6F3AA28D6}"/>
              </a:ext>
            </a:extLst>
          </p:cNvPr>
          <p:cNvSpPr/>
          <p:nvPr/>
        </p:nvSpPr>
        <p:spPr>
          <a:xfrm>
            <a:off x="3611880" y="2980944"/>
            <a:ext cx="4206240" cy="621792"/>
          </a:xfrm>
          <a:prstGeom prst="roundRect">
            <a:avLst>
              <a:gd name="adj" fmla="val 10294"/>
            </a:avLst>
          </a:prstGeom>
          <a:solidFill>
            <a:srgbClr val="FFFFFF"/>
          </a:solidFill>
          <a:ln w="9525">
            <a:solidFill>
              <a:srgbClr val="D6E6F7"/>
            </a:solidFill>
            <a:prstDash val="solid"/>
          </a:ln>
        </p:spPr>
      </p:sp>
      <p:sp>
        <p:nvSpPr>
          <p:cNvPr id="83" name="Shape 20">
            <a:extLst>
              <a:ext uri="{FF2B5EF4-FFF2-40B4-BE49-F238E27FC236}">
                <a16:creationId xmlns:a16="http://schemas.microsoft.com/office/drawing/2014/main" id="{A04BD21B-4088-77AA-18E6-38048BE1F4E6}"/>
              </a:ext>
            </a:extLst>
          </p:cNvPr>
          <p:cNvSpPr/>
          <p:nvPr/>
        </p:nvSpPr>
        <p:spPr>
          <a:xfrm>
            <a:off x="3611880" y="2980944"/>
            <a:ext cx="45720" cy="621792"/>
          </a:xfrm>
          <a:prstGeom prst="roundRect">
            <a:avLst>
              <a:gd name="adj" fmla="val 80000"/>
            </a:avLst>
          </a:prstGeom>
          <a:solidFill>
            <a:srgbClr val="0070CD"/>
          </a:solidFill>
          <a:ln w="12700">
            <a:solidFill>
              <a:srgbClr val="0070CD"/>
            </a:solidFill>
            <a:prstDash val="solid"/>
          </a:ln>
        </p:spPr>
      </p:sp>
      <p:sp>
        <p:nvSpPr>
          <p:cNvPr id="87" name="Shape 21">
            <a:extLst>
              <a:ext uri="{FF2B5EF4-FFF2-40B4-BE49-F238E27FC236}">
                <a16:creationId xmlns:a16="http://schemas.microsoft.com/office/drawing/2014/main" id="{29B91761-E2F2-0CE7-CFE4-2C787DACCFFB}"/>
              </a:ext>
            </a:extLst>
          </p:cNvPr>
          <p:cNvSpPr/>
          <p:nvPr/>
        </p:nvSpPr>
        <p:spPr>
          <a:xfrm>
            <a:off x="3703320" y="3099816"/>
            <a:ext cx="384048" cy="292608"/>
          </a:xfrm>
          <a:prstGeom prst="rect">
            <a:avLst/>
          </a:prstGeom>
          <a:solidFill>
            <a:srgbClr val="0070CD"/>
          </a:solidFill>
          <a:ln w="12700">
            <a:solidFill>
              <a:srgbClr val="0070CD"/>
            </a:solidFill>
            <a:prstDash val="solid"/>
          </a:ln>
        </p:spPr>
      </p:sp>
      <p:sp>
        <p:nvSpPr>
          <p:cNvPr id="91" name="Text 22">
            <a:extLst>
              <a:ext uri="{FF2B5EF4-FFF2-40B4-BE49-F238E27FC236}">
                <a16:creationId xmlns:a16="http://schemas.microsoft.com/office/drawing/2014/main" id="{C01C0AF7-315B-B95B-3F43-55E83FE8BDFF}"/>
              </a:ext>
            </a:extLst>
          </p:cNvPr>
          <p:cNvSpPr/>
          <p:nvPr/>
        </p:nvSpPr>
        <p:spPr>
          <a:xfrm>
            <a:off x="3701111" y="3119694"/>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03" name="Shape 25">
            <a:extLst>
              <a:ext uri="{FF2B5EF4-FFF2-40B4-BE49-F238E27FC236}">
                <a16:creationId xmlns:a16="http://schemas.microsoft.com/office/drawing/2014/main" id="{D4D1616A-5529-3E86-8514-EAD327B6A51C}"/>
              </a:ext>
            </a:extLst>
          </p:cNvPr>
          <p:cNvSpPr/>
          <p:nvPr/>
        </p:nvSpPr>
        <p:spPr>
          <a:xfrm>
            <a:off x="3611880" y="3685032"/>
            <a:ext cx="4206240" cy="621792"/>
          </a:xfrm>
          <a:prstGeom prst="roundRect">
            <a:avLst>
              <a:gd name="adj" fmla="val 10294"/>
            </a:avLst>
          </a:prstGeom>
          <a:solidFill>
            <a:srgbClr val="F4F8FF"/>
          </a:solidFill>
          <a:ln w="9525">
            <a:solidFill>
              <a:srgbClr val="D6E6F7"/>
            </a:solidFill>
            <a:prstDash val="solid"/>
          </a:ln>
        </p:spPr>
      </p:sp>
      <p:sp>
        <p:nvSpPr>
          <p:cNvPr id="107" name="Shape 26">
            <a:extLst>
              <a:ext uri="{FF2B5EF4-FFF2-40B4-BE49-F238E27FC236}">
                <a16:creationId xmlns:a16="http://schemas.microsoft.com/office/drawing/2014/main" id="{2D5D8C0E-30C7-A4C1-2A2B-63106F82425C}"/>
              </a:ext>
            </a:extLst>
          </p:cNvPr>
          <p:cNvSpPr/>
          <p:nvPr/>
        </p:nvSpPr>
        <p:spPr>
          <a:xfrm>
            <a:off x="3611880" y="3685032"/>
            <a:ext cx="45720" cy="621792"/>
          </a:xfrm>
          <a:prstGeom prst="roundRect">
            <a:avLst>
              <a:gd name="adj" fmla="val 80000"/>
            </a:avLst>
          </a:prstGeom>
          <a:solidFill>
            <a:srgbClr val="0070CD"/>
          </a:solidFill>
          <a:ln w="12700">
            <a:solidFill>
              <a:srgbClr val="0070CD"/>
            </a:solidFill>
            <a:prstDash val="solid"/>
          </a:ln>
        </p:spPr>
      </p:sp>
      <p:sp>
        <p:nvSpPr>
          <p:cNvPr id="110" name="Shape 27">
            <a:extLst>
              <a:ext uri="{FF2B5EF4-FFF2-40B4-BE49-F238E27FC236}">
                <a16:creationId xmlns:a16="http://schemas.microsoft.com/office/drawing/2014/main" id="{D3C75894-BF4F-F3D7-98CF-5413FAB70F5C}"/>
              </a:ext>
            </a:extLst>
          </p:cNvPr>
          <p:cNvSpPr/>
          <p:nvPr/>
        </p:nvSpPr>
        <p:spPr>
          <a:xfrm>
            <a:off x="3703320" y="3803904"/>
            <a:ext cx="384048" cy="292608"/>
          </a:xfrm>
          <a:prstGeom prst="rect">
            <a:avLst/>
          </a:prstGeom>
          <a:solidFill>
            <a:srgbClr val="0070CD"/>
          </a:solidFill>
          <a:ln w="12700">
            <a:solidFill>
              <a:srgbClr val="0070CD"/>
            </a:solidFill>
            <a:prstDash val="solid"/>
          </a:ln>
        </p:spPr>
      </p:sp>
      <p:sp>
        <p:nvSpPr>
          <p:cNvPr id="112" name="Text 28">
            <a:extLst>
              <a:ext uri="{FF2B5EF4-FFF2-40B4-BE49-F238E27FC236}">
                <a16:creationId xmlns:a16="http://schemas.microsoft.com/office/drawing/2014/main" id="{D818305D-1020-C235-32C5-91DD3BB1207B}"/>
              </a:ext>
            </a:extLst>
          </p:cNvPr>
          <p:cNvSpPr/>
          <p:nvPr/>
        </p:nvSpPr>
        <p:spPr>
          <a:xfrm>
            <a:off x="3701111" y="3823782"/>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18" name="Shape 31">
            <a:extLst>
              <a:ext uri="{FF2B5EF4-FFF2-40B4-BE49-F238E27FC236}">
                <a16:creationId xmlns:a16="http://schemas.microsoft.com/office/drawing/2014/main" id="{06277D29-1F15-F471-E3B6-58A8FFE37D64}"/>
              </a:ext>
            </a:extLst>
          </p:cNvPr>
          <p:cNvSpPr/>
          <p:nvPr/>
        </p:nvSpPr>
        <p:spPr>
          <a:xfrm>
            <a:off x="3611880" y="4389120"/>
            <a:ext cx="4206240" cy="621792"/>
          </a:xfrm>
          <a:prstGeom prst="roundRect">
            <a:avLst>
              <a:gd name="adj" fmla="val 10294"/>
            </a:avLst>
          </a:prstGeom>
          <a:solidFill>
            <a:srgbClr val="FFFFFF"/>
          </a:solidFill>
          <a:ln w="9525">
            <a:solidFill>
              <a:srgbClr val="D6E6F7"/>
            </a:solidFill>
            <a:prstDash val="solid"/>
          </a:ln>
        </p:spPr>
      </p:sp>
      <p:sp>
        <p:nvSpPr>
          <p:cNvPr id="120" name="Shape 32">
            <a:extLst>
              <a:ext uri="{FF2B5EF4-FFF2-40B4-BE49-F238E27FC236}">
                <a16:creationId xmlns:a16="http://schemas.microsoft.com/office/drawing/2014/main" id="{A2C86723-1419-091E-EC9F-9FFE1605CA0C}"/>
              </a:ext>
            </a:extLst>
          </p:cNvPr>
          <p:cNvSpPr/>
          <p:nvPr/>
        </p:nvSpPr>
        <p:spPr>
          <a:xfrm>
            <a:off x="3611880" y="4389120"/>
            <a:ext cx="45720" cy="621792"/>
          </a:xfrm>
          <a:prstGeom prst="roundRect">
            <a:avLst>
              <a:gd name="adj" fmla="val 80000"/>
            </a:avLst>
          </a:prstGeom>
          <a:solidFill>
            <a:srgbClr val="0070CD"/>
          </a:solidFill>
          <a:ln w="12700">
            <a:solidFill>
              <a:srgbClr val="0070CD"/>
            </a:solidFill>
            <a:prstDash val="solid"/>
          </a:ln>
        </p:spPr>
      </p:sp>
      <p:sp>
        <p:nvSpPr>
          <p:cNvPr id="122" name="Shape 33">
            <a:extLst>
              <a:ext uri="{FF2B5EF4-FFF2-40B4-BE49-F238E27FC236}">
                <a16:creationId xmlns:a16="http://schemas.microsoft.com/office/drawing/2014/main" id="{5E42B6BB-66F3-961E-05AF-2698AFC056E5}"/>
              </a:ext>
            </a:extLst>
          </p:cNvPr>
          <p:cNvSpPr/>
          <p:nvPr/>
        </p:nvSpPr>
        <p:spPr>
          <a:xfrm>
            <a:off x="3703320" y="4507992"/>
            <a:ext cx="384048" cy="292608"/>
          </a:xfrm>
          <a:prstGeom prst="rect">
            <a:avLst/>
          </a:prstGeom>
          <a:solidFill>
            <a:srgbClr val="0070CD"/>
          </a:solidFill>
          <a:ln w="12700">
            <a:solidFill>
              <a:srgbClr val="0070CD"/>
            </a:solidFill>
            <a:prstDash val="solid"/>
          </a:ln>
        </p:spPr>
      </p:sp>
      <p:sp>
        <p:nvSpPr>
          <p:cNvPr id="124" name="Text 34">
            <a:extLst>
              <a:ext uri="{FF2B5EF4-FFF2-40B4-BE49-F238E27FC236}">
                <a16:creationId xmlns:a16="http://schemas.microsoft.com/office/drawing/2014/main" id="{E23AFA22-A6E1-A2AF-9AE5-DFE9A3D9EC67}"/>
              </a:ext>
            </a:extLst>
          </p:cNvPr>
          <p:cNvSpPr/>
          <p:nvPr/>
        </p:nvSpPr>
        <p:spPr>
          <a:xfrm>
            <a:off x="3701111" y="4538914"/>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130" name="Shape 37">
            <a:extLst>
              <a:ext uri="{FF2B5EF4-FFF2-40B4-BE49-F238E27FC236}">
                <a16:creationId xmlns:a16="http://schemas.microsoft.com/office/drawing/2014/main" id="{BAFE5F9C-A5C4-00FB-CF61-64F86B783F95}"/>
              </a:ext>
            </a:extLst>
          </p:cNvPr>
          <p:cNvSpPr/>
          <p:nvPr/>
        </p:nvSpPr>
        <p:spPr>
          <a:xfrm>
            <a:off x="8028432" y="1572768"/>
            <a:ext cx="4206240" cy="621792"/>
          </a:xfrm>
          <a:prstGeom prst="roundRect">
            <a:avLst>
              <a:gd name="adj" fmla="val 10294"/>
            </a:avLst>
          </a:prstGeom>
          <a:solidFill>
            <a:srgbClr val="F4F8FF"/>
          </a:solidFill>
          <a:ln w="9525">
            <a:solidFill>
              <a:srgbClr val="D6E6F7"/>
            </a:solidFill>
            <a:prstDash val="solid"/>
          </a:ln>
        </p:spPr>
      </p:sp>
      <p:sp>
        <p:nvSpPr>
          <p:cNvPr id="132" name="Shape 38">
            <a:extLst>
              <a:ext uri="{FF2B5EF4-FFF2-40B4-BE49-F238E27FC236}">
                <a16:creationId xmlns:a16="http://schemas.microsoft.com/office/drawing/2014/main" id="{2A81B73C-C02B-F35A-88A6-53774C32F654}"/>
              </a:ext>
            </a:extLst>
          </p:cNvPr>
          <p:cNvSpPr/>
          <p:nvPr/>
        </p:nvSpPr>
        <p:spPr>
          <a:xfrm>
            <a:off x="8028432" y="1572768"/>
            <a:ext cx="45720" cy="621792"/>
          </a:xfrm>
          <a:prstGeom prst="roundRect">
            <a:avLst>
              <a:gd name="adj" fmla="val 80000"/>
            </a:avLst>
          </a:prstGeom>
          <a:solidFill>
            <a:srgbClr val="0070CD"/>
          </a:solidFill>
          <a:ln w="12700">
            <a:solidFill>
              <a:srgbClr val="0070CD"/>
            </a:solidFill>
            <a:prstDash val="solid"/>
          </a:ln>
        </p:spPr>
      </p:sp>
      <p:sp>
        <p:nvSpPr>
          <p:cNvPr id="134" name="Shape 39">
            <a:extLst>
              <a:ext uri="{FF2B5EF4-FFF2-40B4-BE49-F238E27FC236}">
                <a16:creationId xmlns:a16="http://schemas.microsoft.com/office/drawing/2014/main" id="{0297AF03-1469-8C21-861F-447205A2068F}"/>
              </a:ext>
            </a:extLst>
          </p:cNvPr>
          <p:cNvSpPr/>
          <p:nvPr/>
        </p:nvSpPr>
        <p:spPr>
          <a:xfrm>
            <a:off x="8119872" y="1691640"/>
            <a:ext cx="384048" cy="292608"/>
          </a:xfrm>
          <a:prstGeom prst="rect">
            <a:avLst/>
          </a:prstGeom>
          <a:solidFill>
            <a:srgbClr val="0070CD"/>
          </a:solidFill>
          <a:ln w="12700">
            <a:solidFill>
              <a:srgbClr val="0070CD"/>
            </a:solidFill>
            <a:prstDash val="solid"/>
          </a:ln>
        </p:spPr>
      </p:sp>
      <p:sp>
        <p:nvSpPr>
          <p:cNvPr id="136" name="Text 40">
            <a:extLst>
              <a:ext uri="{FF2B5EF4-FFF2-40B4-BE49-F238E27FC236}">
                <a16:creationId xmlns:a16="http://schemas.microsoft.com/office/drawing/2014/main" id="{D2EB2310-ACA9-FDB4-74E1-9D1799B2CB7F}"/>
              </a:ext>
            </a:extLst>
          </p:cNvPr>
          <p:cNvSpPr/>
          <p:nvPr/>
        </p:nvSpPr>
        <p:spPr>
          <a:xfrm>
            <a:off x="8117663" y="1733605"/>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138" name="Text 41">
            <a:extLst>
              <a:ext uri="{FF2B5EF4-FFF2-40B4-BE49-F238E27FC236}">
                <a16:creationId xmlns:a16="http://schemas.microsoft.com/office/drawing/2014/main" id="{4E38B363-9533-55AE-E108-BC0DDD38FD85}"/>
              </a:ext>
            </a:extLst>
          </p:cNvPr>
          <p:cNvSpPr/>
          <p:nvPr/>
        </p:nvSpPr>
        <p:spPr>
          <a:xfrm>
            <a:off x="4258061" y="3081688"/>
            <a:ext cx="3547872" cy="237744"/>
          </a:xfrm>
          <a:prstGeom prst="rect">
            <a:avLst/>
          </a:prstGeom>
          <a:noFill/>
          <a:ln/>
        </p:spPr>
        <p:txBody>
          <a:bodyPr wrap="square" lIns="0" tIns="0" rIns="0" bIns="0" rtlCol="0" anchor="ctr"/>
          <a:lstStyle/>
          <a:p>
            <a:r>
              <a:rPr lang="en-US" sz="1100" b="1">
                <a:solidFill>
                  <a:srgbClr val="0D1B3E"/>
                </a:solidFill>
                <a:latin typeface="Calibri"/>
                <a:ea typeface="Calibri"/>
                <a:cs typeface="Calibri"/>
              </a:rPr>
              <a:t>AI Tools Landscape</a:t>
            </a:r>
            <a:endParaRPr lang="en-US" sz="1100" dirty="0"/>
          </a:p>
        </p:txBody>
      </p:sp>
      <p:sp>
        <p:nvSpPr>
          <p:cNvPr id="140" name="Text 42">
            <a:extLst>
              <a:ext uri="{FF2B5EF4-FFF2-40B4-BE49-F238E27FC236}">
                <a16:creationId xmlns:a16="http://schemas.microsoft.com/office/drawing/2014/main" id="{AE92C0D6-E78A-1D9B-5823-9125C6825FE2}"/>
              </a:ext>
            </a:extLst>
          </p:cNvPr>
          <p:cNvSpPr/>
          <p:nvPr/>
        </p:nvSpPr>
        <p:spPr>
          <a:xfrm>
            <a:off x="4258061" y="3328576"/>
            <a:ext cx="3547872" cy="182880"/>
          </a:xfrm>
          <a:prstGeom prst="rect">
            <a:avLst/>
          </a:prstGeom>
          <a:noFill/>
          <a:ln/>
        </p:spPr>
        <p:txBody>
          <a:bodyPr wrap="square" lIns="0" tIns="0" rIns="0" bIns="0" rtlCol="0" anchor="ctr"/>
          <a:lstStyle/>
          <a:p>
            <a:r>
              <a:rPr lang="en-US" sz="850" i="1">
                <a:solidFill>
                  <a:srgbClr val="546E7A"/>
                </a:solidFill>
                <a:latin typeface="Calibri"/>
                <a:ea typeface="Calibri"/>
                <a:cs typeface="Calibri"/>
              </a:rPr>
              <a:t>Choosing right AI tool</a:t>
            </a:r>
            <a:endParaRPr lang="en-US"/>
          </a:p>
        </p:txBody>
      </p:sp>
      <p:sp>
        <p:nvSpPr>
          <p:cNvPr id="142" name="Shape 43">
            <a:extLst>
              <a:ext uri="{FF2B5EF4-FFF2-40B4-BE49-F238E27FC236}">
                <a16:creationId xmlns:a16="http://schemas.microsoft.com/office/drawing/2014/main" id="{F9501020-1577-A535-64A0-4F276315D59E}"/>
              </a:ext>
            </a:extLst>
          </p:cNvPr>
          <p:cNvSpPr/>
          <p:nvPr/>
        </p:nvSpPr>
        <p:spPr>
          <a:xfrm>
            <a:off x="8028432" y="2276856"/>
            <a:ext cx="4206240" cy="621792"/>
          </a:xfrm>
          <a:prstGeom prst="roundRect">
            <a:avLst>
              <a:gd name="adj" fmla="val 10294"/>
            </a:avLst>
          </a:prstGeom>
          <a:solidFill>
            <a:srgbClr val="FFFFFF"/>
          </a:solidFill>
          <a:ln w="9525">
            <a:solidFill>
              <a:srgbClr val="D6E6F7"/>
            </a:solidFill>
            <a:prstDash val="solid"/>
          </a:ln>
        </p:spPr>
      </p:sp>
      <p:sp>
        <p:nvSpPr>
          <p:cNvPr id="144" name="Shape 44">
            <a:extLst>
              <a:ext uri="{FF2B5EF4-FFF2-40B4-BE49-F238E27FC236}">
                <a16:creationId xmlns:a16="http://schemas.microsoft.com/office/drawing/2014/main" id="{F4246414-CDDC-7DB4-D759-348FC9BC4D11}"/>
              </a:ext>
            </a:extLst>
          </p:cNvPr>
          <p:cNvSpPr/>
          <p:nvPr/>
        </p:nvSpPr>
        <p:spPr>
          <a:xfrm>
            <a:off x="8028432" y="2276856"/>
            <a:ext cx="45720" cy="621792"/>
          </a:xfrm>
          <a:prstGeom prst="roundRect">
            <a:avLst>
              <a:gd name="adj" fmla="val 80000"/>
            </a:avLst>
          </a:prstGeom>
          <a:solidFill>
            <a:srgbClr val="0070CD"/>
          </a:solidFill>
          <a:ln w="12700">
            <a:solidFill>
              <a:srgbClr val="0070CD"/>
            </a:solidFill>
            <a:prstDash val="solid"/>
          </a:ln>
        </p:spPr>
      </p:sp>
      <p:sp>
        <p:nvSpPr>
          <p:cNvPr id="146" name="Shape 45">
            <a:extLst>
              <a:ext uri="{FF2B5EF4-FFF2-40B4-BE49-F238E27FC236}">
                <a16:creationId xmlns:a16="http://schemas.microsoft.com/office/drawing/2014/main" id="{91E4052F-CECB-73DC-5AD7-EDA3EFFAA190}"/>
              </a:ext>
            </a:extLst>
          </p:cNvPr>
          <p:cNvSpPr/>
          <p:nvPr/>
        </p:nvSpPr>
        <p:spPr>
          <a:xfrm>
            <a:off x="8119872" y="2395728"/>
            <a:ext cx="384048" cy="292608"/>
          </a:xfrm>
          <a:prstGeom prst="rect">
            <a:avLst/>
          </a:prstGeom>
          <a:solidFill>
            <a:srgbClr val="0070CD"/>
          </a:solidFill>
          <a:ln w="12700">
            <a:solidFill>
              <a:srgbClr val="0070CD"/>
            </a:solidFill>
            <a:prstDash val="solid"/>
          </a:ln>
        </p:spPr>
      </p:sp>
      <p:sp>
        <p:nvSpPr>
          <p:cNvPr id="148" name="Text 46">
            <a:extLst>
              <a:ext uri="{FF2B5EF4-FFF2-40B4-BE49-F238E27FC236}">
                <a16:creationId xmlns:a16="http://schemas.microsoft.com/office/drawing/2014/main" id="{FF094670-E4C6-3831-F4C3-7BCF6906BA95}"/>
              </a:ext>
            </a:extLst>
          </p:cNvPr>
          <p:cNvSpPr/>
          <p:nvPr/>
        </p:nvSpPr>
        <p:spPr>
          <a:xfrm>
            <a:off x="8117663" y="2404563"/>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154" name="Shape 49">
            <a:extLst>
              <a:ext uri="{FF2B5EF4-FFF2-40B4-BE49-F238E27FC236}">
                <a16:creationId xmlns:a16="http://schemas.microsoft.com/office/drawing/2014/main" id="{5D806E84-C79D-15EC-ECD2-4A465DD66286}"/>
              </a:ext>
            </a:extLst>
          </p:cNvPr>
          <p:cNvSpPr/>
          <p:nvPr/>
        </p:nvSpPr>
        <p:spPr>
          <a:xfrm>
            <a:off x="8028432" y="2980944"/>
            <a:ext cx="4206240" cy="621792"/>
          </a:xfrm>
          <a:prstGeom prst="roundRect">
            <a:avLst>
              <a:gd name="adj" fmla="val 10294"/>
            </a:avLst>
          </a:prstGeom>
          <a:solidFill>
            <a:srgbClr val="F4F8FF"/>
          </a:solidFill>
          <a:ln w="9525">
            <a:solidFill>
              <a:srgbClr val="D6E6F7"/>
            </a:solidFill>
            <a:prstDash val="solid"/>
          </a:ln>
        </p:spPr>
      </p:sp>
      <p:sp>
        <p:nvSpPr>
          <p:cNvPr id="156" name="Shape 50">
            <a:extLst>
              <a:ext uri="{FF2B5EF4-FFF2-40B4-BE49-F238E27FC236}">
                <a16:creationId xmlns:a16="http://schemas.microsoft.com/office/drawing/2014/main" id="{81A4AA18-EB50-243F-1BC8-E1D7224836E1}"/>
              </a:ext>
            </a:extLst>
          </p:cNvPr>
          <p:cNvSpPr/>
          <p:nvPr/>
        </p:nvSpPr>
        <p:spPr>
          <a:xfrm>
            <a:off x="8028432" y="2980944"/>
            <a:ext cx="45720" cy="621792"/>
          </a:xfrm>
          <a:prstGeom prst="roundRect">
            <a:avLst>
              <a:gd name="adj" fmla="val 80000"/>
            </a:avLst>
          </a:prstGeom>
          <a:solidFill>
            <a:srgbClr val="0070CD"/>
          </a:solidFill>
          <a:ln w="12700">
            <a:solidFill>
              <a:srgbClr val="0070CD"/>
            </a:solidFill>
            <a:prstDash val="solid"/>
          </a:ln>
        </p:spPr>
      </p:sp>
      <p:sp>
        <p:nvSpPr>
          <p:cNvPr id="158" name="Shape 51">
            <a:extLst>
              <a:ext uri="{FF2B5EF4-FFF2-40B4-BE49-F238E27FC236}">
                <a16:creationId xmlns:a16="http://schemas.microsoft.com/office/drawing/2014/main" id="{61C14F89-2705-44FE-CFE8-26DEBA5CDEE5}"/>
              </a:ext>
            </a:extLst>
          </p:cNvPr>
          <p:cNvSpPr/>
          <p:nvPr/>
        </p:nvSpPr>
        <p:spPr>
          <a:xfrm>
            <a:off x="8119872" y="3099816"/>
            <a:ext cx="384048" cy="292608"/>
          </a:xfrm>
          <a:prstGeom prst="rect">
            <a:avLst/>
          </a:prstGeom>
          <a:solidFill>
            <a:srgbClr val="0070CD"/>
          </a:solidFill>
          <a:ln w="12700">
            <a:solidFill>
              <a:srgbClr val="0070CD"/>
            </a:solidFill>
            <a:prstDash val="solid"/>
          </a:ln>
        </p:spPr>
      </p:sp>
      <p:sp>
        <p:nvSpPr>
          <p:cNvPr id="160" name="Text 52">
            <a:extLst>
              <a:ext uri="{FF2B5EF4-FFF2-40B4-BE49-F238E27FC236}">
                <a16:creationId xmlns:a16="http://schemas.microsoft.com/office/drawing/2014/main" id="{CA5743CB-0294-E8BF-A53A-083C3F8C8076}"/>
              </a:ext>
            </a:extLst>
          </p:cNvPr>
          <p:cNvSpPr/>
          <p:nvPr/>
        </p:nvSpPr>
        <p:spPr>
          <a:xfrm>
            <a:off x="8117663" y="3119694"/>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166" name="Shape 55">
            <a:extLst>
              <a:ext uri="{FF2B5EF4-FFF2-40B4-BE49-F238E27FC236}">
                <a16:creationId xmlns:a16="http://schemas.microsoft.com/office/drawing/2014/main" id="{7FC448F0-3C16-DD83-478B-0FF74A9F0B5A}"/>
              </a:ext>
            </a:extLst>
          </p:cNvPr>
          <p:cNvSpPr/>
          <p:nvPr/>
        </p:nvSpPr>
        <p:spPr>
          <a:xfrm>
            <a:off x="8028432" y="3685032"/>
            <a:ext cx="4206240" cy="621792"/>
          </a:xfrm>
          <a:prstGeom prst="roundRect">
            <a:avLst>
              <a:gd name="adj" fmla="val 10294"/>
            </a:avLst>
          </a:prstGeom>
          <a:solidFill>
            <a:srgbClr val="FFFFFF"/>
          </a:solidFill>
          <a:ln w="9525">
            <a:solidFill>
              <a:srgbClr val="D6E6F7"/>
            </a:solidFill>
            <a:prstDash val="solid"/>
          </a:ln>
        </p:spPr>
      </p:sp>
      <p:sp>
        <p:nvSpPr>
          <p:cNvPr id="168" name="Shape 56">
            <a:extLst>
              <a:ext uri="{FF2B5EF4-FFF2-40B4-BE49-F238E27FC236}">
                <a16:creationId xmlns:a16="http://schemas.microsoft.com/office/drawing/2014/main" id="{8B16E393-070E-50E1-BB87-F4A13B5B1A94}"/>
              </a:ext>
            </a:extLst>
          </p:cNvPr>
          <p:cNvSpPr/>
          <p:nvPr/>
        </p:nvSpPr>
        <p:spPr>
          <a:xfrm>
            <a:off x="8028432" y="3685032"/>
            <a:ext cx="45720" cy="621792"/>
          </a:xfrm>
          <a:prstGeom prst="roundRect">
            <a:avLst>
              <a:gd name="adj" fmla="val 80000"/>
            </a:avLst>
          </a:prstGeom>
          <a:solidFill>
            <a:srgbClr val="0070CD"/>
          </a:solidFill>
          <a:ln w="12700">
            <a:solidFill>
              <a:srgbClr val="0070CD"/>
            </a:solidFill>
            <a:prstDash val="solid"/>
          </a:ln>
        </p:spPr>
      </p:sp>
      <p:sp>
        <p:nvSpPr>
          <p:cNvPr id="170" name="Shape 57">
            <a:extLst>
              <a:ext uri="{FF2B5EF4-FFF2-40B4-BE49-F238E27FC236}">
                <a16:creationId xmlns:a16="http://schemas.microsoft.com/office/drawing/2014/main" id="{4F2FF62E-03E3-B5F8-E513-08BA7DB97040}"/>
              </a:ext>
            </a:extLst>
          </p:cNvPr>
          <p:cNvSpPr/>
          <p:nvPr/>
        </p:nvSpPr>
        <p:spPr>
          <a:xfrm>
            <a:off x="8119872" y="3803904"/>
            <a:ext cx="384048" cy="292608"/>
          </a:xfrm>
          <a:prstGeom prst="rect">
            <a:avLst/>
          </a:prstGeom>
          <a:solidFill>
            <a:srgbClr val="0070CD"/>
          </a:solidFill>
          <a:ln w="12700">
            <a:solidFill>
              <a:srgbClr val="0070CD"/>
            </a:solidFill>
            <a:prstDash val="solid"/>
          </a:ln>
        </p:spPr>
      </p:sp>
      <p:sp>
        <p:nvSpPr>
          <p:cNvPr id="172" name="Text 58">
            <a:extLst>
              <a:ext uri="{FF2B5EF4-FFF2-40B4-BE49-F238E27FC236}">
                <a16:creationId xmlns:a16="http://schemas.microsoft.com/office/drawing/2014/main" id="{BFB71A69-1F37-C590-1389-CA5ED174FC0C}"/>
              </a:ext>
            </a:extLst>
          </p:cNvPr>
          <p:cNvSpPr/>
          <p:nvPr/>
        </p:nvSpPr>
        <p:spPr>
          <a:xfrm>
            <a:off x="8117663" y="3856913"/>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178" name="Shape 61">
            <a:extLst>
              <a:ext uri="{FF2B5EF4-FFF2-40B4-BE49-F238E27FC236}">
                <a16:creationId xmlns:a16="http://schemas.microsoft.com/office/drawing/2014/main" id="{DA7714A6-E8A6-BDE0-0BB4-AE8BC32249F7}"/>
              </a:ext>
            </a:extLst>
          </p:cNvPr>
          <p:cNvSpPr/>
          <p:nvPr/>
        </p:nvSpPr>
        <p:spPr>
          <a:xfrm>
            <a:off x="8028432" y="4389120"/>
            <a:ext cx="4206240" cy="621792"/>
          </a:xfrm>
          <a:prstGeom prst="roundRect">
            <a:avLst>
              <a:gd name="adj" fmla="val 10294"/>
            </a:avLst>
          </a:prstGeom>
          <a:solidFill>
            <a:srgbClr val="F4F8FF"/>
          </a:solidFill>
          <a:ln w="9525">
            <a:solidFill>
              <a:srgbClr val="D6E6F7"/>
            </a:solidFill>
            <a:prstDash val="solid"/>
          </a:ln>
        </p:spPr>
      </p:sp>
      <p:sp>
        <p:nvSpPr>
          <p:cNvPr id="180" name="Shape 62">
            <a:extLst>
              <a:ext uri="{FF2B5EF4-FFF2-40B4-BE49-F238E27FC236}">
                <a16:creationId xmlns:a16="http://schemas.microsoft.com/office/drawing/2014/main" id="{C3CF705D-C03E-7774-1EEE-6A895139C57F}"/>
              </a:ext>
            </a:extLst>
          </p:cNvPr>
          <p:cNvSpPr/>
          <p:nvPr/>
        </p:nvSpPr>
        <p:spPr>
          <a:xfrm>
            <a:off x="8028432" y="4389120"/>
            <a:ext cx="45720" cy="621792"/>
          </a:xfrm>
          <a:prstGeom prst="roundRect">
            <a:avLst>
              <a:gd name="adj" fmla="val 80000"/>
            </a:avLst>
          </a:prstGeom>
          <a:solidFill>
            <a:srgbClr val="0070CD"/>
          </a:solidFill>
          <a:ln w="12700">
            <a:solidFill>
              <a:srgbClr val="0070CD"/>
            </a:solidFill>
            <a:prstDash val="solid"/>
          </a:ln>
        </p:spPr>
      </p:sp>
      <p:sp>
        <p:nvSpPr>
          <p:cNvPr id="182" name="Shape 63">
            <a:extLst>
              <a:ext uri="{FF2B5EF4-FFF2-40B4-BE49-F238E27FC236}">
                <a16:creationId xmlns:a16="http://schemas.microsoft.com/office/drawing/2014/main" id="{244A8757-E3E8-8A54-8169-75FDB18070B0}"/>
              </a:ext>
            </a:extLst>
          </p:cNvPr>
          <p:cNvSpPr/>
          <p:nvPr/>
        </p:nvSpPr>
        <p:spPr>
          <a:xfrm>
            <a:off x="8119872" y="4507992"/>
            <a:ext cx="384048" cy="292608"/>
          </a:xfrm>
          <a:prstGeom prst="rect">
            <a:avLst/>
          </a:prstGeom>
          <a:solidFill>
            <a:srgbClr val="0070CD"/>
          </a:solidFill>
          <a:ln w="12700">
            <a:solidFill>
              <a:srgbClr val="0070CD"/>
            </a:solidFill>
            <a:prstDash val="solid"/>
          </a:ln>
        </p:spPr>
      </p:sp>
      <p:sp>
        <p:nvSpPr>
          <p:cNvPr id="184" name="Text 64">
            <a:extLst>
              <a:ext uri="{FF2B5EF4-FFF2-40B4-BE49-F238E27FC236}">
                <a16:creationId xmlns:a16="http://schemas.microsoft.com/office/drawing/2014/main" id="{03B1FD1B-71E8-2408-328B-67C54D5B5ED6}"/>
              </a:ext>
            </a:extLst>
          </p:cNvPr>
          <p:cNvSpPr/>
          <p:nvPr/>
        </p:nvSpPr>
        <p:spPr>
          <a:xfrm>
            <a:off x="8117663" y="4505783"/>
            <a:ext cx="38404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186" name="Text 65">
            <a:extLst>
              <a:ext uri="{FF2B5EF4-FFF2-40B4-BE49-F238E27FC236}">
                <a16:creationId xmlns:a16="http://schemas.microsoft.com/office/drawing/2014/main" id="{E4FD9C59-4BDB-570B-D024-9EA3EF3D6BD3}"/>
              </a:ext>
            </a:extLst>
          </p:cNvPr>
          <p:cNvSpPr/>
          <p:nvPr/>
        </p:nvSpPr>
        <p:spPr>
          <a:xfrm>
            <a:off x="8595360" y="4443984"/>
            <a:ext cx="3547872" cy="237744"/>
          </a:xfrm>
          <a:prstGeom prst="rect">
            <a:avLst/>
          </a:prstGeom>
          <a:noFill/>
          <a:ln/>
        </p:spPr>
        <p:txBody>
          <a:bodyPr wrap="square" lIns="0" tIns="0" rIns="0" bIns="0"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Avoiding Common Pitfalls</a:t>
            </a:r>
            <a:endParaRPr lang="en-US" sz="1100" dirty="0"/>
          </a:p>
        </p:txBody>
      </p:sp>
      <p:sp>
        <p:nvSpPr>
          <p:cNvPr id="188" name="Text 66">
            <a:extLst>
              <a:ext uri="{FF2B5EF4-FFF2-40B4-BE49-F238E27FC236}">
                <a16:creationId xmlns:a16="http://schemas.microsoft.com/office/drawing/2014/main" id="{D1EEA719-DAE1-58C6-4758-FC27FC1B4A44}"/>
              </a:ext>
            </a:extLst>
          </p:cNvPr>
          <p:cNvSpPr/>
          <p:nvPr/>
        </p:nvSpPr>
        <p:spPr>
          <a:xfrm>
            <a:off x="8595360" y="4690872"/>
            <a:ext cx="3547872" cy="182880"/>
          </a:xfrm>
          <a:prstGeom prst="rect">
            <a:avLst/>
          </a:prstGeom>
          <a:noFill/>
          <a:ln/>
        </p:spPr>
        <p:txBody>
          <a:bodyPr wrap="square" lIns="0" tIns="0" rIns="0" bIns="0" rtlCol="0" anchor="ctr"/>
          <a:lstStyle/>
          <a:p>
            <a:pPr marL="0" indent="0">
              <a:buNone/>
            </a:pPr>
            <a:r>
              <a:rPr lang="en-US" sz="850" i="1" dirty="0">
                <a:solidFill>
                  <a:srgbClr val="546E7A"/>
                </a:solidFill>
                <a:latin typeface="Calibri" pitchFamily="34" charset="0"/>
                <a:ea typeface="Calibri" pitchFamily="34" charset="-122"/>
                <a:cs typeface="Calibri" pitchFamily="34" charset="-120"/>
              </a:rPr>
              <a:t>Data privacy, verification, bias awareness &amp; best practices</a:t>
            </a:r>
            <a:endParaRPr lang="en-US" sz="850" dirty="0"/>
          </a:p>
        </p:txBody>
      </p:sp>
      <p:sp>
        <p:nvSpPr>
          <p:cNvPr id="194" name="Shape 69">
            <a:extLst>
              <a:ext uri="{FF2B5EF4-FFF2-40B4-BE49-F238E27FC236}">
                <a16:creationId xmlns:a16="http://schemas.microsoft.com/office/drawing/2014/main" id="{B3F6DDBA-9664-FB7C-8184-DD7F1101B34E}"/>
              </a:ext>
            </a:extLst>
          </p:cNvPr>
          <p:cNvSpPr/>
          <p:nvPr/>
        </p:nvSpPr>
        <p:spPr>
          <a:xfrm>
            <a:off x="7882128" y="1572768"/>
            <a:ext cx="9144" cy="3520440"/>
          </a:xfrm>
          <a:prstGeom prst="rect">
            <a:avLst/>
          </a:prstGeom>
          <a:solidFill>
            <a:srgbClr val="D6E6F7"/>
          </a:solidFill>
          <a:ln w="12700">
            <a:solidFill>
              <a:srgbClr val="D6E6F7"/>
            </a:solidFill>
            <a:prstDash val="solid"/>
          </a:ln>
        </p:spPr>
      </p:sp>
      <p:sp>
        <p:nvSpPr>
          <p:cNvPr id="7" name="Text 23">
            <a:extLst>
              <a:ext uri="{FF2B5EF4-FFF2-40B4-BE49-F238E27FC236}">
                <a16:creationId xmlns:a16="http://schemas.microsoft.com/office/drawing/2014/main" id="{2BA31A49-506C-078D-69DC-63FF05A1A9A6}"/>
              </a:ext>
            </a:extLst>
          </p:cNvPr>
          <p:cNvSpPr/>
          <p:nvPr/>
        </p:nvSpPr>
        <p:spPr>
          <a:xfrm>
            <a:off x="4259049" y="3845409"/>
            <a:ext cx="3547872" cy="237744"/>
          </a:xfrm>
          <a:prstGeom prst="rect">
            <a:avLst/>
          </a:prstGeom>
          <a:noFill/>
          <a:ln/>
        </p:spPr>
        <p:txBody>
          <a:bodyPr wrap="square" lIns="0" tIns="0" rIns="0" bIns="0" rtlCol="0" anchor="ctr"/>
          <a:lstStyle/>
          <a:p>
            <a:r>
              <a:rPr lang="en-US" sz="1100" b="1">
                <a:solidFill>
                  <a:srgbClr val="0D1B3E"/>
                </a:solidFill>
                <a:latin typeface="Calibri"/>
                <a:ea typeface="Calibri"/>
                <a:cs typeface="Calibri"/>
              </a:rPr>
              <a:t>Why Claude for analytics?</a:t>
            </a:r>
            <a:endParaRPr lang="en-US" sz="1100" dirty="0"/>
          </a:p>
        </p:txBody>
      </p:sp>
      <p:sp>
        <p:nvSpPr>
          <p:cNvPr id="9" name="Text 47">
            <a:extLst>
              <a:ext uri="{FF2B5EF4-FFF2-40B4-BE49-F238E27FC236}">
                <a16:creationId xmlns:a16="http://schemas.microsoft.com/office/drawing/2014/main" id="{A6EFD9D8-50DB-A709-961C-3A20AEC79357}"/>
              </a:ext>
            </a:extLst>
          </p:cNvPr>
          <p:cNvSpPr/>
          <p:nvPr/>
        </p:nvSpPr>
        <p:spPr>
          <a:xfrm>
            <a:off x="8636549" y="3773342"/>
            <a:ext cx="3547872" cy="23774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1B3E"/>
                </a:solidFill>
                <a:latin typeface="Calibri" pitchFamily="34" charset="0"/>
                <a:ea typeface="Calibri" pitchFamily="34" charset="-122"/>
                <a:cs typeface="Calibri" pitchFamily="34" charset="-120"/>
              </a:rPr>
              <a:t>Skills, Memory &amp; System Prompts</a:t>
            </a:r>
            <a:endParaRPr lang="en-US" sz="1100" dirty="0"/>
          </a:p>
        </p:txBody>
      </p:sp>
      <p:sp>
        <p:nvSpPr>
          <p:cNvPr id="11" name="Text 48">
            <a:extLst>
              <a:ext uri="{FF2B5EF4-FFF2-40B4-BE49-F238E27FC236}">
                <a16:creationId xmlns:a16="http://schemas.microsoft.com/office/drawing/2014/main" id="{F2857485-345E-8A27-3EE5-EF22989224A2}"/>
              </a:ext>
            </a:extLst>
          </p:cNvPr>
          <p:cNvSpPr/>
          <p:nvPr/>
        </p:nvSpPr>
        <p:spPr>
          <a:xfrm>
            <a:off x="8636549" y="4020230"/>
            <a:ext cx="3547872" cy="18288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i="1" dirty="0">
                <a:solidFill>
                  <a:srgbClr val="546E7A"/>
                </a:solidFill>
                <a:latin typeface="Calibri" pitchFamily="34" charset="0"/>
                <a:ea typeface="Calibri" pitchFamily="34" charset="-122"/>
                <a:cs typeface="Calibri" pitchFamily="34" charset="-120"/>
              </a:rPr>
              <a:t>Encoding reusable expertise — making instructions stick</a:t>
            </a:r>
            <a:endParaRPr lang="en-US" sz="850" dirty="0"/>
          </a:p>
        </p:txBody>
      </p:sp>
      <p:sp>
        <p:nvSpPr>
          <p:cNvPr id="12" name="Text 35">
            <a:extLst>
              <a:ext uri="{FF2B5EF4-FFF2-40B4-BE49-F238E27FC236}">
                <a16:creationId xmlns:a16="http://schemas.microsoft.com/office/drawing/2014/main" id="{7C02BE28-E9AE-AF8E-16E8-1804B26EDC79}"/>
              </a:ext>
            </a:extLst>
          </p:cNvPr>
          <p:cNvSpPr/>
          <p:nvPr/>
        </p:nvSpPr>
        <p:spPr>
          <a:xfrm>
            <a:off x="8637538" y="2302146"/>
            <a:ext cx="3547872" cy="23774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1B3E"/>
                </a:solidFill>
                <a:latin typeface="Calibri" pitchFamily="34" charset="0"/>
                <a:ea typeface="Calibri" pitchFamily="34" charset="-122"/>
                <a:cs typeface="Calibri" pitchFamily="34" charset="-120"/>
              </a:rPr>
              <a:t>Context Window &amp; Token Mgmt</a:t>
            </a:r>
            <a:endParaRPr lang="en-US" sz="1100" dirty="0"/>
          </a:p>
        </p:txBody>
      </p:sp>
      <p:sp>
        <p:nvSpPr>
          <p:cNvPr id="13" name="Text 36">
            <a:extLst>
              <a:ext uri="{FF2B5EF4-FFF2-40B4-BE49-F238E27FC236}">
                <a16:creationId xmlns:a16="http://schemas.microsoft.com/office/drawing/2014/main" id="{B5602942-519C-0EE5-80F7-D6A0091901BC}"/>
              </a:ext>
            </a:extLst>
          </p:cNvPr>
          <p:cNvSpPr/>
          <p:nvPr/>
        </p:nvSpPr>
        <p:spPr>
          <a:xfrm>
            <a:off x="8637538" y="2549034"/>
            <a:ext cx="3547872" cy="18288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i="1" dirty="0">
                <a:solidFill>
                  <a:srgbClr val="546E7A"/>
                </a:solidFill>
                <a:latin typeface="Calibri" pitchFamily="34" charset="0"/>
                <a:ea typeface="Calibri" pitchFamily="34" charset="-122"/>
                <a:cs typeface="Calibri" pitchFamily="34" charset="-120"/>
              </a:rPr>
              <a:t>How Claude reads, counts, and forgets — designing around it</a:t>
            </a:r>
            <a:endParaRPr lang="en-US" sz="850" dirty="0"/>
          </a:p>
        </p:txBody>
      </p:sp>
      <p:sp>
        <p:nvSpPr>
          <p:cNvPr id="15" name="Text 29">
            <a:extLst>
              <a:ext uri="{FF2B5EF4-FFF2-40B4-BE49-F238E27FC236}">
                <a16:creationId xmlns:a16="http://schemas.microsoft.com/office/drawing/2014/main" id="{59F77813-2B53-E792-C71D-2D39A073CFFD}"/>
              </a:ext>
            </a:extLst>
          </p:cNvPr>
          <p:cNvSpPr/>
          <p:nvPr/>
        </p:nvSpPr>
        <p:spPr>
          <a:xfrm>
            <a:off x="8627240" y="1639247"/>
            <a:ext cx="3547872" cy="23774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1B3E"/>
                </a:solidFill>
                <a:latin typeface="Calibri" pitchFamily="34" charset="0"/>
                <a:ea typeface="Calibri" pitchFamily="34" charset="-122"/>
                <a:cs typeface="Calibri" pitchFamily="34" charset="-120"/>
              </a:rPr>
              <a:t>Prompt Engineering</a:t>
            </a:r>
            <a:endParaRPr lang="en-US" sz="1100" dirty="0"/>
          </a:p>
        </p:txBody>
      </p:sp>
      <p:sp>
        <p:nvSpPr>
          <p:cNvPr id="16" name="Text 30">
            <a:extLst>
              <a:ext uri="{FF2B5EF4-FFF2-40B4-BE49-F238E27FC236}">
                <a16:creationId xmlns:a16="http://schemas.microsoft.com/office/drawing/2014/main" id="{A0725235-6BBE-3075-8E22-35AF873B1CB0}"/>
              </a:ext>
            </a:extLst>
          </p:cNvPr>
          <p:cNvSpPr/>
          <p:nvPr/>
        </p:nvSpPr>
        <p:spPr>
          <a:xfrm>
            <a:off x="8627240" y="1886135"/>
            <a:ext cx="3547872" cy="18288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i="1" dirty="0">
                <a:solidFill>
                  <a:srgbClr val="546E7A"/>
                </a:solidFill>
                <a:latin typeface="Calibri" pitchFamily="34" charset="0"/>
                <a:ea typeface="Calibri" pitchFamily="34" charset="-122"/>
                <a:cs typeface="Calibri" pitchFamily="34" charset="-120"/>
              </a:rPr>
              <a:t>Techniques to get precise, consistent outputs every time</a:t>
            </a:r>
            <a:endParaRPr lang="en-US" sz="850" dirty="0"/>
          </a:p>
        </p:txBody>
      </p:sp>
      <p:sp>
        <p:nvSpPr>
          <p:cNvPr id="17" name="Text 23">
            <a:extLst>
              <a:ext uri="{FF2B5EF4-FFF2-40B4-BE49-F238E27FC236}">
                <a16:creationId xmlns:a16="http://schemas.microsoft.com/office/drawing/2014/main" id="{2CDF2B3F-6F79-1D87-002E-649D239A4D99}"/>
              </a:ext>
            </a:extLst>
          </p:cNvPr>
          <p:cNvSpPr/>
          <p:nvPr/>
        </p:nvSpPr>
        <p:spPr>
          <a:xfrm>
            <a:off x="4257106" y="4479567"/>
            <a:ext cx="3547872" cy="23774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0D1B3E"/>
                </a:solidFill>
                <a:latin typeface="Calibri" pitchFamily="34" charset="0"/>
                <a:ea typeface="Calibri" pitchFamily="34" charset="-122"/>
                <a:cs typeface="Calibri" pitchFamily="34" charset="-120"/>
              </a:rPr>
              <a:t>Claude Models &amp; the API</a:t>
            </a:r>
            <a:endParaRPr lang="en-US" sz="1100" dirty="0"/>
          </a:p>
        </p:txBody>
      </p:sp>
      <p:sp>
        <p:nvSpPr>
          <p:cNvPr id="19" name="Text 24">
            <a:extLst>
              <a:ext uri="{FF2B5EF4-FFF2-40B4-BE49-F238E27FC236}">
                <a16:creationId xmlns:a16="http://schemas.microsoft.com/office/drawing/2014/main" id="{80B68AFE-CCA3-6E1E-DE0D-B682D96A5D15}"/>
              </a:ext>
            </a:extLst>
          </p:cNvPr>
          <p:cNvSpPr/>
          <p:nvPr/>
        </p:nvSpPr>
        <p:spPr>
          <a:xfrm>
            <a:off x="4257106" y="4726455"/>
            <a:ext cx="3547872" cy="18288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850" i="1" dirty="0">
                <a:solidFill>
                  <a:srgbClr val="546E7A"/>
                </a:solidFill>
                <a:latin typeface="Calibri" pitchFamily="34" charset="0"/>
                <a:ea typeface="Calibri" pitchFamily="34" charset="-122"/>
                <a:cs typeface="Calibri" pitchFamily="34" charset="-120"/>
              </a:rPr>
              <a:t>Opus, Sonnet, Haiku — what to pick and how to access them</a:t>
            </a:r>
            <a:endParaRPr lang="en-US" sz="850" dirty="0"/>
          </a:p>
        </p:txBody>
      </p:sp>
      <p:sp>
        <p:nvSpPr>
          <p:cNvPr id="20" name="Text 35">
            <a:extLst>
              <a:ext uri="{FF2B5EF4-FFF2-40B4-BE49-F238E27FC236}">
                <a16:creationId xmlns:a16="http://schemas.microsoft.com/office/drawing/2014/main" id="{3BEA0433-5D37-85EF-7ACB-C28294EFEB28}"/>
              </a:ext>
            </a:extLst>
          </p:cNvPr>
          <p:cNvSpPr/>
          <p:nvPr/>
        </p:nvSpPr>
        <p:spPr>
          <a:xfrm>
            <a:off x="8647835" y="3053849"/>
            <a:ext cx="3547872" cy="23774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b="1">
                <a:solidFill>
                  <a:srgbClr val="0D1B3E"/>
                </a:solidFill>
                <a:latin typeface="Calibri"/>
                <a:ea typeface="Calibri"/>
                <a:cs typeface="Calibri"/>
              </a:rPr>
              <a:t>Temperature, Top P &amp; Sampling Controls</a:t>
            </a:r>
            <a:endParaRPr lang="en-US" sz="1100" dirty="0"/>
          </a:p>
        </p:txBody>
      </p:sp>
      <p:sp>
        <p:nvSpPr>
          <p:cNvPr id="21" name="Text 36">
            <a:extLst>
              <a:ext uri="{FF2B5EF4-FFF2-40B4-BE49-F238E27FC236}">
                <a16:creationId xmlns:a16="http://schemas.microsoft.com/office/drawing/2014/main" id="{02B92C8F-3831-A31E-7AB4-5C924A1D56AD}"/>
              </a:ext>
            </a:extLst>
          </p:cNvPr>
          <p:cNvSpPr/>
          <p:nvPr/>
        </p:nvSpPr>
        <p:spPr>
          <a:xfrm>
            <a:off x="8647835" y="3300737"/>
            <a:ext cx="3547872" cy="182880"/>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50" i="1">
                <a:solidFill>
                  <a:srgbClr val="546E7A"/>
                </a:solidFill>
                <a:ea typeface="+mn-lt"/>
                <a:cs typeface="+mn-lt"/>
              </a:rPr>
              <a:t>The parameters that determine how Claude generates its output — and when to change them </a:t>
            </a:r>
            <a:endParaRPr lang="en-US" i="1"/>
          </a:p>
        </p:txBody>
      </p:sp>
      <p:sp>
        <p:nvSpPr>
          <p:cNvPr id="3" name="Text 41">
            <a:extLst>
              <a:ext uri="{FF2B5EF4-FFF2-40B4-BE49-F238E27FC236}">
                <a16:creationId xmlns:a16="http://schemas.microsoft.com/office/drawing/2014/main" id="{677FDF56-5EDB-1901-C85B-9DAAB1358058}"/>
              </a:ext>
            </a:extLst>
          </p:cNvPr>
          <p:cNvSpPr/>
          <p:nvPr/>
        </p:nvSpPr>
        <p:spPr>
          <a:xfrm>
            <a:off x="4258060" y="2362820"/>
            <a:ext cx="3547872" cy="237744"/>
          </a:xfrm>
          <a:prstGeom prst="rect">
            <a:avLst/>
          </a:prstGeom>
          <a:noFill/>
          <a:ln/>
        </p:spPr>
        <p:txBody>
          <a:bodyPr wrap="square" lIns="0" tIns="0" rIns="0" bIns="0" rtlCol="0" anchor="ctr"/>
          <a:lstStyle/>
          <a:p>
            <a:r>
              <a:rPr lang="en-US" sz="1100" b="1" dirty="0">
                <a:solidFill>
                  <a:srgbClr val="0D1B3E"/>
                </a:solidFill>
                <a:latin typeface="Calibri"/>
                <a:ea typeface="Calibri"/>
                <a:cs typeface="Calibri"/>
              </a:rPr>
              <a:t>Daily </a:t>
            </a:r>
            <a:r>
              <a:rPr lang="en-US" sz="1100" b="1">
                <a:solidFill>
                  <a:srgbClr val="0D1B3E"/>
                </a:solidFill>
                <a:latin typeface="Calibri"/>
                <a:ea typeface="Calibri"/>
                <a:cs typeface="Calibri"/>
              </a:rPr>
              <a:t>Use cases</a:t>
            </a:r>
            <a:endParaRPr lang="en-US"/>
          </a:p>
        </p:txBody>
      </p:sp>
      <p:sp>
        <p:nvSpPr>
          <p:cNvPr id="5" name="Text 42">
            <a:extLst>
              <a:ext uri="{FF2B5EF4-FFF2-40B4-BE49-F238E27FC236}">
                <a16:creationId xmlns:a16="http://schemas.microsoft.com/office/drawing/2014/main" id="{A63FB152-D256-D707-05E4-FCB03C657634}"/>
              </a:ext>
            </a:extLst>
          </p:cNvPr>
          <p:cNvSpPr/>
          <p:nvPr/>
        </p:nvSpPr>
        <p:spPr>
          <a:xfrm>
            <a:off x="4258060" y="2609708"/>
            <a:ext cx="3547872" cy="182880"/>
          </a:xfrm>
          <a:prstGeom prst="rect">
            <a:avLst/>
          </a:prstGeom>
          <a:noFill/>
          <a:ln/>
        </p:spPr>
        <p:txBody>
          <a:bodyPr wrap="square" lIns="0" tIns="0" rIns="0" bIns="0" rtlCol="0" anchor="ctr"/>
          <a:lstStyle/>
          <a:p>
            <a:r>
              <a:rPr lang="en-US" sz="850" i="1">
                <a:solidFill>
                  <a:srgbClr val="546E7A"/>
                </a:solidFill>
                <a:latin typeface="Calibri"/>
                <a:ea typeface="Calibri"/>
                <a:cs typeface="Calibri"/>
              </a:rPr>
              <a:t>How can we use AI efficiently</a:t>
            </a:r>
            <a:endParaRPr lang="en-US"/>
          </a:p>
        </p:txBody>
      </p:sp>
    </p:spTree>
    <p:extLst>
      <p:ext uri="{BB962C8B-B14F-4D97-AF65-F5344CB8AC3E}">
        <p14:creationId xmlns:p14="http://schemas.microsoft.com/office/powerpoint/2010/main" val="1715103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678DB-5953-4CBE-830F-7ECEE190DA94}"/>
            </a:ext>
          </a:extLst>
        </p:cNvPr>
        <p:cNvGrpSpPr/>
        <p:nvPr/>
      </p:nvGrpSpPr>
      <p:grpSpPr>
        <a:xfrm>
          <a:off x="0" y="0"/>
          <a:ext cx="0" cy="0"/>
          <a:chOff x="0" y="0"/>
          <a:chExt cx="0" cy="0"/>
        </a:xfrm>
      </p:grpSpPr>
      <p:pic>
        <p:nvPicPr>
          <p:cNvPr id="2" name="Image 0" descr="/home/claude/orig/ppt/media/image1.jpeg">
            <a:extLst>
              <a:ext uri="{FF2B5EF4-FFF2-40B4-BE49-F238E27FC236}">
                <a16:creationId xmlns:a16="http://schemas.microsoft.com/office/drawing/2014/main" id="{26393A12-F6C3-5F43-2CC0-29A25B711DF9}"/>
              </a:ext>
            </a:extLst>
          </p:cNvPr>
          <p:cNvPicPr>
            <a:picLocks noChangeAspect="1"/>
          </p:cNvPicPr>
          <p:nvPr/>
        </p:nvPicPr>
        <p:blipFill>
          <a:blip r:embed="rId3"/>
          <a:stretch>
            <a:fillRect/>
          </a:stretch>
        </p:blipFill>
        <p:spPr>
          <a:xfrm>
            <a:off x="0" y="0"/>
            <a:ext cx="12191695" cy="6858000"/>
          </a:xfrm>
          <a:prstGeom prst="rect">
            <a:avLst/>
          </a:prstGeom>
        </p:spPr>
      </p:pic>
      <p:sp>
        <p:nvSpPr>
          <p:cNvPr id="4" name="Text 0">
            <a:extLst>
              <a:ext uri="{FF2B5EF4-FFF2-40B4-BE49-F238E27FC236}">
                <a16:creationId xmlns:a16="http://schemas.microsoft.com/office/drawing/2014/main" id="{00AAC8AC-A17F-E637-55F5-7EC697A8F34F}"/>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E6156A3C-72EE-CF8E-62E0-7EFC028EE1E2}"/>
              </a:ext>
            </a:extLst>
          </p:cNvPr>
          <p:cNvPicPr>
            <a:picLocks noChangeAspect="1"/>
          </p:cNvPicPr>
          <p:nvPr/>
        </p:nvPicPr>
        <p:blipFill>
          <a:blip r:embed="rId4"/>
          <a:stretch>
            <a:fillRect/>
          </a:stretch>
        </p:blipFill>
        <p:spPr>
          <a:xfrm>
            <a:off x="9960940" y="103430"/>
            <a:ext cx="2040941" cy="769925"/>
          </a:xfrm>
          <a:prstGeom prst="rect">
            <a:avLst/>
          </a:prstGeom>
        </p:spPr>
      </p:pic>
      <p:sp>
        <p:nvSpPr>
          <p:cNvPr id="5" name="Text 0">
            <a:extLst>
              <a:ext uri="{FF2B5EF4-FFF2-40B4-BE49-F238E27FC236}">
                <a16:creationId xmlns:a16="http://schemas.microsoft.com/office/drawing/2014/main" id="{E3AC0F51-734D-0185-0435-DB21FAF45C1A}"/>
              </a:ext>
            </a:extLst>
          </p:cNvPr>
          <p:cNvSpPr/>
          <p:nvPr/>
        </p:nvSpPr>
        <p:spPr>
          <a:xfrm>
            <a:off x="438811" y="-181420"/>
            <a:ext cx="7537550" cy="1337310"/>
          </a:xfrm>
          <a:prstGeom prst="rect">
            <a:avLst/>
          </a:prstGeom>
        </p:spPr>
        <p:txBody>
          <a:bodyPr vert="horz"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90000"/>
              </a:lnSpc>
              <a:spcBef>
                <a:spcPct val="0"/>
              </a:spcBef>
              <a:spcAft>
                <a:spcPts val="600"/>
              </a:spcAft>
            </a:pPr>
            <a:endParaRPr lang="en-US" sz="2900" b="1">
              <a:solidFill>
                <a:schemeClr val="tx2">
                  <a:lumMod val="76000"/>
                  <a:lumOff val="24000"/>
                </a:schemeClr>
              </a:solidFill>
              <a:latin typeface="+mj-lt"/>
              <a:ea typeface="+mj-ea"/>
              <a:cs typeface="+mj-cs"/>
            </a:endParaRPr>
          </a:p>
        </p:txBody>
      </p:sp>
      <p:sp>
        <p:nvSpPr>
          <p:cNvPr id="7" name="Text 2">
            <a:extLst>
              <a:ext uri="{FF2B5EF4-FFF2-40B4-BE49-F238E27FC236}">
                <a16:creationId xmlns:a16="http://schemas.microsoft.com/office/drawing/2014/main" id="{E74DB082-7EFE-2E74-91CD-AD0F69F139AE}"/>
              </a:ext>
            </a:extLst>
          </p:cNvPr>
          <p:cNvSpPr/>
          <p:nvPr/>
        </p:nvSpPr>
        <p:spPr>
          <a:xfrm>
            <a:off x="437170" y="254851"/>
            <a:ext cx="4863493" cy="910912"/>
          </a:xfrm>
          <a:prstGeom prst="rect">
            <a:avLst/>
          </a:prstGeom>
          <a:noFill/>
          <a:ln/>
        </p:spPr>
        <p:txBody>
          <a:bodyPr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4000"/>
              </a:lnSpc>
            </a:pPr>
            <a:r>
              <a:rPr lang="en-US" sz="2800" b="1">
                <a:solidFill>
                  <a:schemeClr val="tx2">
                    <a:lumMod val="76000"/>
                    <a:lumOff val="24000"/>
                  </a:schemeClr>
                </a:solidFill>
                <a:latin typeface="Aptos"/>
              </a:rPr>
              <a:t>Why AI?</a:t>
            </a:r>
            <a:endParaRPr lang="en-US" sz="1600">
              <a:solidFill>
                <a:schemeClr val="tx2">
                  <a:lumMod val="76000"/>
                  <a:lumOff val="24000"/>
                </a:schemeClr>
              </a:solidFill>
            </a:endParaRPr>
          </a:p>
        </p:txBody>
      </p:sp>
      <p:sp>
        <p:nvSpPr>
          <p:cNvPr id="9" name="TextBox 8">
            <a:extLst>
              <a:ext uri="{FF2B5EF4-FFF2-40B4-BE49-F238E27FC236}">
                <a16:creationId xmlns:a16="http://schemas.microsoft.com/office/drawing/2014/main" id="{38E87F44-4682-91A3-7151-61CAB63E37B8}"/>
              </a:ext>
            </a:extLst>
          </p:cNvPr>
          <p:cNvSpPr txBox="1"/>
          <p:nvPr/>
        </p:nvSpPr>
        <p:spPr>
          <a:xfrm>
            <a:off x="292354" y="626345"/>
            <a:ext cx="6096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i="1" u="none" strike="noStrike" baseline="0" dirty="0">
                <a:solidFill>
                  <a:schemeClr val="tx2">
                    <a:lumMod val="90000"/>
                    <a:lumOff val="10000"/>
                  </a:schemeClr>
                </a:solidFill>
                <a:latin typeface="Calibri"/>
              </a:rPr>
              <a:t>▸</a:t>
            </a:r>
            <a:r>
              <a:rPr lang="en-US" sz="1100" i="1">
                <a:solidFill>
                  <a:srgbClr val="2D4A6B"/>
                </a:solidFill>
                <a:latin typeface="Calibri"/>
              </a:rPr>
              <a:t>Why should we use it — and what does it change about how we work?</a:t>
            </a:r>
            <a:endParaRPr lang="en-US" sz="1100" i="1">
              <a:solidFill>
                <a:srgbClr val="2D4A6B"/>
              </a:solidFill>
              <a:latin typeface="Calibri"/>
              <a:ea typeface="Calibri"/>
              <a:cs typeface="Calibri"/>
            </a:endParaRPr>
          </a:p>
          <a:p>
            <a:pPr algn="ctr"/>
            <a:endParaRPr lang="en-US" sz="3200" i="1">
              <a:solidFill>
                <a:schemeClr val="tx2">
                  <a:lumMod val="90000"/>
                  <a:lumOff val="10000"/>
                </a:schemeClr>
              </a:solidFill>
            </a:endParaRPr>
          </a:p>
        </p:txBody>
      </p:sp>
      <p:sp>
        <p:nvSpPr>
          <p:cNvPr id="11" name="Shape 8">
            <a:extLst>
              <a:ext uri="{FF2B5EF4-FFF2-40B4-BE49-F238E27FC236}">
                <a16:creationId xmlns:a16="http://schemas.microsoft.com/office/drawing/2014/main" id="{208175C8-2C05-FC7F-69E9-2D1BFC0CE953}"/>
              </a:ext>
            </a:extLst>
          </p:cNvPr>
          <p:cNvSpPr/>
          <p:nvPr/>
        </p:nvSpPr>
        <p:spPr>
          <a:xfrm>
            <a:off x="266369" y="1034111"/>
            <a:ext cx="5486400" cy="2724912"/>
          </a:xfrm>
          <a:prstGeom prst="roundRect">
            <a:avLst>
              <a:gd name="adj" fmla="val 3356"/>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13" name="Shape 9">
            <a:extLst>
              <a:ext uri="{FF2B5EF4-FFF2-40B4-BE49-F238E27FC236}">
                <a16:creationId xmlns:a16="http://schemas.microsoft.com/office/drawing/2014/main" id="{B8344494-9053-21F2-691D-46C92516E833}"/>
              </a:ext>
            </a:extLst>
          </p:cNvPr>
          <p:cNvSpPr/>
          <p:nvPr/>
        </p:nvSpPr>
        <p:spPr>
          <a:xfrm>
            <a:off x="266369" y="1034111"/>
            <a:ext cx="5486400" cy="457200"/>
          </a:xfrm>
          <a:prstGeom prst="roundRect">
            <a:avLst>
              <a:gd name="adj" fmla="val 20000"/>
            </a:avLst>
          </a:prstGeom>
          <a:solidFill>
            <a:srgbClr val="1565C0"/>
          </a:solidFill>
          <a:ln w="12700">
            <a:solidFill>
              <a:srgbClr val="1565C0"/>
            </a:solidFill>
            <a:prstDash val="solid"/>
          </a:ln>
        </p:spPr>
      </p:sp>
      <p:sp>
        <p:nvSpPr>
          <p:cNvPr id="15" name="Text 10">
            <a:extLst>
              <a:ext uri="{FF2B5EF4-FFF2-40B4-BE49-F238E27FC236}">
                <a16:creationId xmlns:a16="http://schemas.microsoft.com/office/drawing/2014/main" id="{B9F3ABED-DF92-7C74-75E4-C602CFC68ABD}"/>
              </a:ext>
            </a:extLst>
          </p:cNvPr>
          <p:cNvSpPr/>
          <p:nvPr/>
        </p:nvSpPr>
        <p:spPr>
          <a:xfrm>
            <a:off x="430961" y="1088975"/>
            <a:ext cx="5212080" cy="34747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Before AI</a:t>
            </a:r>
            <a:endParaRPr lang="en-US" sz="1400"/>
          </a:p>
        </p:txBody>
      </p:sp>
      <p:sp>
        <p:nvSpPr>
          <p:cNvPr id="17" name="Shape 11">
            <a:extLst>
              <a:ext uri="{FF2B5EF4-FFF2-40B4-BE49-F238E27FC236}">
                <a16:creationId xmlns:a16="http://schemas.microsoft.com/office/drawing/2014/main" id="{03B7C7A9-27A0-2C85-CDA3-CE5D837EEE47}"/>
              </a:ext>
            </a:extLst>
          </p:cNvPr>
          <p:cNvSpPr/>
          <p:nvPr/>
        </p:nvSpPr>
        <p:spPr>
          <a:xfrm>
            <a:off x="467537" y="1766338"/>
            <a:ext cx="91440" cy="91440"/>
          </a:xfrm>
          <a:prstGeom prst="ellipse">
            <a:avLst/>
          </a:prstGeom>
          <a:solidFill>
            <a:srgbClr val="1565C0"/>
          </a:solidFill>
          <a:ln w="12700">
            <a:solidFill>
              <a:srgbClr val="1565C0"/>
            </a:solidFill>
            <a:prstDash val="solid"/>
          </a:ln>
        </p:spPr>
      </p:sp>
      <p:sp>
        <p:nvSpPr>
          <p:cNvPr id="19" name="Text 12">
            <a:extLst>
              <a:ext uri="{FF2B5EF4-FFF2-40B4-BE49-F238E27FC236}">
                <a16:creationId xmlns:a16="http://schemas.microsoft.com/office/drawing/2014/main" id="{55B12C99-F5BD-F8D3-6BAF-794D2080CE1A}"/>
              </a:ext>
            </a:extLst>
          </p:cNvPr>
          <p:cNvSpPr/>
          <p:nvPr/>
        </p:nvSpPr>
        <p:spPr>
          <a:xfrm>
            <a:off x="650417" y="1601039"/>
            <a:ext cx="49560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Spend 60% of time on repetitive, low-value tasks</a:t>
            </a:r>
            <a:endParaRPr lang="en-US" sz="1100"/>
          </a:p>
        </p:txBody>
      </p:sp>
      <p:sp>
        <p:nvSpPr>
          <p:cNvPr id="21" name="Shape 13">
            <a:extLst>
              <a:ext uri="{FF2B5EF4-FFF2-40B4-BE49-F238E27FC236}">
                <a16:creationId xmlns:a16="http://schemas.microsoft.com/office/drawing/2014/main" id="{4FABAAB0-8301-3DB6-891C-F3B90B66B20B}"/>
              </a:ext>
            </a:extLst>
          </p:cNvPr>
          <p:cNvSpPr/>
          <p:nvPr/>
        </p:nvSpPr>
        <p:spPr>
          <a:xfrm>
            <a:off x="467537" y="2260114"/>
            <a:ext cx="91440" cy="91440"/>
          </a:xfrm>
          <a:prstGeom prst="ellipse">
            <a:avLst/>
          </a:prstGeom>
          <a:solidFill>
            <a:srgbClr val="1565C0"/>
          </a:solidFill>
          <a:ln w="12700">
            <a:solidFill>
              <a:srgbClr val="1565C0"/>
            </a:solidFill>
            <a:prstDash val="solid"/>
          </a:ln>
        </p:spPr>
      </p:sp>
      <p:sp>
        <p:nvSpPr>
          <p:cNvPr id="23" name="Text 14">
            <a:extLst>
              <a:ext uri="{FF2B5EF4-FFF2-40B4-BE49-F238E27FC236}">
                <a16:creationId xmlns:a16="http://schemas.microsoft.com/office/drawing/2014/main" id="{23CE44C4-71F9-D17A-B87C-415EA0C3B30B}"/>
              </a:ext>
            </a:extLst>
          </p:cNvPr>
          <p:cNvSpPr/>
          <p:nvPr/>
        </p:nvSpPr>
        <p:spPr>
          <a:xfrm>
            <a:off x="650417" y="2094815"/>
            <a:ext cx="49560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Manually write every email, doc, and code snippet</a:t>
            </a:r>
            <a:endParaRPr lang="en-US" sz="1100"/>
          </a:p>
        </p:txBody>
      </p:sp>
      <p:sp>
        <p:nvSpPr>
          <p:cNvPr id="25" name="Shape 15">
            <a:extLst>
              <a:ext uri="{FF2B5EF4-FFF2-40B4-BE49-F238E27FC236}">
                <a16:creationId xmlns:a16="http://schemas.microsoft.com/office/drawing/2014/main" id="{C9D39632-C0F9-6CB6-9B22-D914F56260EA}"/>
              </a:ext>
            </a:extLst>
          </p:cNvPr>
          <p:cNvSpPr/>
          <p:nvPr/>
        </p:nvSpPr>
        <p:spPr>
          <a:xfrm>
            <a:off x="467537" y="2742846"/>
            <a:ext cx="91440" cy="91440"/>
          </a:xfrm>
          <a:prstGeom prst="ellipse">
            <a:avLst/>
          </a:prstGeom>
          <a:solidFill>
            <a:srgbClr val="1565C0"/>
          </a:solidFill>
          <a:ln w="12700">
            <a:solidFill>
              <a:srgbClr val="1565C0"/>
            </a:solidFill>
            <a:prstDash val="solid"/>
          </a:ln>
        </p:spPr>
      </p:sp>
      <p:sp>
        <p:nvSpPr>
          <p:cNvPr id="27" name="Text 16">
            <a:extLst>
              <a:ext uri="{FF2B5EF4-FFF2-40B4-BE49-F238E27FC236}">
                <a16:creationId xmlns:a16="http://schemas.microsoft.com/office/drawing/2014/main" id="{3781987D-2A06-AB4B-62C3-ABAE46FDF0D0}"/>
              </a:ext>
            </a:extLst>
          </p:cNvPr>
          <p:cNvSpPr/>
          <p:nvPr/>
        </p:nvSpPr>
        <p:spPr>
          <a:xfrm>
            <a:off x="650417" y="2588591"/>
            <a:ext cx="49560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Hours researching what AI finds in seconds</a:t>
            </a:r>
            <a:endParaRPr lang="en-US" sz="1100"/>
          </a:p>
        </p:txBody>
      </p:sp>
      <p:sp>
        <p:nvSpPr>
          <p:cNvPr id="29" name="Shape 17">
            <a:extLst>
              <a:ext uri="{FF2B5EF4-FFF2-40B4-BE49-F238E27FC236}">
                <a16:creationId xmlns:a16="http://schemas.microsoft.com/office/drawing/2014/main" id="{E8FB2774-6C64-0052-630E-D2B00F22105B}"/>
              </a:ext>
            </a:extLst>
          </p:cNvPr>
          <p:cNvSpPr/>
          <p:nvPr/>
        </p:nvSpPr>
        <p:spPr>
          <a:xfrm>
            <a:off x="467537" y="3247666"/>
            <a:ext cx="91440" cy="91440"/>
          </a:xfrm>
          <a:prstGeom prst="ellipse">
            <a:avLst/>
          </a:prstGeom>
          <a:solidFill>
            <a:srgbClr val="1565C0"/>
          </a:solidFill>
          <a:ln w="12700">
            <a:solidFill>
              <a:srgbClr val="1565C0"/>
            </a:solidFill>
            <a:prstDash val="solid"/>
          </a:ln>
        </p:spPr>
      </p:sp>
      <p:sp>
        <p:nvSpPr>
          <p:cNvPr id="31" name="Text 18">
            <a:extLst>
              <a:ext uri="{FF2B5EF4-FFF2-40B4-BE49-F238E27FC236}">
                <a16:creationId xmlns:a16="http://schemas.microsoft.com/office/drawing/2014/main" id="{944A9397-C509-CD30-3EBF-3B4BDF184CF9}"/>
              </a:ext>
            </a:extLst>
          </p:cNvPr>
          <p:cNvSpPr/>
          <p:nvPr/>
        </p:nvSpPr>
        <p:spPr>
          <a:xfrm>
            <a:off x="650417" y="3082367"/>
            <a:ext cx="49560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Limited by personal knowledge and working speed</a:t>
            </a:r>
            <a:endParaRPr lang="en-US" sz="1100"/>
          </a:p>
        </p:txBody>
      </p:sp>
      <p:sp>
        <p:nvSpPr>
          <p:cNvPr id="33" name="Shape 19">
            <a:extLst>
              <a:ext uri="{FF2B5EF4-FFF2-40B4-BE49-F238E27FC236}">
                <a16:creationId xmlns:a16="http://schemas.microsoft.com/office/drawing/2014/main" id="{035CBAA6-11FE-E646-772F-A5C76FC8F394}"/>
              </a:ext>
            </a:extLst>
          </p:cNvPr>
          <p:cNvSpPr/>
          <p:nvPr/>
        </p:nvSpPr>
        <p:spPr>
          <a:xfrm>
            <a:off x="6008801" y="1034111"/>
            <a:ext cx="5715000" cy="2724912"/>
          </a:xfrm>
          <a:prstGeom prst="roundRect">
            <a:avLst>
              <a:gd name="adj" fmla="val 3356"/>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35" name="Shape 20">
            <a:extLst>
              <a:ext uri="{FF2B5EF4-FFF2-40B4-BE49-F238E27FC236}">
                <a16:creationId xmlns:a16="http://schemas.microsoft.com/office/drawing/2014/main" id="{16B7ABF1-1FCE-85C8-F1D8-1B91F90420F8}"/>
              </a:ext>
            </a:extLst>
          </p:cNvPr>
          <p:cNvSpPr/>
          <p:nvPr/>
        </p:nvSpPr>
        <p:spPr>
          <a:xfrm>
            <a:off x="6008801" y="1034111"/>
            <a:ext cx="5715000" cy="457200"/>
          </a:xfrm>
          <a:prstGeom prst="roundRect">
            <a:avLst>
              <a:gd name="adj" fmla="val 20000"/>
            </a:avLst>
          </a:prstGeom>
          <a:solidFill>
            <a:srgbClr val="00897B"/>
          </a:solidFill>
          <a:ln w="12700">
            <a:solidFill>
              <a:srgbClr val="00897B"/>
            </a:solidFill>
            <a:prstDash val="solid"/>
          </a:ln>
        </p:spPr>
      </p:sp>
      <p:sp>
        <p:nvSpPr>
          <p:cNvPr id="37" name="Text 21">
            <a:extLst>
              <a:ext uri="{FF2B5EF4-FFF2-40B4-BE49-F238E27FC236}">
                <a16:creationId xmlns:a16="http://schemas.microsoft.com/office/drawing/2014/main" id="{F92228E6-DF93-7345-4301-8125F04C9A86}"/>
              </a:ext>
            </a:extLst>
          </p:cNvPr>
          <p:cNvSpPr/>
          <p:nvPr/>
        </p:nvSpPr>
        <p:spPr>
          <a:xfrm>
            <a:off x="6173393" y="1088975"/>
            <a:ext cx="5440680" cy="347472"/>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With AI</a:t>
            </a:r>
            <a:endParaRPr lang="en-US" sz="1400"/>
          </a:p>
        </p:txBody>
      </p:sp>
      <p:sp>
        <p:nvSpPr>
          <p:cNvPr id="39" name="Shape 22">
            <a:extLst>
              <a:ext uri="{FF2B5EF4-FFF2-40B4-BE49-F238E27FC236}">
                <a16:creationId xmlns:a16="http://schemas.microsoft.com/office/drawing/2014/main" id="{5A4A91B8-36AE-AEA1-BF35-9C9D2392A02B}"/>
              </a:ext>
            </a:extLst>
          </p:cNvPr>
          <p:cNvSpPr/>
          <p:nvPr/>
        </p:nvSpPr>
        <p:spPr>
          <a:xfrm>
            <a:off x="6209969" y="1766338"/>
            <a:ext cx="91440" cy="91440"/>
          </a:xfrm>
          <a:prstGeom prst="ellipse">
            <a:avLst/>
          </a:prstGeom>
          <a:solidFill>
            <a:srgbClr val="00897B"/>
          </a:solidFill>
          <a:ln w="12700">
            <a:solidFill>
              <a:srgbClr val="00897B"/>
            </a:solidFill>
            <a:prstDash val="solid"/>
          </a:ln>
        </p:spPr>
      </p:sp>
      <p:sp>
        <p:nvSpPr>
          <p:cNvPr id="41" name="Text 23">
            <a:extLst>
              <a:ext uri="{FF2B5EF4-FFF2-40B4-BE49-F238E27FC236}">
                <a16:creationId xmlns:a16="http://schemas.microsoft.com/office/drawing/2014/main" id="{A1B18C66-3DE8-7185-CA00-B7B5D66BCC4C}"/>
              </a:ext>
            </a:extLst>
          </p:cNvPr>
          <p:cNvSpPr/>
          <p:nvPr/>
        </p:nvSpPr>
        <p:spPr>
          <a:xfrm>
            <a:off x="6392849" y="1601039"/>
            <a:ext cx="51846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Focus entirely on strategy, creativity, and decision-making</a:t>
            </a:r>
            <a:endParaRPr lang="en-US" sz="1100"/>
          </a:p>
        </p:txBody>
      </p:sp>
      <p:sp>
        <p:nvSpPr>
          <p:cNvPr id="43" name="Shape 24">
            <a:extLst>
              <a:ext uri="{FF2B5EF4-FFF2-40B4-BE49-F238E27FC236}">
                <a16:creationId xmlns:a16="http://schemas.microsoft.com/office/drawing/2014/main" id="{635902D4-692F-4E29-71D1-1D99B4E49305}"/>
              </a:ext>
            </a:extLst>
          </p:cNvPr>
          <p:cNvSpPr/>
          <p:nvPr/>
        </p:nvSpPr>
        <p:spPr>
          <a:xfrm>
            <a:off x="6209969" y="2215940"/>
            <a:ext cx="91440" cy="91440"/>
          </a:xfrm>
          <a:prstGeom prst="ellipse">
            <a:avLst/>
          </a:prstGeom>
          <a:solidFill>
            <a:srgbClr val="00897B"/>
          </a:solidFill>
          <a:ln w="12700">
            <a:solidFill>
              <a:srgbClr val="00897B"/>
            </a:solidFill>
            <a:prstDash val="solid"/>
          </a:ln>
        </p:spPr>
      </p:sp>
      <p:sp>
        <p:nvSpPr>
          <p:cNvPr id="45" name="Text 25">
            <a:extLst>
              <a:ext uri="{FF2B5EF4-FFF2-40B4-BE49-F238E27FC236}">
                <a16:creationId xmlns:a16="http://schemas.microsoft.com/office/drawing/2014/main" id="{B309E542-4E65-2A4D-6FCC-D12C4EDCAC01}"/>
              </a:ext>
            </a:extLst>
          </p:cNvPr>
          <p:cNvSpPr/>
          <p:nvPr/>
        </p:nvSpPr>
        <p:spPr>
          <a:xfrm>
            <a:off x="6392849" y="2094815"/>
            <a:ext cx="51846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AI handles drafts and research — you add expertise and judgement</a:t>
            </a:r>
            <a:endParaRPr lang="en-US" sz="1100"/>
          </a:p>
        </p:txBody>
      </p:sp>
      <p:sp>
        <p:nvSpPr>
          <p:cNvPr id="47" name="Shape 26">
            <a:extLst>
              <a:ext uri="{FF2B5EF4-FFF2-40B4-BE49-F238E27FC236}">
                <a16:creationId xmlns:a16="http://schemas.microsoft.com/office/drawing/2014/main" id="{C14D2A2B-3080-B5FC-EE9C-E8D21D43637C}"/>
              </a:ext>
            </a:extLst>
          </p:cNvPr>
          <p:cNvSpPr/>
          <p:nvPr/>
        </p:nvSpPr>
        <p:spPr>
          <a:xfrm>
            <a:off x="6209969" y="2753890"/>
            <a:ext cx="91440" cy="91440"/>
          </a:xfrm>
          <a:prstGeom prst="ellipse">
            <a:avLst/>
          </a:prstGeom>
          <a:solidFill>
            <a:srgbClr val="00897B"/>
          </a:solidFill>
          <a:ln w="12700">
            <a:solidFill>
              <a:srgbClr val="00897B"/>
            </a:solidFill>
            <a:prstDash val="solid"/>
          </a:ln>
        </p:spPr>
      </p:sp>
      <p:sp>
        <p:nvSpPr>
          <p:cNvPr id="49" name="Text 27">
            <a:extLst>
              <a:ext uri="{FF2B5EF4-FFF2-40B4-BE49-F238E27FC236}">
                <a16:creationId xmlns:a16="http://schemas.microsoft.com/office/drawing/2014/main" id="{1680CBB1-F322-9C7B-709A-F303F3DAD466}"/>
              </a:ext>
            </a:extLst>
          </p:cNvPr>
          <p:cNvSpPr/>
          <p:nvPr/>
        </p:nvSpPr>
        <p:spPr>
          <a:xfrm>
            <a:off x="6392849" y="2588591"/>
            <a:ext cx="51846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Instant access to synthesized, reliable information</a:t>
            </a:r>
            <a:endParaRPr lang="en-US" sz="1100"/>
          </a:p>
        </p:txBody>
      </p:sp>
      <p:sp>
        <p:nvSpPr>
          <p:cNvPr id="51" name="Shape 28">
            <a:extLst>
              <a:ext uri="{FF2B5EF4-FFF2-40B4-BE49-F238E27FC236}">
                <a16:creationId xmlns:a16="http://schemas.microsoft.com/office/drawing/2014/main" id="{C6D55972-2A3A-B82F-4653-4C65F1EA46FB}"/>
              </a:ext>
            </a:extLst>
          </p:cNvPr>
          <p:cNvSpPr/>
          <p:nvPr/>
        </p:nvSpPr>
        <p:spPr>
          <a:xfrm>
            <a:off x="6209969" y="3247666"/>
            <a:ext cx="91440" cy="91440"/>
          </a:xfrm>
          <a:prstGeom prst="ellipse">
            <a:avLst/>
          </a:prstGeom>
          <a:solidFill>
            <a:srgbClr val="00897B"/>
          </a:solidFill>
          <a:ln w="12700">
            <a:solidFill>
              <a:srgbClr val="00897B"/>
            </a:solidFill>
            <a:prstDash val="solid"/>
          </a:ln>
        </p:spPr>
      </p:sp>
      <p:sp>
        <p:nvSpPr>
          <p:cNvPr id="53" name="Text 29">
            <a:extLst>
              <a:ext uri="{FF2B5EF4-FFF2-40B4-BE49-F238E27FC236}">
                <a16:creationId xmlns:a16="http://schemas.microsoft.com/office/drawing/2014/main" id="{17ED3EAC-5988-4849-9879-C5E4DE82658F}"/>
              </a:ext>
            </a:extLst>
          </p:cNvPr>
          <p:cNvSpPr/>
          <p:nvPr/>
        </p:nvSpPr>
        <p:spPr>
          <a:xfrm>
            <a:off x="6392849" y="3082367"/>
            <a:ext cx="5184648" cy="420624"/>
          </a:xfrm>
          <a:prstGeom prst="rect">
            <a:avLst/>
          </a:prstGeom>
          <a:noFill/>
          <a:ln/>
        </p:spPr>
        <p:txBody>
          <a:bodyPr wrap="square" lIns="0" tIns="0" rIns="0" bIns="0" rtlCol="0" anchor="ctr"/>
          <a:lstStyle/>
          <a:p>
            <a:pPr marL="0" indent="0">
              <a:buNone/>
            </a:pPr>
            <a:r>
              <a:rPr lang="en-US" sz="1100">
                <a:solidFill>
                  <a:srgbClr val="1A2B4C"/>
                </a:solidFill>
                <a:latin typeface="Calibri" pitchFamily="34" charset="0"/>
                <a:ea typeface="Calibri" pitchFamily="34" charset="-122"/>
                <a:cs typeface="Calibri" pitchFamily="34" charset="-120"/>
              </a:rPr>
              <a:t>Amplify your individual capabilities 10× or more</a:t>
            </a:r>
            <a:endParaRPr lang="en-US" sz="1100"/>
          </a:p>
        </p:txBody>
      </p:sp>
      <p:sp>
        <p:nvSpPr>
          <p:cNvPr id="55" name="Shape 30">
            <a:extLst>
              <a:ext uri="{FF2B5EF4-FFF2-40B4-BE49-F238E27FC236}">
                <a16:creationId xmlns:a16="http://schemas.microsoft.com/office/drawing/2014/main" id="{3B784E63-3F56-1E19-CCE9-1B77A9BA922D}"/>
              </a:ext>
            </a:extLst>
          </p:cNvPr>
          <p:cNvSpPr/>
          <p:nvPr/>
        </p:nvSpPr>
        <p:spPr>
          <a:xfrm>
            <a:off x="266369" y="3887039"/>
            <a:ext cx="11457432" cy="2340864"/>
          </a:xfrm>
          <a:prstGeom prst="roundRect">
            <a:avLst>
              <a:gd name="adj" fmla="val 3906"/>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57" name="Shape 31">
            <a:extLst>
              <a:ext uri="{FF2B5EF4-FFF2-40B4-BE49-F238E27FC236}">
                <a16:creationId xmlns:a16="http://schemas.microsoft.com/office/drawing/2014/main" id="{ECBCF1B8-AF57-B715-CC13-275A008C1B66}"/>
              </a:ext>
            </a:extLst>
          </p:cNvPr>
          <p:cNvSpPr/>
          <p:nvPr/>
        </p:nvSpPr>
        <p:spPr>
          <a:xfrm>
            <a:off x="266369" y="3887039"/>
            <a:ext cx="73152" cy="2340864"/>
          </a:xfrm>
          <a:prstGeom prst="rect">
            <a:avLst/>
          </a:prstGeom>
          <a:solidFill>
            <a:srgbClr val="0070CD"/>
          </a:solidFill>
          <a:ln w="12700">
            <a:solidFill>
              <a:srgbClr val="0070CD"/>
            </a:solidFill>
            <a:prstDash val="solid"/>
          </a:ln>
        </p:spPr>
      </p:sp>
      <p:sp>
        <p:nvSpPr>
          <p:cNvPr id="59" name="Text 32">
            <a:extLst>
              <a:ext uri="{FF2B5EF4-FFF2-40B4-BE49-F238E27FC236}">
                <a16:creationId xmlns:a16="http://schemas.microsoft.com/office/drawing/2014/main" id="{6F2B3A37-2B7A-0536-5DD0-E2725E3562CF}"/>
              </a:ext>
            </a:extLst>
          </p:cNvPr>
          <p:cNvSpPr/>
          <p:nvPr/>
        </p:nvSpPr>
        <p:spPr>
          <a:xfrm>
            <a:off x="494969" y="4033343"/>
            <a:ext cx="4572000" cy="292608"/>
          </a:xfrm>
          <a:prstGeom prst="rect">
            <a:avLst/>
          </a:prstGeom>
          <a:noFill/>
          <a:ln/>
        </p:spPr>
        <p:txBody>
          <a:bodyPr wrap="square" lIns="0" tIns="0" rIns="0" bIns="0" rtlCol="0" anchor="ctr"/>
          <a:lstStyle/>
          <a:p>
            <a:pPr marL="0" indent="0">
              <a:buNone/>
            </a:pPr>
            <a:r>
              <a:rPr lang="en-US" sz="1300" b="1">
                <a:solidFill>
                  <a:srgbClr val="0D1B3E"/>
                </a:solidFill>
                <a:latin typeface="Calibri" pitchFamily="34" charset="0"/>
                <a:ea typeface="Calibri" pitchFamily="34" charset="-122"/>
                <a:cs typeface="Calibri" pitchFamily="34" charset="-120"/>
              </a:rPr>
              <a:t>What's Possible Today?</a:t>
            </a:r>
            <a:endParaRPr lang="en-US" sz="1300"/>
          </a:p>
        </p:txBody>
      </p:sp>
      <p:sp>
        <p:nvSpPr>
          <p:cNvPr id="61" name="Shape 33">
            <a:extLst>
              <a:ext uri="{FF2B5EF4-FFF2-40B4-BE49-F238E27FC236}">
                <a16:creationId xmlns:a16="http://schemas.microsoft.com/office/drawing/2014/main" id="{BD8A0CE3-0071-CE3F-D0F8-0C89C6676C46}"/>
              </a:ext>
            </a:extLst>
          </p:cNvPr>
          <p:cNvSpPr/>
          <p:nvPr/>
        </p:nvSpPr>
        <p:spPr>
          <a:xfrm>
            <a:off x="494969" y="4399103"/>
            <a:ext cx="3547872" cy="804672"/>
          </a:xfrm>
          <a:prstGeom prst="roundRect">
            <a:avLst>
              <a:gd name="adj" fmla="val 7955"/>
            </a:avLst>
          </a:prstGeom>
          <a:solidFill>
            <a:srgbClr val="FFFFFF"/>
          </a:solidFill>
          <a:ln w="12700">
            <a:solidFill>
              <a:srgbClr val="1565C0"/>
            </a:solidFill>
            <a:prstDash val="solid"/>
          </a:ln>
          <a:effectLst>
            <a:outerShdw blurRad="38100" dist="12700" dir="8100000" algn="bl" rotWithShape="0">
              <a:srgbClr val="000000">
                <a:alpha val="6000"/>
              </a:srgbClr>
            </a:outerShdw>
          </a:effectLst>
        </p:spPr>
      </p:sp>
      <p:sp>
        <p:nvSpPr>
          <p:cNvPr id="63" name="Shape 34">
            <a:extLst>
              <a:ext uri="{FF2B5EF4-FFF2-40B4-BE49-F238E27FC236}">
                <a16:creationId xmlns:a16="http://schemas.microsoft.com/office/drawing/2014/main" id="{452144E4-D13E-DEBE-C668-A6050310218E}"/>
              </a:ext>
            </a:extLst>
          </p:cNvPr>
          <p:cNvSpPr/>
          <p:nvPr/>
        </p:nvSpPr>
        <p:spPr>
          <a:xfrm>
            <a:off x="494969" y="4399103"/>
            <a:ext cx="54864" cy="804672"/>
          </a:xfrm>
          <a:prstGeom prst="rect">
            <a:avLst/>
          </a:prstGeom>
          <a:solidFill>
            <a:srgbClr val="1565C0"/>
          </a:solidFill>
          <a:ln w="12700">
            <a:solidFill>
              <a:srgbClr val="1565C0"/>
            </a:solidFill>
            <a:prstDash val="solid"/>
          </a:ln>
        </p:spPr>
      </p:sp>
      <p:sp>
        <p:nvSpPr>
          <p:cNvPr id="65" name="Text 35">
            <a:extLst>
              <a:ext uri="{FF2B5EF4-FFF2-40B4-BE49-F238E27FC236}">
                <a16:creationId xmlns:a16="http://schemas.microsoft.com/office/drawing/2014/main" id="{8E271286-8747-9313-E842-175E0C35878E}"/>
              </a:ext>
            </a:extLst>
          </p:cNvPr>
          <p:cNvSpPr/>
          <p:nvPr/>
        </p:nvSpPr>
        <p:spPr>
          <a:xfrm>
            <a:off x="641273" y="4453967"/>
            <a:ext cx="3328416" cy="256032"/>
          </a:xfrm>
          <a:prstGeom prst="rect">
            <a:avLst/>
          </a:prstGeom>
          <a:noFill/>
          <a:ln/>
        </p:spPr>
        <p:txBody>
          <a:bodyPr wrap="square" lIns="0" tIns="0" rIns="0" bIns="0" rtlCol="0" anchor="ctr"/>
          <a:lstStyle/>
          <a:p>
            <a:pPr marL="0" indent="0">
              <a:buNone/>
            </a:pPr>
            <a:r>
              <a:rPr lang="en-US" sz="1050" b="1">
                <a:solidFill>
                  <a:srgbClr val="1565C0"/>
                </a:solidFill>
                <a:latin typeface="Calibri" pitchFamily="34" charset="0"/>
                <a:ea typeface="Calibri" pitchFamily="34" charset="-122"/>
                <a:cs typeface="Calibri" pitchFamily="34" charset="-120"/>
              </a:rPr>
              <a:t>Code Review</a:t>
            </a:r>
            <a:endParaRPr lang="en-US" sz="1050"/>
          </a:p>
        </p:txBody>
      </p:sp>
      <p:sp>
        <p:nvSpPr>
          <p:cNvPr id="67" name="Text 36">
            <a:extLst>
              <a:ext uri="{FF2B5EF4-FFF2-40B4-BE49-F238E27FC236}">
                <a16:creationId xmlns:a16="http://schemas.microsoft.com/office/drawing/2014/main" id="{BFBAA69F-EEF3-D56D-A5B9-9BB3D5042B28}"/>
              </a:ext>
            </a:extLst>
          </p:cNvPr>
          <p:cNvSpPr/>
          <p:nvPr/>
        </p:nvSpPr>
        <p:spPr>
          <a:xfrm>
            <a:off x="641273" y="4728287"/>
            <a:ext cx="3328416" cy="402336"/>
          </a:xfrm>
          <a:prstGeom prst="rect">
            <a:avLst/>
          </a:prstGeom>
          <a:noFill/>
          <a:ln/>
        </p:spPr>
        <p:txBody>
          <a:bodyPr wrap="square" lIns="0" tIns="0" rIns="0" bIns="0" rtlCol="0" anchor="ctr"/>
          <a:lstStyle/>
          <a:p>
            <a:pPr marL="0" indent="0">
              <a:buNone/>
            </a:pPr>
            <a:r>
              <a:rPr lang="en-US" sz="1000">
                <a:solidFill>
                  <a:srgbClr val="1A2B4C"/>
                </a:solidFill>
                <a:latin typeface="Calibri" pitchFamily="34" charset="0"/>
                <a:ea typeface="Calibri" pitchFamily="34" charset="-122"/>
                <a:cs typeface="Calibri" pitchFamily="34" charset="-120"/>
              </a:rPr>
              <a:t>2 hours  →  20 minutes</a:t>
            </a:r>
            <a:endParaRPr lang="en-US" sz="1000"/>
          </a:p>
        </p:txBody>
      </p:sp>
      <p:sp>
        <p:nvSpPr>
          <p:cNvPr id="70" name="Shape 37">
            <a:extLst>
              <a:ext uri="{FF2B5EF4-FFF2-40B4-BE49-F238E27FC236}">
                <a16:creationId xmlns:a16="http://schemas.microsoft.com/office/drawing/2014/main" id="{E752CD36-BD12-0354-DD9B-B94DE20DCA3E}"/>
              </a:ext>
            </a:extLst>
          </p:cNvPr>
          <p:cNvSpPr/>
          <p:nvPr/>
        </p:nvSpPr>
        <p:spPr>
          <a:xfrm>
            <a:off x="4152569" y="4399103"/>
            <a:ext cx="3547872" cy="804672"/>
          </a:xfrm>
          <a:prstGeom prst="roundRect">
            <a:avLst>
              <a:gd name="adj" fmla="val 7955"/>
            </a:avLst>
          </a:prstGeom>
          <a:solidFill>
            <a:srgbClr val="FFFFFF"/>
          </a:solidFill>
          <a:ln w="12700">
            <a:solidFill>
              <a:srgbClr val="00897B"/>
            </a:solidFill>
            <a:prstDash val="solid"/>
          </a:ln>
          <a:effectLst>
            <a:outerShdw blurRad="38100" dist="12700" dir="8100000" algn="bl" rotWithShape="0">
              <a:srgbClr val="000000">
                <a:alpha val="6000"/>
              </a:srgbClr>
            </a:outerShdw>
          </a:effectLst>
        </p:spPr>
      </p:sp>
      <p:sp>
        <p:nvSpPr>
          <p:cNvPr id="72" name="Shape 38">
            <a:extLst>
              <a:ext uri="{FF2B5EF4-FFF2-40B4-BE49-F238E27FC236}">
                <a16:creationId xmlns:a16="http://schemas.microsoft.com/office/drawing/2014/main" id="{2A30AD53-522A-C4D7-1CC6-00CB21F80599}"/>
              </a:ext>
            </a:extLst>
          </p:cNvPr>
          <p:cNvSpPr/>
          <p:nvPr/>
        </p:nvSpPr>
        <p:spPr>
          <a:xfrm>
            <a:off x="4152569" y="4399103"/>
            <a:ext cx="54864" cy="804672"/>
          </a:xfrm>
          <a:prstGeom prst="rect">
            <a:avLst/>
          </a:prstGeom>
          <a:solidFill>
            <a:srgbClr val="00897B"/>
          </a:solidFill>
          <a:ln w="12700">
            <a:solidFill>
              <a:srgbClr val="00897B"/>
            </a:solidFill>
            <a:prstDash val="solid"/>
          </a:ln>
        </p:spPr>
      </p:sp>
      <p:sp>
        <p:nvSpPr>
          <p:cNvPr id="74" name="Text 39">
            <a:extLst>
              <a:ext uri="{FF2B5EF4-FFF2-40B4-BE49-F238E27FC236}">
                <a16:creationId xmlns:a16="http://schemas.microsoft.com/office/drawing/2014/main" id="{81AED3EE-50B6-0959-AA7B-069C132B4836}"/>
              </a:ext>
            </a:extLst>
          </p:cNvPr>
          <p:cNvSpPr/>
          <p:nvPr/>
        </p:nvSpPr>
        <p:spPr>
          <a:xfrm>
            <a:off x="4298873" y="4453967"/>
            <a:ext cx="3328416" cy="256032"/>
          </a:xfrm>
          <a:prstGeom prst="rect">
            <a:avLst/>
          </a:prstGeom>
          <a:noFill/>
          <a:ln/>
        </p:spPr>
        <p:txBody>
          <a:bodyPr wrap="square" lIns="0" tIns="0" rIns="0" bIns="0" rtlCol="0" anchor="ctr"/>
          <a:lstStyle/>
          <a:p>
            <a:pPr marL="0" indent="0">
              <a:buNone/>
            </a:pPr>
            <a:r>
              <a:rPr lang="en-US" sz="1050" b="1">
                <a:solidFill>
                  <a:srgbClr val="00897B"/>
                </a:solidFill>
                <a:latin typeface="Calibri" pitchFamily="34" charset="0"/>
                <a:ea typeface="Calibri" pitchFamily="34" charset="-122"/>
                <a:cs typeface="Calibri" pitchFamily="34" charset="-120"/>
              </a:rPr>
              <a:t>Research</a:t>
            </a:r>
            <a:endParaRPr lang="en-US" sz="1050"/>
          </a:p>
        </p:txBody>
      </p:sp>
      <p:sp>
        <p:nvSpPr>
          <p:cNvPr id="76" name="Text 40">
            <a:extLst>
              <a:ext uri="{FF2B5EF4-FFF2-40B4-BE49-F238E27FC236}">
                <a16:creationId xmlns:a16="http://schemas.microsoft.com/office/drawing/2014/main" id="{241AFF56-5682-D0DF-A0FF-F8BDD670DD49}"/>
              </a:ext>
            </a:extLst>
          </p:cNvPr>
          <p:cNvSpPr/>
          <p:nvPr/>
        </p:nvSpPr>
        <p:spPr>
          <a:xfrm>
            <a:off x="4298873" y="4728287"/>
            <a:ext cx="3328416" cy="402336"/>
          </a:xfrm>
          <a:prstGeom prst="rect">
            <a:avLst/>
          </a:prstGeom>
          <a:noFill/>
          <a:ln/>
        </p:spPr>
        <p:txBody>
          <a:bodyPr wrap="square" lIns="0" tIns="0" rIns="0" bIns="0" rtlCol="0" anchor="ctr"/>
          <a:lstStyle/>
          <a:p>
            <a:pPr marL="0" indent="0">
              <a:buNone/>
            </a:pPr>
            <a:r>
              <a:rPr lang="en-US" sz="1000">
                <a:solidFill>
                  <a:srgbClr val="1A2B4C"/>
                </a:solidFill>
                <a:latin typeface="Calibri" pitchFamily="34" charset="0"/>
                <a:ea typeface="Calibri" pitchFamily="34" charset="-122"/>
                <a:cs typeface="Calibri" pitchFamily="34" charset="-120"/>
              </a:rPr>
              <a:t>1 full day  →  30 minutes</a:t>
            </a:r>
            <a:endParaRPr lang="en-US" sz="1000"/>
          </a:p>
        </p:txBody>
      </p:sp>
      <p:sp>
        <p:nvSpPr>
          <p:cNvPr id="78" name="Shape 41">
            <a:extLst>
              <a:ext uri="{FF2B5EF4-FFF2-40B4-BE49-F238E27FC236}">
                <a16:creationId xmlns:a16="http://schemas.microsoft.com/office/drawing/2014/main" id="{5A7DA7A3-B79D-75E5-6774-31FD0C769EF4}"/>
              </a:ext>
            </a:extLst>
          </p:cNvPr>
          <p:cNvSpPr/>
          <p:nvPr/>
        </p:nvSpPr>
        <p:spPr>
          <a:xfrm>
            <a:off x="7810169" y="4399103"/>
            <a:ext cx="3547872" cy="804672"/>
          </a:xfrm>
          <a:prstGeom prst="roundRect">
            <a:avLst>
              <a:gd name="adj" fmla="val 7955"/>
            </a:avLst>
          </a:prstGeom>
          <a:solidFill>
            <a:srgbClr val="FFFFFF"/>
          </a:solidFill>
          <a:ln w="12700">
            <a:solidFill>
              <a:srgbClr val="5E35B1"/>
            </a:solidFill>
            <a:prstDash val="solid"/>
          </a:ln>
          <a:effectLst>
            <a:outerShdw blurRad="38100" dist="12700" dir="8100000" algn="bl" rotWithShape="0">
              <a:srgbClr val="000000">
                <a:alpha val="6000"/>
              </a:srgbClr>
            </a:outerShdw>
          </a:effectLst>
        </p:spPr>
      </p:sp>
      <p:sp>
        <p:nvSpPr>
          <p:cNvPr id="80" name="Shape 42">
            <a:extLst>
              <a:ext uri="{FF2B5EF4-FFF2-40B4-BE49-F238E27FC236}">
                <a16:creationId xmlns:a16="http://schemas.microsoft.com/office/drawing/2014/main" id="{7CEAF1EB-844C-EA31-2F34-F6D47809A3B2}"/>
              </a:ext>
            </a:extLst>
          </p:cNvPr>
          <p:cNvSpPr/>
          <p:nvPr/>
        </p:nvSpPr>
        <p:spPr>
          <a:xfrm>
            <a:off x="7810169" y="4399103"/>
            <a:ext cx="54864" cy="804672"/>
          </a:xfrm>
          <a:prstGeom prst="rect">
            <a:avLst/>
          </a:prstGeom>
          <a:solidFill>
            <a:srgbClr val="5E35B1"/>
          </a:solidFill>
          <a:ln w="12700">
            <a:solidFill>
              <a:srgbClr val="5E35B1"/>
            </a:solidFill>
            <a:prstDash val="solid"/>
          </a:ln>
        </p:spPr>
      </p:sp>
      <p:sp>
        <p:nvSpPr>
          <p:cNvPr id="82" name="Text 43">
            <a:extLst>
              <a:ext uri="{FF2B5EF4-FFF2-40B4-BE49-F238E27FC236}">
                <a16:creationId xmlns:a16="http://schemas.microsoft.com/office/drawing/2014/main" id="{D6AF77CD-7F70-9AE4-8D75-773A6E9E0619}"/>
              </a:ext>
            </a:extLst>
          </p:cNvPr>
          <p:cNvSpPr/>
          <p:nvPr/>
        </p:nvSpPr>
        <p:spPr>
          <a:xfrm>
            <a:off x="7956473" y="4453967"/>
            <a:ext cx="3328416" cy="256032"/>
          </a:xfrm>
          <a:prstGeom prst="rect">
            <a:avLst/>
          </a:prstGeom>
          <a:noFill/>
          <a:ln/>
        </p:spPr>
        <p:txBody>
          <a:bodyPr wrap="square" lIns="0" tIns="0" rIns="0" bIns="0" rtlCol="0" anchor="ctr"/>
          <a:lstStyle/>
          <a:p>
            <a:pPr marL="0" indent="0">
              <a:buNone/>
            </a:pPr>
            <a:r>
              <a:rPr lang="en-US" sz="1050" b="1">
                <a:solidFill>
                  <a:srgbClr val="5E35B1"/>
                </a:solidFill>
                <a:latin typeface="Calibri" pitchFamily="34" charset="0"/>
                <a:ea typeface="Calibri" pitchFamily="34" charset="-122"/>
                <a:cs typeface="Calibri" pitchFamily="34" charset="-120"/>
              </a:rPr>
              <a:t>Document Analysis</a:t>
            </a:r>
            <a:endParaRPr lang="en-US" sz="1050"/>
          </a:p>
        </p:txBody>
      </p:sp>
      <p:sp>
        <p:nvSpPr>
          <p:cNvPr id="84" name="Text 44">
            <a:extLst>
              <a:ext uri="{FF2B5EF4-FFF2-40B4-BE49-F238E27FC236}">
                <a16:creationId xmlns:a16="http://schemas.microsoft.com/office/drawing/2014/main" id="{97168239-8283-394D-7E52-4A215FD1ADE7}"/>
              </a:ext>
            </a:extLst>
          </p:cNvPr>
          <p:cNvSpPr/>
          <p:nvPr/>
        </p:nvSpPr>
        <p:spPr>
          <a:xfrm>
            <a:off x="7956473" y="4728287"/>
            <a:ext cx="3328416" cy="402336"/>
          </a:xfrm>
          <a:prstGeom prst="rect">
            <a:avLst/>
          </a:prstGeom>
          <a:noFill/>
          <a:ln/>
        </p:spPr>
        <p:txBody>
          <a:bodyPr wrap="square" lIns="0" tIns="0" rIns="0" bIns="0" rtlCol="0" anchor="ctr"/>
          <a:lstStyle/>
          <a:p>
            <a:pPr marL="0" indent="0">
              <a:buNone/>
            </a:pPr>
            <a:r>
              <a:rPr lang="en-US" sz="1000">
                <a:solidFill>
                  <a:srgbClr val="1A2B4C"/>
                </a:solidFill>
                <a:latin typeface="Calibri" pitchFamily="34" charset="0"/>
                <a:ea typeface="Calibri" pitchFamily="34" charset="-122"/>
                <a:cs typeface="Calibri" pitchFamily="34" charset="-120"/>
              </a:rPr>
              <a:t>100 pages manual read  →  5 minutes</a:t>
            </a:r>
            <a:endParaRPr lang="en-US" sz="1000"/>
          </a:p>
        </p:txBody>
      </p:sp>
      <p:sp>
        <p:nvSpPr>
          <p:cNvPr id="86" name="Shape 45">
            <a:extLst>
              <a:ext uri="{FF2B5EF4-FFF2-40B4-BE49-F238E27FC236}">
                <a16:creationId xmlns:a16="http://schemas.microsoft.com/office/drawing/2014/main" id="{EAA7AEF5-7DF5-B708-5D35-6241CA4F7A63}"/>
              </a:ext>
            </a:extLst>
          </p:cNvPr>
          <p:cNvSpPr/>
          <p:nvPr/>
        </p:nvSpPr>
        <p:spPr>
          <a:xfrm>
            <a:off x="494969" y="5295215"/>
            <a:ext cx="3547872" cy="804672"/>
          </a:xfrm>
          <a:prstGeom prst="roundRect">
            <a:avLst>
              <a:gd name="adj" fmla="val 7955"/>
            </a:avLst>
          </a:prstGeom>
          <a:solidFill>
            <a:srgbClr val="FFFFFF"/>
          </a:solidFill>
          <a:ln w="12700">
            <a:solidFill>
              <a:srgbClr val="2E7D32"/>
            </a:solidFill>
            <a:prstDash val="solid"/>
          </a:ln>
          <a:effectLst>
            <a:outerShdw blurRad="38100" dist="12700" dir="8100000" algn="bl" rotWithShape="0">
              <a:srgbClr val="000000">
                <a:alpha val="6000"/>
              </a:srgbClr>
            </a:outerShdw>
          </a:effectLst>
        </p:spPr>
      </p:sp>
      <p:sp>
        <p:nvSpPr>
          <p:cNvPr id="88" name="Shape 46">
            <a:extLst>
              <a:ext uri="{FF2B5EF4-FFF2-40B4-BE49-F238E27FC236}">
                <a16:creationId xmlns:a16="http://schemas.microsoft.com/office/drawing/2014/main" id="{B1BA2B99-552A-2009-00FB-B96848C6A449}"/>
              </a:ext>
            </a:extLst>
          </p:cNvPr>
          <p:cNvSpPr/>
          <p:nvPr/>
        </p:nvSpPr>
        <p:spPr>
          <a:xfrm>
            <a:off x="494969" y="5295215"/>
            <a:ext cx="54864" cy="804672"/>
          </a:xfrm>
          <a:prstGeom prst="rect">
            <a:avLst/>
          </a:prstGeom>
          <a:solidFill>
            <a:srgbClr val="2E7D32"/>
          </a:solidFill>
          <a:ln w="12700">
            <a:solidFill>
              <a:srgbClr val="2E7D32"/>
            </a:solidFill>
            <a:prstDash val="solid"/>
          </a:ln>
        </p:spPr>
      </p:sp>
      <p:sp>
        <p:nvSpPr>
          <p:cNvPr id="90" name="Text 47">
            <a:extLst>
              <a:ext uri="{FF2B5EF4-FFF2-40B4-BE49-F238E27FC236}">
                <a16:creationId xmlns:a16="http://schemas.microsoft.com/office/drawing/2014/main" id="{4E041F17-AAB7-015D-9EBF-5E9295C413A2}"/>
              </a:ext>
            </a:extLst>
          </p:cNvPr>
          <p:cNvSpPr/>
          <p:nvPr/>
        </p:nvSpPr>
        <p:spPr>
          <a:xfrm>
            <a:off x="641273" y="5350079"/>
            <a:ext cx="3328416" cy="256032"/>
          </a:xfrm>
          <a:prstGeom prst="rect">
            <a:avLst/>
          </a:prstGeom>
          <a:noFill/>
          <a:ln/>
        </p:spPr>
        <p:txBody>
          <a:bodyPr wrap="square" lIns="0" tIns="0" rIns="0" bIns="0" rtlCol="0" anchor="ctr"/>
          <a:lstStyle/>
          <a:p>
            <a:pPr marL="0" indent="0">
              <a:buNone/>
            </a:pPr>
            <a:r>
              <a:rPr lang="en-US" sz="1050" b="1">
                <a:solidFill>
                  <a:srgbClr val="2E7D32"/>
                </a:solidFill>
                <a:latin typeface="Calibri" pitchFamily="34" charset="0"/>
                <a:ea typeface="Calibri" pitchFamily="34" charset="-122"/>
                <a:cs typeface="Calibri" pitchFamily="34" charset="-120"/>
              </a:rPr>
              <a:t>Content Creation</a:t>
            </a:r>
            <a:endParaRPr lang="en-US" sz="1050"/>
          </a:p>
        </p:txBody>
      </p:sp>
      <p:sp>
        <p:nvSpPr>
          <p:cNvPr id="92" name="Text 48">
            <a:extLst>
              <a:ext uri="{FF2B5EF4-FFF2-40B4-BE49-F238E27FC236}">
                <a16:creationId xmlns:a16="http://schemas.microsoft.com/office/drawing/2014/main" id="{B7BBE51A-6534-E5FF-A016-D74D9D0C1D18}"/>
              </a:ext>
            </a:extLst>
          </p:cNvPr>
          <p:cNvSpPr/>
          <p:nvPr/>
        </p:nvSpPr>
        <p:spPr>
          <a:xfrm>
            <a:off x="641273" y="5624399"/>
            <a:ext cx="3328416" cy="402336"/>
          </a:xfrm>
          <a:prstGeom prst="rect">
            <a:avLst/>
          </a:prstGeom>
          <a:noFill/>
          <a:ln/>
        </p:spPr>
        <p:txBody>
          <a:bodyPr wrap="square" lIns="0" tIns="0" rIns="0" bIns="0" rtlCol="0" anchor="ctr"/>
          <a:lstStyle/>
          <a:p>
            <a:pPr marL="0" indent="0">
              <a:buNone/>
            </a:pPr>
            <a:r>
              <a:rPr lang="en-US" sz="1000">
                <a:solidFill>
                  <a:srgbClr val="1A2B4C"/>
                </a:solidFill>
                <a:latin typeface="Calibri" pitchFamily="34" charset="0"/>
                <a:ea typeface="Calibri" pitchFamily="34" charset="-122"/>
                <a:cs typeface="Calibri" pitchFamily="34" charset="-120"/>
              </a:rPr>
              <a:t>4 hours  →  1 hour</a:t>
            </a:r>
            <a:endParaRPr lang="en-US" sz="1000"/>
          </a:p>
        </p:txBody>
      </p:sp>
      <p:sp>
        <p:nvSpPr>
          <p:cNvPr id="94" name="Shape 49">
            <a:extLst>
              <a:ext uri="{FF2B5EF4-FFF2-40B4-BE49-F238E27FC236}">
                <a16:creationId xmlns:a16="http://schemas.microsoft.com/office/drawing/2014/main" id="{20E03D52-84FF-F36C-7FB7-3DCFE27B0000}"/>
              </a:ext>
            </a:extLst>
          </p:cNvPr>
          <p:cNvSpPr/>
          <p:nvPr/>
        </p:nvSpPr>
        <p:spPr>
          <a:xfrm>
            <a:off x="4152569" y="5295215"/>
            <a:ext cx="3547872" cy="804672"/>
          </a:xfrm>
          <a:prstGeom prst="roundRect">
            <a:avLst>
              <a:gd name="adj" fmla="val 7955"/>
            </a:avLst>
          </a:prstGeom>
          <a:solidFill>
            <a:srgbClr val="FFFFFF"/>
          </a:solidFill>
          <a:ln w="12700">
            <a:solidFill>
              <a:srgbClr val="F57F17"/>
            </a:solidFill>
            <a:prstDash val="solid"/>
          </a:ln>
          <a:effectLst>
            <a:outerShdw blurRad="38100" dist="12700" dir="8100000" algn="bl" rotWithShape="0">
              <a:srgbClr val="000000">
                <a:alpha val="6000"/>
              </a:srgbClr>
            </a:outerShdw>
          </a:effectLst>
        </p:spPr>
      </p:sp>
      <p:sp>
        <p:nvSpPr>
          <p:cNvPr id="96" name="Shape 50">
            <a:extLst>
              <a:ext uri="{FF2B5EF4-FFF2-40B4-BE49-F238E27FC236}">
                <a16:creationId xmlns:a16="http://schemas.microsoft.com/office/drawing/2014/main" id="{BCCF18C8-42DC-F5B2-4780-FB0DFE874221}"/>
              </a:ext>
            </a:extLst>
          </p:cNvPr>
          <p:cNvSpPr/>
          <p:nvPr/>
        </p:nvSpPr>
        <p:spPr>
          <a:xfrm>
            <a:off x="4152569" y="5295215"/>
            <a:ext cx="54864" cy="804672"/>
          </a:xfrm>
          <a:prstGeom prst="rect">
            <a:avLst/>
          </a:prstGeom>
          <a:solidFill>
            <a:srgbClr val="F57F17"/>
          </a:solidFill>
          <a:ln w="12700">
            <a:solidFill>
              <a:srgbClr val="F57F17"/>
            </a:solidFill>
            <a:prstDash val="solid"/>
          </a:ln>
        </p:spPr>
      </p:sp>
      <p:sp>
        <p:nvSpPr>
          <p:cNvPr id="98" name="Text 51">
            <a:extLst>
              <a:ext uri="{FF2B5EF4-FFF2-40B4-BE49-F238E27FC236}">
                <a16:creationId xmlns:a16="http://schemas.microsoft.com/office/drawing/2014/main" id="{83A0673A-DDD3-4DDC-8161-4AD8E19EC49C}"/>
              </a:ext>
            </a:extLst>
          </p:cNvPr>
          <p:cNvSpPr/>
          <p:nvPr/>
        </p:nvSpPr>
        <p:spPr>
          <a:xfrm>
            <a:off x="4298873" y="5350079"/>
            <a:ext cx="3328416" cy="256032"/>
          </a:xfrm>
          <a:prstGeom prst="rect">
            <a:avLst/>
          </a:prstGeom>
          <a:noFill/>
          <a:ln/>
        </p:spPr>
        <p:txBody>
          <a:bodyPr wrap="square" lIns="0" tIns="0" rIns="0" bIns="0" rtlCol="0" anchor="ctr"/>
          <a:lstStyle/>
          <a:p>
            <a:pPr marL="0" indent="0">
              <a:buNone/>
            </a:pPr>
            <a:r>
              <a:rPr lang="en-US" sz="1050" b="1">
                <a:solidFill>
                  <a:srgbClr val="F57F17"/>
                </a:solidFill>
                <a:latin typeface="Calibri" pitchFamily="34" charset="0"/>
                <a:ea typeface="Calibri" pitchFamily="34" charset="-122"/>
                <a:cs typeface="Calibri" pitchFamily="34" charset="-120"/>
              </a:rPr>
              <a:t>Debugging</a:t>
            </a:r>
            <a:endParaRPr lang="en-US" sz="1050"/>
          </a:p>
        </p:txBody>
      </p:sp>
      <p:sp>
        <p:nvSpPr>
          <p:cNvPr id="100" name="Text 52">
            <a:extLst>
              <a:ext uri="{FF2B5EF4-FFF2-40B4-BE49-F238E27FC236}">
                <a16:creationId xmlns:a16="http://schemas.microsoft.com/office/drawing/2014/main" id="{3E619B9D-306F-D86C-0570-8611BE4861BD}"/>
              </a:ext>
            </a:extLst>
          </p:cNvPr>
          <p:cNvSpPr/>
          <p:nvPr/>
        </p:nvSpPr>
        <p:spPr>
          <a:xfrm>
            <a:off x="4298873" y="5624399"/>
            <a:ext cx="3328416" cy="402336"/>
          </a:xfrm>
          <a:prstGeom prst="rect">
            <a:avLst/>
          </a:prstGeom>
          <a:noFill/>
          <a:ln/>
        </p:spPr>
        <p:txBody>
          <a:bodyPr wrap="square" lIns="0" tIns="0" rIns="0" bIns="0" rtlCol="0" anchor="ctr"/>
          <a:lstStyle/>
          <a:p>
            <a:pPr marL="0" indent="0">
              <a:buNone/>
            </a:pPr>
            <a:r>
              <a:rPr lang="en-US" sz="1000">
                <a:solidFill>
                  <a:srgbClr val="1A2B4C"/>
                </a:solidFill>
                <a:latin typeface="Calibri"/>
                <a:ea typeface="Calibri"/>
                <a:cs typeface="Calibri"/>
              </a:rPr>
              <a:t>Hours hunting root cause  →  Instantly</a:t>
            </a:r>
            <a:endParaRPr lang="en-US" sz="1000">
              <a:latin typeface="Calibri"/>
              <a:ea typeface="Calibri"/>
              <a:cs typeface="Calibri"/>
            </a:endParaRPr>
          </a:p>
        </p:txBody>
      </p:sp>
      <p:sp>
        <p:nvSpPr>
          <p:cNvPr id="102" name="Shape 53">
            <a:extLst>
              <a:ext uri="{FF2B5EF4-FFF2-40B4-BE49-F238E27FC236}">
                <a16:creationId xmlns:a16="http://schemas.microsoft.com/office/drawing/2014/main" id="{90C76203-F67B-1EF9-D05E-24C2F836CCF9}"/>
              </a:ext>
            </a:extLst>
          </p:cNvPr>
          <p:cNvSpPr/>
          <p:nvPr/>
        </p:nvSpPr>
        <p:spPr>
          <a:xfrm>
            <a:off x="7810169" y="5295215"/>
            <a:ext cx="3547872" cy="804672"/>
          </a:xfrm>
          <a:prstGeom prst="roundRect">
            <a:avLst>
              <a:gd name="adj" fmla="val 7955"/>
            </a:avLst>
          </a:prstGeom>
          <a:solidFill>
            <a:srgbClr val="FFFFFF"/>
          </a:solidFill>
          <a:ln w="12700">
            <a:solidFill>
              <a:srgbClr val="C62828"/>
            </a:solidFill>
            <a:prstDash val="solid"/>
          </a:ln>
          <a:effectLst>
            <a:outerShdw blurRad="38100" dist="12700" dir="8100000" algn="bl" rotWithShape="0">
              <a:srgbClr val="000000">
                <a:alpha val="6000"/>
              </a:srgbClr>
            </a:outerShdw>
          </a:effectLst>
        </p:spPr>
      </p:sp>
      <p:sp>
        <p:nvSpPr>
          <p:cNvPr id="104" name="Shape 54">
            <a:extLst>
              <a:ext uri="{FF2B5EF4-FFF2-40B4-BE49-F238E27FC236}">
                <a16:creationId xmlns:a16="http://schemas.microsoft.com/office/drawing/2014/main" id="{BAC40464-E168-656A-AE94-DE036053F112}"/>
              </a:ext>
            </a:extLst>
          </p:cNvPr>
          <p:cNvSpPr/>
          <p:nvPr/>
        </p:nvSpPr>
        <p:spPr>
          <a:xfrm>
            <a:off x="7810169" y="5295215"/>
            <a:ext cx="54864" cy="804672"/>
          </a:xfrm>
          <a:prstGeom prst="rect">
            <a:avLst/>
          </a:prstGeom>
          <a:solidFill>
            <a:srgbClr val="C62828"/>
          </a:solidFill>
          <a:ln w="12700">
            <a:solidFill>
              <a:srgbClr val="C62828"/>
            </a:solidFill>
            <a:prstDash val="solid"/>
          </a:ln>
        </p:spPr>
      </p:sp>
      <p:sp>
        <p:nvSpPr>
          <p:cNvPr id="106" name="Text 55">
            <a:extLst>
              <a:ext uri="{FF2B5EF4-FFF2-40B4-BE49-F238E27FC236}">
                <a16:creationId xmlns:a16="http://schemas.microsoft.com/office/drawing/2014/main" id="{6F80B4EF-2B9C-72A8-10D5-A85ABB053BCA}"/>
              </a:ext>
            </a:extLst>
          </p:cNvPr>
          <p:cNvSpPr/>
          <p:nvPr/>
        </p:nvSpPr>
        <p:spPr>
          <a:xfrm>
            <a:off x="7956473" y="5350079"/>
            <a:ext cx="3328416" cy="256032"/>
          </a:xfrm>
          <a:prstGeom prst="rect">
            <a:avLst/>
          </a:prstGeom>
          <a:noFill/>
          <a:ln/>
        </p:spPr>
        <p:txBody>
          <a:bodyPr wrap="square" lIns="0" tIns="0" rIns="0" bIns="0" rtlCol="0" anchor="ctr"/>
          <a:lstStyle/>
          <a:p>
            <a:pPr marL="0" indent="0">
              <a:buNone/>
            </a:pPr>
            <a:r>
              <a:rPr lang="en-US" sz="1050" b="1">
                <a:solidFill>
                  <a:srgbClr val="C62828"/>
                </a:solidFill>
                <a:latin typeface="Calibri" pitchFamily="34" charset="0"/>
                <a:ea typeface="Calibri" pitchFamily="34" charset="-122"/>
                <a:cs typeface="Calibri" pitchFamily="34" charset="-120"/>
              </a:rPr>
              <a:t>Learning New Tech</a:t>
            </a:r>
            <a:endParaRPr lang="en-US" sz="1050"/>
          </a:p>
        </p:txBody>
      </p:sp>
      <p:sp>
        <p:nvSpPr>
          <p:cNvPr id="108" name="Text 56">
            <a:extLst>
              <a:ext uri="{FF2B5EF4-FFF2-40B4-BE49-F238E27FC236}">
                <a16:creationId xmlns:a16="http://schemas.microsoft.com/office/drawing/2014/main" id="{244C2B2A-D0FE-51BE-0AB8-11528182DFD0}"/>
              </a:ext>
            </a:extLst>
          </p:cNvPr>
          <p:cNvSpPr/>
          <p:nvPr/>
        </p:nvSpPr>
        <p:spPr>
          <a:xfrm>
            <a:off x="7956473" y="5624399"/>
            <a:ext cx="3328416" cy="402336"/>
          </a:xfrm>
          <a:prstGeom prst="rect">
            <a:avLst/>
          </a:prstGeom>
          <a:noFill/>
          <a:ln/>
        </p:spPr>
        <p:txBody>
          <a:bodyPr wrap="square" lIns="0" tIns="0" rIns="0" bIns="0" rtlCol="0" anchor="ctr"/>
          <a:lstStyle/>
          <a:p>
            <a:pPr marL="0" indent="0">
              <a:buNone/>
            </a:pPr>
            <a:r>
              <a:rPr lang="en-US" sz="1000">
                <a:solidFill>
                  <a:srgbClr val="1A2B4C"/>
                </a:solidFill>
                <a:latin typeface="Calibri" pitchFamily="34" charset="0"/>
                <a:ea typeface="Calibri" pitchFamily="34" charset="-122"/>
                <a:cs typeface="Calibri" pitchFamily="34" charset="-120"/>
              </a:rPr>
              <a:t>Self-study alone  →  Personalized AI tutor</a:t>
            </a:r>
            <a:endParaRPr lang="en-US" sz="1000"/>
          </a:p>
        </p:txBody>
      </p:sp>
    </p:spTree>
    <p:extLst>
      <p:ext uri="{BB962C8B-B14F-4D97-AF65-F5344CB8AC3E}">
        <p14:creationId xmlns:p14="http://schemas.microsoft.com/office/powerpoint/2010/main" val="2348646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1C3EF-0D7D-AA4F-DD2E-CB059FF44F2D}"/>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A9831A0-271C-F9E2-A5F8-3CC8A48E4291}"/>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C27C408B-5834-4F0C-A836-8FCB4F85075D}"/>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Shape 7">
            <a:extLst>
              <a:ext uri="{FF2B5EF4-FFF2-40B4-BE49-F238E27FC236}">
                <a16:creationId xmlns:a16="http://schemas.microsoft.com/office/drawing/2014/main" id="{100562A4-6429-7392-D8BE-472456B74098}"/>
              </a:ext>
            </a:extLst>
          </p:cNvPr>
          <p:cNvSpPr/>
          <p:nvPr/>
        </p:nvSpPr>
        <p:spPr>
          <a:xfrm>
            <a:off x="360989" y="1405847"/>
            <a:ext cx="502920" cy="493776"/>
          </a:xfrm>
          <a:prstGeom prst="rect">
            <a:avLst/>
          </a:prstGeom>
          <a:solidFill>
            <a:srgbClr val="0070CD"/>
          </a:solidFill>
          <a:ln w="12700">
            <a:solidFill>
              <a:srgbClr val="0070C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p>
        </p:txBody>
      </p:sp>
      <p:sp>
        <p:nvSpPr>
          <p:cNvPr id="6" name="Text 8">
            <a:extLst>
              <a:ext uri="{FF2B5EF4-FFF2-40B4-BE49-F238E27FC236}">
                <a16:creationId xmlns:a16="http://schemas.microsoft.com/office/drawing/2014/main" id="{E50145D0-25C2-9341-A0BF-9C5D82E15D89}"/>
              </a:ext>
            </a:extLst>
          </p:cNvPr>
          <p:cNvSpPr/>
          <p:nvPr/>
        </p:nvSpPr>
        <p:spPr>
          <a:xfrm>
            <a:off x="360989" y="1405847"/>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FFFFFF"/>
                </a:solidFill>
                <a:latin typeface="Calibri" pitchFamily="34" charset="0"/>
                <a:ea typeface="Calibri" pitchFamily="34" charset="-122"/>
                <a:cs typeface="Calibri" pitchFamily="34" charset="-120"/>
              </a:rPr>
              <a:t>01</a:t>
            </a:r>
            <a:endParaRPr lang="en-US" sz="2000"/>
          </a:p>
        </p:txBody>
      </p:sp>
      <p:sp>
        <p:nvSpPr>
          <p:cNvPr id="8" name="Text 9">
            <a:extLst>
              <a:ext uri="{FF2B5EF4-FFF2-40B4-BE49-F238E27FC236}">
                <a16:creationId xmlns:a16="http://schemas.microsoft.com/office/drawing/2014/main" id="{2A0324E6-F595-2C5E-9D00-3C65CDAC1C77}"/>
              </a:ext>
            </a:extLst>
          </p:cNvPr>
          <p:cNvSpPr/>
          <p:nvPr/>
        </p:nvSpPr>
        <p:spPr>
          <a:xfrm>
            <a:off x="927917" y="1451567"/>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a:solidFill>
                  <a:srgbClr val="0070CD"/>
                </a:solidFill>
                <a:latin typeface="Calibri" pitchFamily="34" charset="0"/>
                <a:ea typeface="Calibri" pitchFamily="34" charset="-122"/>
                <a:cs typeface="Calibri" pitchFamily="34" charset="-120"/>
              </a:rPr>
              <a:t>Multi-Channel Intake</a:t>
            </a:r>
            <a:endParaRPr lang="en-US" sz="1600"/>
          </a:p>
        </p:txBody>
      </p:sp>
      <p:sp>
        <p:nvSpPr>
          <p:cNvPr id="10" name="Text 10">
            <a:extLst>
              <a:ext uri="{FF2B5EF4-FFF2-40B4-BE49-F238E27FC236}">
                <a16:creationId xmlns:a16="http://schemas.microsoft.com/office/drawing/2014/main" id="{A4771025-19F9-C464-8A48-1C0B0C3EBC80}"/>
              </a:ext>
            </a:extLst>
          </p:cNvPr>
          <p:cNvSpPr/>
          <p:nvPr/>
        </p:nvSpPr>
        <p:spPr>
          <a:xfrm>
            <a:off x="470717" y="1927055"/>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0070CD"/>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Web form, OCR extraction from PDFs and scanned images</a:t>
            </a:r>
            <a:endParaRPr lang="en-US" sz="1200"/>
          </a:p>
        </p:txBody>
      </p:sp>
      <p:sp>
        <p:nvSpPr>
          <p:cNvPr id="12" name="Text 11">
            <a:extLst>
              <a:ext uri="{FF2B5EF4-FFF2-40B4-BE49-F238E27FC236}">
                <a16:creationId xmlns:a16="http://schemas.microsoft.com/office/drawing/2014/main" id="{203634B6-5763-EFC9-C98D-20828FE6902C}"/>
              </a:ext>
            </a:extLst>
          </p:cNvPr>
          <p:cNvSpPr/>
          <p:nvPr/>
        </p:nvSpPr>
        <p:spPr>
          <a:xfrm>
            <a:off x="470717" y="23019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0070CD"/>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FHIR PAS bundles — plugs into Epic &amp; Cerner via FHIR R4</a:t>
            </a:r>
            <a:endParaRPr lang="en-US" sz="1200"/>
          </a:p>
        </p:txBody>
      </p:sp>
      <p:sp>
        <p:nvSpPr>
          <p:cNvPr id="14" name="Text 12">
            <a:extLst>
              <a:ext uri="{FF2B5EF4-FFF2-40B4-BE49-F238E27FC236}">
                <a16:creationId xmlns:a16="http://schemas.microsoft.com/office/drawing/2014/main" id="{36F21D07-86C9-4BB0-F0B4-C7DD9F8A882A}"/>
              </a:ext>
            </a:extLst>
          </p:cNvPr>
          <p:cNvSpPr/>
          <p:nvPr/>
        </p:nvSpPr>
        <p:spPr>
          <a:xfrm>
            <a:off x="470717" y="26768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chemeClr val="tx1">
                    <a:lumMod val="50000"/>
                    <a:lumOff val="50000"/>
                  </a:schemeClr>
                </a:solidFill>
                <a:latin typeface="Calibri" pitchFamily="34" charset="0"/>
                <a:ea typeface="Calibri" pitchFamily="34" charset="-122"/>
                <a:cs typeface="Calibri" pitchFamily="34" charset="-120"/>
              </a:rPr>
              <a:t>▸  </a:t>
            </a:r>
            <a:r>
              <a:rPr lang="en-US" sz="1200">
                <a:solidFill>
                  <a:schemeClr val="tx1">
                    <a:lumMod val="50000"/>
                    <a:lumOff val="50000"/>
                  </a:schemeClr>
                </a:solidFill>
                <a:latin typeface="Calibri" pitchFamily="34" charset="0"/>
                <a:ea typeface="Calibri" pitchFamily="34" charset="-122"/>
                <a:cs typeface="Calibri" pitchFamily="34" charset="-120"/>
              </a:rPr>
              <a:t>EDI 278 support — receives PA requests from provider practice systems</a:t>
            </a:r>
            <a:endParaRPr lang="en-US" sz="1200">
              <a:solidFill>
                <a:schemeClr val="tx1">
                  <a:lumMod val="50000"/>
                  <a:lumOff val="50000"/>
                </a:schemeClr>
              </a:solidFill>
            </a:endParaRPr>
          </a:p>
        </p:txBody>
      </p:sp>
      <p:sp>
        <p:nvSpPr>
          <p:cNvPr id="16" name="Shape 13">
            <a:extLst>
              <a:ext uri="{FF2B5EF4-FFF2-40B4-BE49-F238E27FC236}">
                <a16:creationId xmlns:a16="http://schemas.microsoft.com/office/drawing/2014/main" id="{99549DAC-8218-14C7-EB07-5E3B3B44105B}"/>
              </a:ext>
            </a:extLst>
          </p:cNvPr>
          <p:cNvSpPr/>
          <p:nvPr/>
        </p:nvSpPr>
        <p:spPr>
          <a:xfrm>
            <a:off x="4219757" y="1360127"/>
            <a:ext cx="3749040" cy="1783080"/>
          </a:xfrm>
          <a:prstGeom prst="rect">
            <a:avLst/>
          </a:prstGeom>
          <a:solidFill>
            <a:srgbClr val="CCFBF1"/>
          </a:solidFill>
          <a:ln w="12700">
            <a:solidFill>
              <a:srgbClr val="0D9488"/>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8" name="Shape 15">
            <a:extLst>
              <a:ext uri="{FF2B5EF4-FFF2-40B4-BE49-F238E27FC236}">
                <a16:creationId xmlns:a16="http://schemas.microsoft.com/office/drawing/2014/main" id="{AD5734B8-6F43-4C23-286F-C2AB4F66FB8A}"/>
              </a:ext>
            </a:extLst>
          </p:cNvPr>
          <p:cNvSpPr/>
          <p:nvPr/>
        </p:nvSpPr>
        <p:spPr>
          <a:xfrm>
            <a:off x="4219757" y="1405847"/>
            <a:ext cx="502920" cy="493776"/>
          </a:xfrm>
          <a:prstGeom prst="rect">
            <a:avLst/>
          </a:prstGeom>
          <a:solidFill>
            <a:srgbClr val="0D9488"/>
          </a:solidFill>
          <a:ln w="12700">
            <a:solidFill>
              <a:srgbClr val="0D9488"/>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p>
        </p:txBody>
      </p:sp>
      <p:sp>
        <p:nvSpPr>
          <p:cNvPr id="20" name="Text 16">
            <a:extLst>
              <a:ext uri="{FF2B5EF4-FFF2-40B4-BE49-F238E27FC236}">
                <a16:creationId xmlns:a16="http://schemas.microsoft.com/office/drawing/2014/main" id="{90DDB278-7E16-D859-F304-1ED84E029B84}"/>
              </a:ext>
            </a:extLst>
          </p:cNvPr>
          <p:cNvSpPr/>
          <p:nvPr/>
        </p:nvSpPr>
        <p:spPr>
          <a:xfrm>
            <a:off x="4219757" y="1405847"/>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FFFFFF"/>
                </a:solidFill>
                <a:latin typeface="Calibri" pitchFamily="34" charset="0"/>
                <a:ea typeface="Calibri" pitchFamily="34" charset="-122"/>
                <a:cs typeface="Calibri" pitchFamily="34" charset="-120"/>
              </a:rPr>
              <a:t>02</a:t>
            </a:r>
            <a:endParaRPr lang="en-US" sz="2000"/>
          </a:p>
        </p:txBody>
      </p:sp>
      <p:sp>
        <p:nvSpPr>
          <p:cNvPr id="22" name="Text 17">
            <a:extLst>
              <a:ext uri="{FF2B5EF4-FFF2-40B4-BE49-F238E27FC236}">
                <a16:creationId xmlns:a16="http://schemas.microsoft.com/office/drawing/2014/main" id="{03C3B429-F4C3-D3B8-D0FB-89BFC22B9208}"/>
              </a:ext>
            </a:extLst>
          </p:cNvPr>
          <p:cNvSpPr/>
          <p:nvPr/>
        </p:nvSpPr>
        <p:spPr>
          <a:xfrm>
            <a:off x="4786685" y="1451567"/>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a:solidFill>
                  <a:srgbClr val="0D9488"/>
                </a:solidFill>
                <a:latin typeface="Calibri" pitchFamily="34" charset="0"/>
                <a:ea typeface="Calibri" pitchFamily="34" charset="-122"/>
                <a:cs typeface="Calibri" pitchFamily="34" charset="-120"/>
              </a:rPr>
              <a:t>SLA Enforcement Engine</a:t>
            </a:r>
            <a:endParaRPr lang="en-US" sz="1600"/>
          </a:p>
        </p:txBody>
      </p:sp>
      <p:sp>
        <p:nvSpPr>
          <p:cNvPr id="24" name="Text 18">
            <a:extLst>
              <a:ext uri="{FF2B5EF4-FFF2-40B4-BE49-F238E27FC236}">
                <a16:creationId xmlns:a16="http://schemas.microsoft.com/office/drawing/2014/main" id="{97EF5D41-4006-175B-797C-B6926BDA2D4A}"/>
              </a:ext>
            </a:extLst>
          </p:cNvPr>
          <p:cNvSpPr/>
          <p:nvPr/>
        </p:nvSpPr>
        <p:spPr>
          <a:xfrm>
            <a:off x="4329485" y="1927055"/>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0D9488"/>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Auto-calculates 72h (Urgent/Emergent) or 7-day (Routine) deadline</a:t>
            </a:r>
            <a:endParaRPr lang="en-US" sz="1200"/>
          </a:p>
        </p:txBody>
      </p:sp>
      <p:sp>
        <p:nvSpPr>
          <p:cNvPr id="26" name="Text 19">
            <a:extLst>
              <a:ext uri="{FF2B5EF4-FFF2-40B4-BE49-F238E27FC236}">
                <a16:creationId xmlns:a16="http://schemas.microsoft.com/office/drawing/2014/main" id="{DD030341-5A8E-9D2B-3B92-B6A020121CC6}"/>
              </a:ext>
            </a:extLst>
          </p:cNvPr>
          <p:cNvSpPr/>
          <p:nvPr/>
        </p:nvSpPr>
        <p:spPr>
          <a:xfrm>
            <a:off x="4329485" y="23019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0D9488"/>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Clock pauses on Pend, resumes on lift — never loses time</a:t>
            </a:r>
            <a:endParaRPr lang="en-US" sz="1200"/>
          </a:p>
        </p:txBody>
      </p:sp>
      <p:sp>
        <p:nvSpPr>
          <p:cNvPr id="28" name="Text 20">
            <a:extLst>
              <a:ext uri="{FF2B5EF4-FFF2-40B4-BE49-F238E27FC236}">
                <a16:creationId xmlns:a16="http://schemas.microsoft.com/office/drawing/2014/main" id="{C5B398E9-B766-6531-E76F-55129E1C58A0}"/>
              </a:ext>
            </a:extLst>
          </p:cNvPr>
          <p:cNvSpPr/>
          <p:nvPr/>
        </p:nvSpPr>
        <p:spPr>
          <a:xfrm>
            <a:off x="4329485" y="26768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0D9488"/>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Deemed Approval fires automatically at deadline breach — zero manual intervention</a:t>
            </a:r>
            <a:endParaRPr lang="en-US" sz="1200"/>
          </a:p>
        </p:txBody>
      </p:sp>
      <p:sp>
        <p:nvSpPr>
          <p:cNvPr id="30" name="Shape 29">
            <a:extLst>
              <a:ext uri="{FF2B5EF4-FFF2-40B4-BE49-F238E27FC236}">
                <a16:creationId xmlns:a16="http://schemas.microsoft.com/office/drawing/2014/main" id="{72116EFB-FC4A-E4C1-70B4-1BE162C3E772}"/>
              </a:ext>
            </a:extLst>
          </p:cNvPr>
          <p:cNvSpPr/>
          <p:nvPr/>
        </p:nvSpPr>
        <p:spPr>
          <a:xfrm>
            <a:off x="360989" y="3327431"/>
            <a:ext cx="3749040" cy="1783080"/>
          </a:xfrm>
          <a:prstGeom prst="rect">
            <a:avLst/>
          </a:prstGeom>
          <a:solidFill>
            <a:srgbClr val="E0F9FC"/>
          </a:solidFill>
          <a:ln w="12700">
            <a:solidFill>
              <a:srgbClr val="1DB1C0"/>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32" name="Shape 30">
            <a:extLst>
              <a:ext uri="{FF2B5EF4-FFF2-40B4-BE49-F238E27FC236}">
                <a16:creationId xmlns:a16="http://schemas.microsoft.com/office/drawing/2014/main" id="{3D864856-0E55-53C8-8257-F19CA85443D6}"/>
              </a:ext>
            </a:extLst>
          </p:cNvPr>
          <p:cNvSpPr/>
          <p:nvPr/>
        </p:nvSpPr>
        <p:spPr>
          <a:xfrm>
            <a:off x="360989" y="3327431"/>
            <a:ext cx="3749040" cy="45720"/>
          </a:xfrm>
          <a:prstGeom prst="rect">
            <a:avLst/>
          </a:prstGeom>
          <a:solidFill>
            <a:srgbClr val="1DB1C0"/>
          </a:solidFill>
          <a:ln w="12700">
            <a:solidFill>
              <a:srgbClr val="1DB1C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34" name="Shape 31">
            <a:extLst>
              <a:ext uri="{FF2B5EF4-FFF2-40B4-BE49-F238E27FC236}">
                <a16:creationId xmlns:a16="http://schemas.microsoft.com/office/drawing/2014/main" id="{B30FF50E-7D66-FD7A-9CCE-10D835A70745}"/>
              </a:ext>
            </a:extLst>
          </p:cNvPr>
          <p:cNvSpPr/>
          <p:nvPr/>
        </p:nvSpPr>
        <p:spPr>
          <a:xfrm>
            <a:off x="360989" y="3373151"/>
            <a:ext cx="502920" cy="493776"/>
          </a:xfrm>
          <a:prstGeom prst="rect">
            <a:avLst/>
          </a:prstGeom>
          <a:solidFill>
            <a:srgbClr val="1DB1C0"/>
          </a:solidFill>
          <a:ln w="12700">
            <a:solidFill>
              <a:srgbClr val="1DB1C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36" name="Text 32">
            <a:extLst>
              <a:ext uri="{FF2B5EF4-FFF2-40B4-BE49-F238E27FC236}">
                <a16:creationId xmlns:a16="http://schemas.microsoft.com/office/drawing/2014/main" id="{844AA138-3087-EA7C-1BD1-F8D7D627B912}"/>
              </a:ext>
            </a:extLst>
          </p:cNvPr>
          <p:cNvSpPr/>
          <p:nvPr/>
        </p:nvSpPr>
        <p:spPr>
          <a:xfrm>
            <a:off x="360989" y="3373151"/>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a:solidFill>
                  <a:srgbClr val="FFFFFF"/>
                </a:solidFill>
                <a:latin typeface="Calibri" pitchFamily="34" charset="0"/>
                <a:ea typeface="Calibri" pitchFamily="34" charset="-122"/>
                <a:cs typeface="Calibri" pitchFamily="34" charset="-120"/>
              </a:rPr>
              <a:t>04</a:t>
            </a:r>
            <a:endParaRPr lang="en-US" sz="2400"/>
          </a:p>
        </p:txBody>
      </p:sp>
      <p:sp>
        <p:nvSpPr>
          <p:cNvPr id="38" name="Text 33">
            <a:extLst>
              <a:ext uri="{FF2B5EF4-FFF2-40B4-BE49-F238E27FC236}">
                <a16:creationId xmlns:a16="http://schemas.microsoft.com/office/drawing/2014/main" id="{8821F6C5-BB52-C07A-E36B-EE8161A2CC61}"/>
              </a:ext>
            </a:extLst>
          </p:cNvPr>
          <p:cNvSpPr/>
          <p:nvPr/>
        </p:nvSpPr>
        <p:spPr>
          <a:xfrm>
            <a:off x="927917" y="3418871"/>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a:solidFill>
                  <a:srgbClr val="1DB1C0"/>
                </a:solidFill>
                <a:latin typeface="Calibri" pitchFamily="34" charset="0"/>
                <a:ea typeface="Calibri" pitchFamily="34" charset="-122"/>
                <a:cs typeface="Calibri" pitchFamily="34" charset="-120"/>
              </a:rPr>
              <a:t>Two-Tier Human Workflow</a:t>
            </a:r>
            <a:endParaRPr lang="en-US"/>
          </a:p>
        </p:txBody>
      </p:sp>
      <p:sp>
        <p:nvSpPr>
          <p:cNvPr id="40" name="Text 34">
            <a:extLst>
              <a:ext uri="{FF2B5EF4-FFF2-40B4-BE49-F238E27FC236}">
                <a16:creationId xmlns:a16="http://schemas.microsoft.com/office/drawing/2014/main" id="{20090A93-FD29-B4B2-4DFF-EEC40A39F533}"/>
              </a:ext>
            </a:extLst>
          </p:cNvPr>
          <p:cNvSpPr/>
          <p:nvPr/>
        </p:nvSpPr>
        <p:spPr>
          <a:xfrm>
            <a:off x="470717" y="38943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1DB1C0"/>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Nurse (Tier 1): Approve / Deny / Pend / Escalate with AI recommendation in view</a:t>
            </a:r>
            <a:endParaRPr lang="en-US" sz="1200"/>
          </a:p>
        </p:txBody>
      </p:sp>
      <p:sp>
        <p:nvSpPr>
          <p:cNvPr id="42" name="Text 35">
            <a:extLst>
              <a:ext uri="{FF2B5EF4-FFF2-40B4-BE49-F238E27FC236}">
                <a16:creationId xmlns:a16="http://schemas.microsoft.com/office/drawing/2014/main" id="{A41FCCD5-BD6D-601B-058E-FC1335E35769}"/>
              </a:ext>
            </a:extLst>
          </p:cNvPr>
          <p:cNvSpPr/>
          <p:nvPr/>
        </p:nvSpPr>
        <p:spPr>
          <a:xfrm>
            <a:off x="470717" y="42692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1DB1C0"/>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MD (Tier 2): Final determination on escalated cases</a:t>
            </a:r>
            <a:endParaRPr lang="en-US" sz="1200"/>
          </a:p>
        </p:txBody>
      </p:sp>
      <p:sp>
        <p:nvSpPr>
          <p:cNvPr id="44" name="Text 36">
            <a:extLst>
              <a:ext uri="{FF2B5EF4-FFF2-40B4-BE49-F238E27FC236}">
                <a16:creationId xmlns:a16="http://schemas.microsoft.com/office/drawing/2014/main" id="{EC0374D0-ADDB-8812-C0B5-FD7FD80C568B}"/>
              </a:ext>
            </a:extLst>
          </p:cNvPr>
          <p:cNvSpPr/>
          <p:nvPr/>
        </p:nvSpPr>
        <p:spPr>
          <a:xfrm>
            <a:off x="470717" y="4644167"/>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1DB1C0"/>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Role-based access enforced on the backend — not just UI-gated</a:t>
            </a:r>
            <a:endParaRPr lang="en-US" sz="1200"/>
          </a:p>
        </p:txBody>
      </p:sp>
      <p:sp>
        <p:nvSpPr>
          <p:cNvPr id="46" name="Shape 37">
            <a:extLst>
              <a:ext uri="{FF2B5EF4-FFF2-40B4-BE49-F238E27FC236}">
                <a16:creationId xmlns:a16="http://schemas.microsoft.com/office/drawing/2014/main" id="{C5ED154F-0D47-A32E-9298-9AC8D438BF2D}"/>
              </a:ext>
            </a:extLst>
          </p:cNvPr>
          <p:cNvSpPr/>
          <p:nvPr/>
        </p:nvSpPr>
        <p:spPr>
          <a:xfrm>
            <a:off x="4219757" y="3327431"/>
            <a:ext cx="3749040" cy="1783080"/>
          </a:xfrm>
          <a:prstGeom prst="rect">
            <a:avLst/>
          </a:prstGeom>
          <a:solidFill>
            <a:srgbClr val="FFEBEE"/>
          </a:solidFill>
          <a:ln w="12700">
            <a:solidFill>
              <a:srgbClr val="C62828"/>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48" name="Shape 38">
            <a:extLst>
              <a:ext uri="{FF2B5EF4-FFF2-40B4-BE49-F238E27FC236}">
                <a16:creationId xmlns:a16="http://schemas.microsoft.com/office/drawing/2014/main" id="{59A49B15-3E60-E08D-1C6C-442D5E1F7720}"/>
              </a:ext>
            </a:extLst>
          </p:cNvPr>
          <p:cNvSpPr/>
          <p:nvPr/>
        </p:nvSpPr>
        <p:spPr>
          <a:xfrm>
            <a:off x="4219757" y="3327431"/>
            <a:ext cx="3749040" cy="45720"/>
          </a:xfrm>
          <a:prstGeom prst="rect">
            <a:avLst/>
          </a:prstGeom>
          <a:solidFill>
            <a:srgbClr val="C62828"/>
          </a:solidFill>
          <a:ln w="12700">
            <a:solidFill>
              <a:srgbClr val="C62828"/>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50" name="Shape 39">
            <a:extLst>
              <a:ext uri="{FF2B5EF4-FFF2-40B4-BE49-F238E27FC236}">
                <a16:creationId xmlns:a16="http://schemas.microsoft.com/office/drawing/2014/main" id="{506B967E-A88C-68AD-E533-716D2A80E205}"/>
              </a:ext>
            </a:extLst>
          </p:cNvPr>
          <p:cNvSpPr/>
          <p:nvPr/>
        </p:nvSpPr>
        <p:spPr>
          <a:xfrm>
            <a:off x="4219757" y="3373151"/>
            <a:ext cx="502920" cy="493776"/>
          </a:xfrm>
          <a:prstGeom prst="rect">
            <a:avLst/>
          </a:prstGeom>
          <a:solidFill>
            <a:srgbClr val="C62828"/>
          </a:solidFill>
          <a:ln w="12700">
            <a:solidFill>
              <a:srgbClr val="C62828"/>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52" name="Text 40">
            <a:extLst>
              <a:ext uri="{FF2B5EF4-FFF2-40B4-BE49-F238E27FC236}">
                <a16:creationId xmlns:a16="http://schemas.microsoft.com/office/drawing/2014/main" id="{ED170FFA-C268-FD79-3558-A221B55F7D3B}"/>
              </a:ext>
            </a:extLst>
          </p:cNvPr>
          <p:cNvSpPr/>
          <p:nvPr/>
        </p:nvSpPr>
        <p:spPr>
          <a:xfrm>
            <a:off x="4219757" y="3373151"/>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a:solidFill>
                  <a:srgbClr val="FFFFFF"/>
                </a:solidFill>
                <a:latin typeface="Calibri" pitchFamily="34" charset="0"/>
                <a:ea typeface="Calibri" pitchFamily="34" charset="-122"/>
                <a:cs typeface="Calibri" pitchFamily="34" charset="-120"/>
              </a:rPr>
              <a:t>05</a:t>
            </a:r>
            <a:endParaRPr lang="en-US" sz="2400"/>
          </a:p>
        </p:txBody>
      </p:sp>
      <p:sp>
        <p:nvSpPr>
          <p:cNvPr id="54" name="Text 41">
            <a:extLst>
              <a:ext uri="{FF2B5EF4-FFF2-40B4-BE49-F238E27FC236}">
                <a16:creationId xmlns:a16="http://schemas.microsoft.com/office/drawing/2014/main" id="{F29E561E-D5D3-77FB-DCB6-AF87AFCE96DF}"/>
              </a:ext>
            </a:extLst>
          </p:cNvPr>
          <p:cNvSpPr/>
          <p:nvPr/>
        </p:nvSpPr>
        <p:spPr>
          <a:xfrm>
            <a:off x="4786685" y="3418871"/>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a:solidFill>
                  <a:srgbClr val="C62828"/>
                </a:solidFill>
                <a:latin typeface="Calibri" pitchFamily="34" charset="0"/>
                <a:ea typeface="Calibri" pitchFamily="34" charset="-122"/>
                <a:cs typeface="Calibri" pitchFamily="34" charset="-120"/>
              </a:rPr>
              <a:t>Decision Rationale &amp; Denial Notification</a:t>
            </a:r>
            <a:endParaRPr lang="en-US"/>
          </a:p>
        </p:txBody>
      </p:sp>
      <p:sp>
        <p:nvSpPr>
          <p:cNvPr id="56" name="Text 42">
            <a:extLst>
              <a:ext uri="{FF2B5EF4-FFF2-40B4-BE49-F238E27FC236}">
                <a16:creationId xmlns:a16="http://schemas.microsoft.com/office/drawing/2014/main" id="{034F8F54-6838-5CDF-3E9B-1568F4CED28B}"/>
              </a:ext>
            </a:extLst>
          </p:cNvPr>
          <p:cNvSpPr/>
          <p:nvPr/>
        </p:nvSpPr>
        <p:spPr>
          <a:xfrm>
            <a:off x="4329485" y="38943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C62828"/>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Based on guidelines AI generates a clear, CMS‑compliant decision rationale</a:t>
            </a:r>
          </a:p>
        </p:txBody>
      </p:sp>
      <p:sp>
        <p:nvSpPr>
          <p:cNvPr id="58" name="Text 43">
            <a:extLst>
              <a:ext uri="{FF2B5EF4-FFF2-40B4-BE49-F238E27FC236}">
                <a16:creationId xmlns:a16="http://schemas.microsoft.com/office/drawing/2014/main" id="{F365B857-7CDB-770C-FA5E-1816C6044BC4}"/>
              </a:ext>
            </a:extLst>
          </p:cNvPr>
          <p:cNvSpPr/>
          <p:nvPr/>
        </p:nvSpPr>
        <p:spPr>
          <a:xfrm>
            <a:off x="4329485" y="437190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C62828"/>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Generates an empathetic, patient‑friendly notification includes, criteria not met, applicable references, required next steps and rights to appeal</a:t>
            </a:r>
            <a:endParaRPr lang="en-US" sz="1200"/>
          </a:p>
        </p:txBody>
      </p:sp>
      <p:sp>
        <p:nvSpPr>
          <p:cNvPr id="73" name="Shape 5">
            <a:extLst>
              <a:ext uri="{FF2B5EF4-FFF2-40B4-BE49-F238E27FC236}">
                <a16:creationId xmlns:a16="http://schemas.microsoft.com/office/drawing/2014/main" id="{4C02B5B4-DE92-7840-B8D3-68FE46465335}"/>
              </a:ext>
            </a:extLst>
          </p:cNvPr>
          <p:cNvSpPr/>
          <p:nvPr/>
        </p:nvSpPr>
        <p:spPr>
          <a:xfrm>
            <a:off x="360989" y="1360127"/>
            <a:ext cx="3749040" cy="1783080"/>
          </a:xfrm>
          <a:prstGeom prst="rect">
            <a:avLst/>
          </a:prstGeom>
          <a:solidFill>
            <a:srgbClr val="E0F2FE"/>
          </a:solidFill>
          <a:ln w="12700">
            <a:solidFill>
              <a:srgbClr val="0070CD"/>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75" name="Shape 7">
            <a:extLst>
              <a:ext uri="{FF2B5EF4-FFF2-40B4-BE49-F238E27FC236}">
                <a16:creationId xmlns:a16="http://schemas.microsoft.com/office/drawing/2014/main" id="{9B036B68-96AC-5996-49CD-8496D42EA71E}"/>
              </a:ext>
            </a:extLst>
          </p:cNvPr>
          <p:cNvSpPr/>
          <p:nvPr/>
        </p:nvSpPr>
        <p:spPr>
          <a:xfrm>
            <a:off x="360989" y="1405847"/>
            <a:ext cx="502920" cy="493776"/>
          </a:xfrm>
          <a:prstGeom prst="rect">
            <a:avLst/>
          </a:prstGeom>
          <a:solidFill>
            <a:srgbClr val="0070CD"/>
          </a:solidFill>
          <a:ln w="12700">
            <a:solidFill>
              <a:srgbClr val="0070C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p>
        </p:txBody>
      </p:sp>
      <p:sp>
        <p:nvSpPr>
          <p:cNvPr id="77" name="Text 8">
            <a:extLst>
              <a:ext uri="{FF2B5EF4-FFF2-40B4-BE49-F238E27FC236}">
                <a16:creationId xmlns:a16="http://schemas.microsoft.com/office/drawing/2014/main" id="{D5591942-12EF-E1CB-7352-017512444EBF}"/>
              </a:ext>
            </a:extLst>
          </p:cNvPr>
          <p:cNvSpPr/>
          <p:nvPr/>
        </p:nvSpPr>
        <p:spPr>
          <a:xfrm>
            <a:off x="360989" y="1405847"/>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FFFFFF"/>
                </a:solidFill>
                <a:latin typeface="Calibri" pitchFamily="34" charset="0"/>
                <a:ea typeface="Calibri" pitchFamily="34" charset="-122"/>
                <a:cs typeface="Calibri" pitchFamily="34" charset="-120"/>
              </a:rPr>
              <a:t>01</a:t>
            </a:r>
            <a:endParaRPr lang="en-US" sz="2000"/>
          </a:p>
        </p:txBody>
      </p:sp>
      <p:sp>
        <p:nvSpPr>
          <p:cNvPr id="79" name="Text 9">
            <a:extLst>
              <a:ext uri="{FF2B5EF4-FFF2-40B4-BE49-F238E27FC236}">
                <a16:creationId xmlns:a16="http://schemas.microsoft.com/office/drawing/2014/main" id="{793318F9-F9C1-0AFA-10AF-7DD333AFFE3B}"/>
              </a:ext>
            </a:extLst>
          </p:cNvPr>
          <p:cNvSpPr/>
          <p:nvPr/>
        </p:nvSpPr>
        <p:spPr>
          <a:xfrm>
            <a:off x="927917" y="1451567"/>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0070CD"/>
                </a:solidFill>
                <a:latin typeface="Calibri"/>
                <a:ea typeface="Calibri"/>
                <a:cs typeface="Calibri"/>
              </a:rPr>
              <a:t>WRITING &amp; COMMUNICATION</a:t>
            </a:r>
            <a:endParaRPr lang="en-US" sz="2800"/>
          </a:p>
        </p:txBody>
      </p:sp>
      <p:sp>
        <p:nvSpPr>
          <p:cNvPr id="81" name="Text 10">
            <a:extLst>
              <a:ext uri="{FF2B5EF4-FFF2-40B4-BE49-F238E27FC236}">
                <a16:creationId xmlns:a16="http://schemas.microsoft.com/office/drawing/2014/main" id="{BC5C0A2C-6225-F074-2383-61081DF9E74D}"/>
              </a:ext>
            </a:extLst>
          </p:cNvPr>
          <p:cNvSpPr/>
          <p:nvPr/>
        </p:nvSpPr>
        <p:spPr>
          <a:xfrm>
            <a:off x="470717" y="1927055"/>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0070CD"/>
                </a:solidFill>
                <a:latin typeface="Calibri"/>
                <a:ea typeface="Calibri"/>
                <a:cs typeface="Calibri"/>
              </a:rPr>
              <a:t>▸ </a:t>
            </a:r>
            <a:r>
              <a:rPr lang="en-US" sz="1200">
                <a:solidFill>
                  <a:srgbClr val="1E293B"/>
                </a:solidFill>
                <a:latin typeface="Calibri"/>
                <a:ea typeface="Calibri"/>
                <a:cs typeface="Calibri"/>
              </a:rPr>
              <a:t>Emails, reports, </a:t>
            </a:r>
            <a:r>
              <a:rPr lang="en-US" sz="1200" err="1">
                <a:solidFill>
                  <a:srgbClr val="1E293B"/>
                </a:solidFill>
                <a:latin typeface="Calibri"/>
                <a:ea typeface="Calibri"/>
                <a:cs typeface="Calibri"/>
              </a:rPr>
              <a:t>documentati</a:t>
            </a:r>
            <a:r>
              <a:rPr lang="en-US" sz="1200">
                <a:solidFill>
                  <a:srgbClr val="1E293B"/>
                </a:solidFill>
                <a:latin typeface="Calibri"/>
                <a:ea typeface="Calibri"/>
                <a:cs typeface="Calibri"/>
              </a:rPr>
              <a:t>on</a:t>
            </a:r>
            <a:endParaRPr lang="en-US" sz="1200">
              <a:solidFill>
                <a:srgbClr val="000000"/>
              </a:solidFill>
              <a:latin typeface="Aptos"/>
              <a:ea typeface="Calibri" pitchFamily="34" charset="-122"/>
              <a:cs typeface="Calibri" pitchFamily="34" charset="-120"/>
            </a:endParaRPr>
          </a:p>
        </p:txBody>
      </p:sp>
      <p:sp>
        <p:nvSpPr>
          <p:cNvPr id="83" name="Text 11">
            <a:extLst>
              <a:ext uri="{FF2B5EF4-FFF2-40B4-BE49-F238E27FC236}">
                <a16:creationId xmlns:a16="http://schemas.microsoft.com/office/drawing/2014/main" id="{08875937-13B0-0119-5B67-3C1508347AAA}"/>
              </a:ext>
            </a:extLst>
          </p:cNvPr>
          <p:cNvSpPr/>
          <p:nvPr/>
        </p:nvSpPr>
        <p:spPr>
          <a:xfrm>
            <a:off x="470717" y="23019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0070CD"/>
                </a:solidFill>
                <a:latin typeface="Calibri"/>
                <a:ea typeface="Calibri"/>
                <a:cs typeface="Calibri"/>
              </a:rPr>
              <a:t>▸ </a:t>
            </a:r>
            <a:r>
              <a:rPr lang="en-US" sz="1200">
                <a:solidFill>
                  <a:srgbClr val="1E293B"/>
                </a:solidFill>
                <a:latin typeface="Calibri"/>
                <a:ea typeface="Calibri"/>
                <a:cs typeface="Calibri"/>
              </a:rPr>
              <a:t>Meeting summaries, presentations</a:t>
            </a:r>
            <a:endParaRPr lang="en-US" sz="1200">
              <a:solidFill>
                <a:srgbClr val="000000"/>
              </a:solidFill>
              <a:latin typeface="Aptos"/>
              <a:ea typeface="Calibri"/>
              <a:cs typeface="Calibri"/>
            </a:endParaRPr>
          </a:p>
        </p:txBody>
      </p:sp>
      <p:sp>
        <p:nvSpPr>
          <p:cNvPr id="85" name="Text 12">
            <a:extLst>
              <a:ext uri="{FF2B5EF4-FFF2-40B4-BE49-F238E27FC236}">
                <a16:creationId xmlns:a16="http://schemas.microsoft.com/office/drawing/2014/main" id="{9F1A56E2-DA0A-16FD-0A5B-9B5C7D37229B}"/>
              </a:ext>
            </a:extLst>
          </p:cNvPr>
          <p:cNvSpPr/>
          <p:nvPr/>
        </p:nvSpPr>
        <p:spPr>
          <a:xfrm>
            <a:off x="470717" y="26768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a:solidFill>
                  <a:srgbClr val="0070CD"/>
                </a:solidFill>
                <a:latin typeface="Calibri"/>
                <a:ea typeface="Calibri"/>
                <a:cs typeface="Calibri"/>
              </a:rPr>
              <a:t>▸ </a:t>
            </a:r>
            <a:r>
              <a:rPr lang="en-US" sz="1400">
                <a:solidFill>
                  <a:srgbClr val="1E293B"/>
                </a:solidFill>
                <a:latin typeface="Calibri"/>
                <a:ea typeface="Calibri"/>
                <a:cs typeface="Calibri"/>
              </a:rPr>
              <a:t>Grammar &amp; tone improvement</a:t>
            </a:r>
            <a:endParaRPr lang="en-US" sz="1400">
              <a:solidFill>
                <a:srgbClr val="000000"/>
              </a:solidFill>
              <a:latin typeface="Calibri"/>
              <a:ea typeface="Calibri"/>
              <a:cs typeface="Calibri"/>
            </a:endParaRPr>
          </a:p>
        </p:txBody>
      </p:sp>
      <p:sp>
        <p:nvSpPr>
          <p:cNvPr id="87" name="Shape 13">
            <a:extLst>
              <a:ext uri="{FF2B5EF4-FFF2-40B4-BE49-F238E27FC236}">
                <a16:creationId xmlns:a16="http://schemas.microsoft.com/office/drawing/2014/main" id="{C43F41F3-07AB-2DE6-6F6E-EE84DDD8C34F}"/>
              </a:ext>
            </a:extLst>
          </p:cNvPr>
          <p:cNvSpPr/>
          <p:nvPr/>
        </p:nvSpPr>
        <p:spPr>
          <a:xfrm>
            <a:off x="4219757" y="1360127"/>
            <a:ext cx="3749040" cy="1783080"/>
          </a:xfrm>
          <a:prstGeom prst="rect">
            <a:avLst/>
          </a:prstGeom>
          <a:solidFill>
            <a:srgbClr val="CCFBF1"/>
          </a:solidFill>
          <a:ln w="12700">
            <a:solidFill>
              <a:srgbClr val="0D9488"/>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89" name="Shape 15">
            <a:extLst>
              <a:ext uri="{FF2B5EF4-FFF2-40B4-BE49-F238E27FC236}">
                <a16:creationId xmlns:a16="http://schemas.microsoft.com/office/drawing/2014/main" id="{F114EAEA-B072-1D4D-68A2-596646648AE8}"/>
              </a:ext>
            </a:extLst>
          </p:cNvPr>
          <p:cNvSpPr/>
          <p:nvPr/>
        </p:nvSpPr>
        <p:spPr>
          <a:xfrm>
            <a:off x="4219757" y="1405847"/>
            <a:ext cx="502920" cy="493776"/>
          </a:xfrm>
          <a:prstGeom prst="rect">
            <a:avLst/>
          </a:prstGeom>
          <a:solidFill>
            <a:srgbClr val="0D9488"/>
          </a:solidFill>
          <a:ln w="12700">
            <a:solidFill>
              <a:srgbClr val="0D9488"/>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p>
        </p:txBody>
      </p:sp>
      <p:sp>
        <p:nvSpPr>
          <p:cNvPr id="91" name="Text 16">
            <a:extLst>
              <a:ext uri="{FF2B5EF4-FFF2-40B4-BE49-F238E27FC236}">
                <a16:creationId xmlns:a16="http://schemas.microsoft.com/office/drawing/2014/main" id="{239AD679-8A75-C42E-3E51-4AC95B76E43C}"/>
              </a:ext>
            </a:extLst>
          </p:cNvPr>
          <p:cNvSpPr/>
          <p:nvPr/>
        </p:nvSpPr>
        <p:spPr>
          <a:xfrm>
            <a:off x="4219757" y="1405847"/>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FFFFFF"/>
                </a:solidFill>
                <a:latin typeface="Calibri" pitchFamily="34" charset="0"/>
                <a:ea typeface="Calibri" pitchFamily="34" charset="-122"/>
                <a:cs typeface="Calibri" pitchFamily="34" charset="-120"/>
              </a:rPr>
              <a:t>02</a:t>
            </a:r>
            <a:endParaRPr lang="en-US" sz="2000"/>
          </a:p>
        </p:txBody>
      </p:sp>
      <p:sp>
        <p:nvSpPr>
          <p:cNvPr id="93" name="Text 17">
            <a:extLst>
              <a:ext uri="{FF2B5EF4-FFF2-40B4-BE49-F238E27FC236}">
                <a16:creationId xmlns:a16="http://schemas.microsoft.com/office/drawing/2014/main" id="{D0AA7FFA-1224-33A8-F3B2-1B9210552A61}"/>
              </a:ext>
            </a:extLst>
          </p:cNvPr>
          <p:cNvSpPr/>
          <p:nvPr/>
        </p:nvSpPr>
        <p:spPr>
          <a:xfrm>
            <a:off x="4786685" y="1451567"/>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0D9488"/>
                </a:solidFill>
                <a:latin typeface="Calibri"/>
                <a:ea typeface="Calibri"/>
                <a:cs typeface="Calibri"/>
              </a:rPr>
              <a:t>CODE &amp; DEVELOPMENT</a:t>
            </a:r>
            <a:endParaRPr lang="en-US" sz="2800"/>
          </a:p>
        </p:txBody>
      </p:sp>
      <p:sp>
        <p:nvSpPr>
          <p:cNvPr id="97" name="Text 19">
            <a:extLst>
              <a:ext uri="{FF2B5EF4-FFF2-40B4-BE49-F238E27FC236}">
                <a16:creationId xmlns:a16="http://schemas.microsoft.com/office/drawing/2014/main" id="{BB1C23E5-C8D2-54A6-66AF-B53945631730}"/>
              </a:ext>
            </a:extLst>
          </p:cNvPr>
          <p:cNvSpPr/>
          <p:nvPr/>
        </p:nvSpPr>
        <p:spPr>
          <a:xfrm>
            <a:off x="4329485" y="23019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0D9488"/>
                </a:solidFill>
                <a:latin typeface="Calibri"/>
                <a:ea typeface="Calibri"/>
                <a:cs typeface="Calibri"/>
              </a:rPr>
              <a:t>▸  </a:t>
            </a:r>
            <a:r>
              <a:rPr lang="en-US" sz="1200">
                <a:solidFill>
                  <a:srgbClr val="1E293B"/>
                </a:solidFill>
                <a:latin typeface="Calibri"/>
                <a:ea typeface="Calibri"/>
                <a:cs typeface="Calibri"/>
              </a:rPr>
              <a:t>Write tests &amp; </a:t>
            </a:r>
            <a:r>
              <a:rPr lang="en-US" sz="1200" err="1">
                <a:solidFill>
                  <a:srgbClr val="1E293B"/>
                </a:solidFill>
                <a:latin typeface="Calibri"/>
                <a:ea typeface="Calibri"/>
                <a:cs typeface="Calibri"/>
              </a:rPr>
              <a:t>documen</a:t>
            </a:r>
            <a:r>
              <a:rPr lang="en-US" sz="1200">
                <a:solidFill>
                  <a:srgbClr val="1E293B"/>
                </a:solidFill>
                <a:latin typeface="Calibri"/>
                <a:ea typeface="Calibri"/>
                <a:cs typeface="Calibri"/>
              </a:rPr>
              <a:t>tation</a:t>
            </a:r>
            <a:endParaRPr lang="en-US" sz="1200"/>
          </a:p>
        </p:txBody>
      </p:sp>
      <p:sp>
        <p:nvSpPr>
          <p:cNvPr id="99" name="Text 20">
            <a:extLst>
              <a:ext uri="{FF2B5EF4-FFF2-40B4-BE49-F238E27FC236}">
                <a16:creationId xmlns:a16="http://schemas.microsoft.com/office/drawing/2014/main" id="{5EB966C2-3E63-610A-D664-3F3235807D1B}"/>
              </a:ext>
            </a:extLst>
          </p:cNvPr>
          <p:cNvSpPr/>
          <p:nvPr/>
        </p:nvSpPr>
        <p:spPr>
          <a:xfrm>
            <a:off x="4329485" y="26768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0D9488"/>
                </a:solidFill>
                <a:latin typeface="Calibri"/>
                <a:ea typeface="Calibri"/>
                <a:cs typeface="Calibri"/>
              </a:rPr>
              <a:t>▸  </a:t>
            </a:r>
            <a:r>
              <a:rPr lang="en-US" sz="1200">
                <a:solidFill>
                  <a:srgbClr val="1E293B"/>
                </a:solidFill>
                <a:latin typeface="Calibri"/>
                <a:ea typeface="Calibri"/>
                <a:cs typeface="Calibri"/>
              </a:rPr>
              <a:t>Explain complex logic</a:t>
            </a:r>
          </a:p>
        </p:txBody>
      </p:sp>
      <p:sp>
        <p:nvSpPr>
          <p:cNvPr id="101" name="Shape 29">
            <a:extLst>
              <a:ext uri="{FF2B5EF4-FFF2-40B4-BE49-F238E27FC236}">
                <a16:creationId xmlns:a16="http://schemas.microsoft.com/office/drawing/2014/main" id="{578D7D81-F2CA-AA42-4750-F781AF8E0CEF}"/>
              </a:ext>
            </a:extLst>
          </p:cNvPr>
          <p:cNvSpPr/>
          <p:nvPr/>
        </p:nvSpPr>
        <p:spPr>
          <a:xfrm>
            <a:off x="360989" y="3327431"/>
            <a:ext cx="3749040" cy="1783080"/>
          </a:xfrm>
          <a:prstGeom prst="rect">
            <a:avLst/>
          </a:prstGeom>
          <a:solidFill>
            <a:srgbClr val="E0F9FC"/>
          </a:solidFill>
          <a:ln w="12700">
            <a:solidFill>
              <a:srgbClr val="1DB1C0"/>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03" name="Shape 30">
            <a:extLst>
              <a:ext uri="{FF2B5EF4-FFF2-40B4-BE49-F238E27FC236}">
                <a16:creationId xmlns:a16="http://schemas.microsoft.com/office/drawing/2014/main" id="{1A627AF2-E5C5-4815-DBAB-51B288C899DD}"/>
              </a:ext>
            </a:extLst>
          </p:cNvPr>
          <p:cNvSpPr/>
          <p:nvPr/>
        </p:nvSpPr>
        <p:spPr>
          <a:xfrm>
            <a:off x="360989" y="3327431"/>
            <a:ext cx="3749040" cy="45720"/>
          </a:xfrm>
          <a:prstGeom prst="rect">
            <a:avLst/>
          </a:prstGeom>
          <a:solidFill>
            <a:srgbClr val="1DB1C0"/>
          </a:solidFill>
          <a:ln w="12700">
            <a:solidFill>
              <a:srgbClr val="1DB1C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05" name="Shape 31">
            <a:extLst>
              <a:ext uri="{FF2B5EF4-FFF2-40B4-BE49-F238E27FC236}">
                <a16:creationId xmlns:a16="http://schemas.microsoft.com/office/drawing/2014/main" id="{78845990-C5DB-6B0B-30FC-754748D11978}"/>
              </a:ext>
            </a:extLst>
          </p:cNvPr>
          <p:cNvSpPr/>
          <p:nvPr/>
        </p:nvSpPr>
        <p:spPr>
          <a:xfrm>
            <a:off x="360989" y="3373151"/>
            <a:ext cx="502920" cy="493776"/>
          </a:xfrm>
          <a:prstGeom prst="rect">
            <a:avLst/>
          </a:prstGeom>
          <a:solidFill>
            <a:srgbClr val="1DB1C0"/>
          </a:solidFill>
          <a:ln w="12700">
            <a:solidFill>
              <a:srgbClr val="1DB1C0"/>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07" name="Text 32">
            <a:extLst>
              <a:ext uri="{FF2B5EF4-FFF2-40B4-BE49-F238E27FC236}">
                <a16:creationId xmlns:a16="http://schemas.microsoft.com/office/drawing/2014/main" id="{680D99A3-BE6D-CC07-8AE3-F43C0853711E}"/>
              </a:ext>
            </a:extLst>
          </p:cNvPr>
          <p:cNvSpPr/>
          <p:nvPr/>
        </p:nvSpPr>
        <p:spPr>
          <a:xfrm>
            <a:off x="360989" y="3373151"/>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a:solidFill>
                  <a:srgbClr val="FFFFFF"/>
                </a:solidFill>
                <a:latin typeface="Calibri" pitchFamily="34" charset="0"/>
                <a:ea typeface="Calibri" pitchFamily="34" charset="-122"/>
                <a:cs typeface="Calibri" pitchFamily="34" charset="-120"/>
              </a:rPr>
              <a:t>04</a:t>
            </a:r>
            <a:endParaRPr lang="en-US" sz="2400"/>
          </a:p>
        </p:txBody>
      </p:sp>
      <p:sp>
        <p:nvSpPr>
          <p:cNvPr id="109" name="Text 33">
            <a:extLst>
              <a:ext uri="{FF2B5EF4-FFF2-40B4-BE49-F238E27FC236}">
                <a16:creationId xmlns:a16="http://schemas.microsoft.com/office/drawing/2014/main" id="{48D104E1-E99D-A522-8510-DBF1A52D8BF1}"/>
              </a:ext>
            </a:extLst>
          </p:cNvPr>
          <p:cNvSpPr/>
          <p:nvPr/>
        </p:nvSpPr>
        <p:spPr>
          <a:xfrm>
            <a:off x="927917" y="3418871"/>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1DB1C0"/>
                </a:solidFill>
                <a:latin typeface="Calibri"/>
                <a:ea typeface="Calibri"/>
                <a:cs typeface="Calibri"/>
              </a:rPr>
              <a:t>RESEARCH &amp; LEARNING</a:t>
            </a:r>
            <a:endParaRPr lang="en-US" sz="3200"/>
          </a:p>
        </p:txBody>
      </p:sp>
      <p:sp>
        <p:nvSpPr>
          <p:cNvPr id="110" name="Text 34">
            <a:extLst>
              <a:ext uri="{FF2B5EF4-FFF2-40B4-BE49-F238E27FC236}">
                <a16:creationId xmlns:a16="http://schemas.microsoft.com/office/drawing/2014/main" id="{BC13352D-4154-8067-4BD9-08B9C17B64A1}"/>
              </a:ext>
            </a:extLst>
          </p:cNvPr>
          <p:cNvSpPr/>
          <p:nvPr/>
        </p:nvSpPr>
        <p:spPr>
          <a:xfrm>
            <a:off x="470717" y="38943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1DB1C0"/>
                </a:solidFill>
                <a:latin typeface="Calibri"/>
                <a:ea typeface="Calibri"/>
                <a:cs typeface="Calibri"/>
              </a:rPr>
              <a:t>▸ </a:t>
            </a:r>
            <a:r>
              <a:rPr lang="en-US" sz="1200">
                <a:solidFill>
                  <a:srgbClr val="1E293B"/>
                </a:solidFill>
                <a:latin typeface="Calibri"/>
                <a:ea typeface="Calibri"/>
                <a:cs typeface="Calibri"/>
              </a:rPr>
              <a:t>Quick </a:t>
            </a:r>
            <a:r>
              <a:rPr lang="en-US" sz="1200" err="1">
                <a:solidFill>
                  <a:srgbClr val="1E293B"/>
                </a:solidFill>
                <a:latin typeface="Calibri"/>
                <a:ea typeface="Calibri"/>
                <a:cs typeface="Calibri"/>
              </a:rPr>
              <a:t>researc</a:t>
            </a:r>
            <a:r>
              <a:rPr lang="en-US" sz="1200">
                <a:solidFill>
                  <a:srgbClr val="1E293B"/>
                </a:solidFill>
                <a:latin typeface="Calibri"/>
                <a:ea typeface="Calibri"/>
                <a:cs typeface="Calibri"/>
              </a:rPr>
              <a:t>h, competitive analysis</a:t>
            </a:r>
          </a:p>
        </p:txBody>
      </p:sp>
      <p:sp>
        <p:nvSpPr>
          <p:cNvPr id="111" name="Text 35">
            <a:extLst>
              <a:ext uri="{FF2B5EF4-FFF2-40B4-BE49-F238E27FC236}">
                <a16:creationId xmlns:a16="http://schemas.microsoft.com/office/drawing/2014/main" id="{3B44908C-7B5C-814B-FB17-997D597F15BB}"/>
              </a:ext>
            </a:extLst>
          </p:cNvPr>
          <p:cNvSpPr/>
          <p:nvPr/>
        </p:nvSpPr>
        <p:spPr>
          <a:xfrm>
            <a:off x="468425" y="4239258"/>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1DB1C0"/>
                </a:solidFill>
                <a:latin typeface="Calibri"/>
                <a:ea typeface="Calibri"/>
                <a:cs typeface="Calibri"/>
              </a:rPr>
              <a:t>▸ </a:t>
            </a:r>
            <a:r>
              <a:rPr lang="en-US" sz="1200">
                <a:solidFill>
                  <a:srgbClr val="1E293B"/>
                </a:solidFill>
                <a:latin typeface="Calibri"/>
                <a:ea typeface="Calibri"/>
                <a:cs typeface="Calibri"/>
              </a:rPr>
              <a:t>Learn new skills, explain </a:t>
            </a:r>
            <a:r>
              <a:rPr lang="en-US" sz="1200" err="1">
                <a:solidFill>
                  <a:srgbClr val="1E293B"/>
                </a:solidFill>
                <a:latin typeface="Calibri"/>
                <a:ea typeface="Calibri"/>
                <a:cs typeface="Calibri"/>
              </a:rPr>
              <a:t>conce</a:t>
            </a:r>
            <a:r>
              <a:rPr lang="en-US" sz="1200">
                <a:solidFill>
                  <a:srgbClr val="1E293B"/>
                </a:solidFill>
                <a:latin typeface="Calibri"/>
                <a:ea typeface="Calibri"/>
                <a:cs typeface="Calibri"/>
              </a:rPr>
              <a:t>pts</a:t>
            </a:r>
            <a:endParaRPr lang="en-US" sz="1200"/>
          </a:p>
        </p:txBody>
      </p:sp>
      <p:sp>
        <p:nvSpPr>
          <p:cNvPr id="112" name="Text 36">
            <a:extLst>
              <a:ext uri="{FF2B5EF4-FFF2-40B4-BE49-F238E27FC236}">
                <a16:creationId xmlns:a16="http://schemas.microsoft.com/office/drawing/2014/main" id="{CA2EEF88-2128-5875-9857-F588BF52D480}"/>
              </a:ext>
            </a:extLst>
          </p:cNvPr>
          <p:cNvSpPr/>
          <p:nvPr/>
        </p:nvSpPr>
        <p:spPr>
          <a:xfrm>
            <a:off x="470717" y="4644167"/>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1DB1C0"/>
                </a:solidFill>
                <a:latin typeface="Calibri"/>
                <a:ea typeface="Calibri"/>
                <a:cs typeface="Calibri"/>
              </a:rPr>
              <a:t>▸ </a:t>
            </a:r>
            <a:r>
              <a:rPr lang="en-US" sz="1200">
                <a:solidFill>
                  <a:srgbClr val="1E293B"/>
                </a:solidFill>
                <a:latin typeface="Calibri"/>
                <a:ea typeface="Calibri"/>
                <a:cs typeface="Calibri"/>
              </a:rPr>
              <a:t>Find sources &amp; citations</a:t>
            </a:r>
            <a:endParaRPr lang="en-US" sz="1200"/>
          </a:p>
        </p:txBody>
      </p:sp>
      <p:sp>
        <p:nvSpPr>
          <p:cNvPr id="113" name="Shape 37">
            <a:extLst>
              <a:ext uri="{FF2B5EF4-FFF2-40B4-BE49-F238E27FC236}">
                <a16:creationId xmlns:a16="http://schemas.microsoft.com/office/drawing/2014/main" id="{B9A6F16D-483C-D600-2BCA-8B2E1B992623}"/>
              </a:ext>
            </a:extLst>
          </p:cNvPr>
          <p:cNvSpPr/>
          <p:nvPr/>
        </p:nvSpPr>
        <p:spPr>
          <a:xfrm>
            <a:off x="4219757" y="3327431"/>
            <a:ext cx="3749040" cy="1783080"/>
          </a:xfrm>
          <a:prstGeom prst="rect">
            <a:avLst/>
          </a:prstGeom>
          <a:solidFill>
            <a:srgbClr val="FFEBEE"/>
          </a:solidFill>
          <a:ln w="12700">
            <a:solidFill>
              <a:srgbClr val="C62828"/>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14" name="Shape 38">
            <a:extLst>
              <a:ext uri="{FF2B5EF4-FFF2-40B4-BE49-F238E27FC236}">
                <a16:creationId xmlns:a16="http://schemas.microsoft.com/office/drawing/2014/main" id="{CE3583FB-B474-91C0-3726-F9206B8B69F4}"/>
              </a:ext>
            </a:extLst>
          </p:cNvPr>
          <p:cNvSpPr/>
          <p:nvPr/>
        </p:nvSpPr>
        <p:spPr>
          <a:xfrm>
            <a:off x="4219757" y="3327431"/>
            <a:ext cx="3749040" cy="45720"/>
          </a:xfrm>
          <a:prstGeom prst="rect">
            <a:avLst/>
          </a:prstGeom>
          <a:solidFill>
            <a:srgbClr val="C62828"/>
          </a:solidFill>
          <a:ln w="12700">
            <a:solidFill>
              <a:srgbClr val="C62828"/>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15" name="Shape 39">
            <a:extLst>
              <a:ext uri="{FF2B5EF4-FFF2-40B4-BE49-F238E27FC236}">
                <a16:creationId xmlns:a16="http://schemas.microsoft.com/office/drawing/2014/main" id="{8AA4FB4B-4287-0E92-6BF3-47FE17FCBB2E}"/>
              </a:ext>
            </a:extLst>
          </p:cNvPr>
          <p:cNvSpPr/>
          <p:nvPr/>
        </p:nvSpPr>
        <p:spPr>
          <a:xfrm>
            <a:off x="4219757" y="3373151"/>
            <a:ext cx="502920" cy="493776"/>
          </a:xfrm>
          <a:prstGeom prst="rect">
            <a:avLst/>
          </a:prstGeom>
          <a:solidFill>
            <a:srgbClr val="C62828"/>
          </a:solidFill>
          <a:ln w="12700">
            <a:solidFill>
              <a:srgbClr val="C62828"/>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16" name="Text 40">
            <a:extLst>
              <a:ext uri="{FF2B5EF4-FFF2-40B4-BE49-F238E27FC236}">
                <a16:creationId xmlns:a16="http://schemas.microsoft.com/office/drawing/2014/main" id="{FDA0B208-13E1-43B9-E626-02E3D12A06DC}"/>
              </a:ext>
            </a:extLst>
          </p:cNvPr>
          <p:cNvSpPr/>
          <p:nvPr/>
        </p:nvSpPr>
        <p:spPr>
          <a:xfrm>
            <a:off x="4219757" y="3373151"/>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a:solidFill>
                  <a:srgbClr val="FFFFFF"/>
                </a:solidFill>
                <a:latin typeface="Calibri" pitchFamily="34" charset="0"/>
                <a:ea typeface="Calibri" pitchFamily="34" charset="-122"/>
                <a:cs typeface="Calibri" pitchFamily="34" charset="-120"/>
              </a:rPr>
              <a:t>05</a:t>
            </a:r>
            <a:endParaRPr lang="en-US" sz="2400"/>
          </a:p>
        </p:txBody>
      </p:sp>
      <p:sp>
        <p:nvSpPr>
          <p:cNvPr id="117" name="Text 41">
            <a:extLst>
              <a:ext uri="{FF2B5EF4-FFF2-40B4-BE49-F238E27FC236}">
                <a16:creationId xmlns:a16="http://schemas.microsoft.com/office/drawing/2014/main" id="{0F06E96B-427B-3DDC-4FAD-3A0D1D83F63A}"/>
              </a:ext>
            </a:extLst>
          </p:cNvPr>
          <p:cNvSpPr/>
          <p:nvPr/>
        </p:nvSpPr>
        <p:spPr>
          <a:xfrm>
            <a:off x="4786685" y="3418871"/>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b="1">
                <a:solidFill>
                  <a:srgbClr val="C62828"/>
                </a:solidFill>
                <a:latin typeface="Calibri"/>
                <a:ea typeface="Calibri"/>
                <a:cs typeface="Calibri"/>
              </a:rPr>
              <a:t>CONTENT CREATION</a:t>
            </a:r>
            <a:endParaRPr lang="en-US" sz="3200"/>
          </a:p>
        </p:txBody>
      </p:sp>
      <p:sp>
        <p:nvSpPr>
          <p:cNvPr id="118" name="Text 42">
            <a:extLst>
              <a:ext uri="{FF2B5EF4-FFF2-40B4-BE49-F238E27FC236}">
                <a16:creationId xmlns:a16="http://schemas.microsoft.com/office/drawing/2014/main" id="{37B84331-1FA7-703C-2550-AF233B0565A6}"/>
              </a:ext>
            </a:extLst>
          </p:cNvPr>
          <p:cNvSpPr/>
          <p:nvPr/>
        </p:nvSpPr>
        <p:spPr>
          <a:xfrm>
            <a:off x="4329485" y="38943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C62828"/>
                </a:solidFill>
                <a:latin typeface="Calibri"/>
                <a:ea typeface="Calibri"/>
                <a:cs typeface="Calibri"/>
              </a:rPr>
              <a:t>▸   </a:t>
            </a:r>
            <a:r>
              <a:rPr lang="en-US" sz="1200">
                <a:solidFill>
                  <a:srgbClr val="1E293B"/>
                </a:solidFill>
                <a:latin typeface="Calibri"/>
                <a:ea typeface="Calibri"/>
                <a:cs typeface="Calibri"/>
              </a:rPr>
              <a:t>Blog posts, marketing copy</a:t>
            </a:r>
            <a:endParaRPr lang="en-US" sz="1200">
              <a:solidFill>
                <a:srgbClr val="1E293B"/>
              </a:solidFill>
              <a:latin typeface="Calibri" pitchFamily="34" charset="0"/>
              <a:ea typeface="Calibri" pitchFamily="34" charset="-122"/>
              <a:cs typeface="Calibri" pitchFamily="34" charset="-120"/>
            </a:endParaRPr>
          </a:p>
        </p:txBody>
      </p:sp>
      <p:sp>
        <p:nvSpPr>
          <p:cNvPr id="119" name="Text 43">
            <a:extLst>
              <a:ext uri="{FF2B5EF4-FFF2-40B4-BE49-F238E27FC236}">
                <a16:creationId xmlns:a16="http://schemas.microsoft.com/office/drawing/2014/main" id="{022A3C79-2A9E-13F0-7017-E9B02E492695}"/>
              </a:ext>
            </a:extLst>
          </p:cNvPr>
          <p:cNvSpPr/>
          <p:nvPr/>
        </p:nvSpPr>
        <p:spPr>
          <a:xfrm>
            <a:off x="4329485" y="4271267"/>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C62828"/>
                </a:solidFill>
                <a:latin typeface="Calibri"/>
                <a:ea typeface="Calibri"/>
                <a:cs typeface="Calibri"/>
              </a:rPr>
              <a:t>▸ </a:t>
            </a:r>
            <a:r>
              <a:rPr lang="en-US" sz="1200">
                <a:solidFill>
                  <a:srgbClr val="1E293B"/>
                </a:solidFill>
                <a:latin typeface="Calibri"/>
                <a:ea typeface="Calibri"/>
                <a:cs typeface="Calibri"/>
              </a:rPr>
              <a:t>Social media, presentations</a:t>
            </a:r>
          </a:p>
        </p:txBody>
      </p:sp>
      <p:sp>
        <p:nvSpPr>
          <p:cNvPr id="121" name="TextBox 110">
            <a:extLst>
              <a:ext uri="{FF2B5EF4-FFF2-40B4-BE49-F238E27FC236}">
                <a16:creationId xmlns:a16="http://schemas.microsoft.com/office/drawing/2014/main" id="{8AB8036A-9E15-75AE-66AB-1E27988C6D94}"/>
              </a:ext>
            </a:extLst>
          </p:cNvPr>
          <p:cNvSpPr txBox="1"/>
          <p:nvPr/>
        </p:nvSpPr>
        <p:spPr>
          <a:xfrm>
            <a:off x="364435" y="811696"/>
            <a:ext cx="6096000"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i="1" u="none" strike="noStrike" baseline="0">
                <a:solidFill>
                  <a:schemeClr val="tx2">
                    <a:lumMod val="90000"/>
                    <a:lumOff val="10000"/>
                  </a:schemeClr>
                </a:solidFill>
                <a:latin typeface="Calibri"/>
              </a:rPr>
              <a:t>▸ </a:t>
            </a:r>
            <a:r>
              <a:rPr lang="en-US" sz="1200" i="1">
                <a:solidFill>
                  <a:schemeClr val="tx2">
                    <a:lumMod val="90000"/>
                    <a:lumOff val="10000"/>
                  </a:schemeClr>
                </a:solidFill>
                <a:latin typeface="Calibri"/>
              </a:rPr>
              <a:t>How can we use AI in daily life</a:t>
            </a:r>
            <a:endParaRPr lang="en-US" sz="1200" i="1">
              <a:solidFill>
                <a:schemeClr val="tx2">
                  <a:lumMod val="90000"/>
                  <a:lumOff val="10000"/>
                </a:schemeClr>
              </a:solidFill>
              <a:latin typeface="Calibri"/>
              <a:ea typeface="Calibri"/>
              <a:cs typeface="Calibri"/>
            </a:endParaRPr>
          </a:p>
          <a:p>
            <a:pPr algn="ctr"/>
            <a:endParaRPr lang="en-US" sz="3200" i="1">
              <a:solidFill>
                <a:schemeClr val="tx2">
                  <a:lumMod val="90000"/>
                  <a:lumOff val="10000"/>
                </a:schemeClr>
              </a:solidFill>
            </a:endParaRPr>
          </a:p>
        </p:txBody>
      </p:sp>
      <p:sp>
        <p:nvSpPr>
          <p:cNvPr id="122" name="Text 2">
            <a:extLst>
              <a:ext uri="{FF2B5EF4-FFF2-40B4-BE49-F238E27FC236}">
                <a16:creationId xmlns:a16="http://schemas.microsoft.com/office/drawing/2014/main" id="{9114681D-719A-468B-A68E-9F5C8DF2EF52}"/>
              </a:ext>
            </a:extLst>
          </p:cNvPr>
          <p:cNvSpPr/>
          <p:nvPr/>
        </p:nvSpPr>
        <p:spPr>
          <a:xfrm>
            <a:off x="488656" y="357824"/>
            <a:ext cx="4863493" cy="910912"/>
          </a:xfrm>
          <a:prstGeom prst="rect">
            <a:avLst/>
          </a:prstGeom>
          <a:noFill/>
          <a:ln/>
        </p:spPr>
        <p:txBody>
          <a:bodyPr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4000"/>
              </a:lnSpc>
            </a:pPr>
            <a:r>
              <a:rPr lang="en-US" sz="3200" b="1">
                <a:solidFill>
                  <a:schemeClr val="tx2">
                    <a:lumMod val="76000"/>
                    <a:lumOff val="24000"/>
                  </a:schemeClr>
                </a:solidFill>
                <a:latin typeface="Aptos"/>
              </a:rPr>
              <a:t>DAILY USECASES</a:t>
            </a:r>
            <a:endParaRPr lang="en-US"/>
          </a:p>
        </p:txBody>
      </p:sp>
      <p:sp>
        <p:nvSpPr>
          <p:cNvPr id="123" name="Shape 21">
            <a:extLst>
              <a:ext uri="{FF2B5EF4-FFF2-40B4-BE49-F238E27FC236}">
                <a16:creationId xmlns:a16="http://schemas.microsoft.com/office/drawing/2014/main" id="{9B6A1678-04C0-D721-4D04-3F9B336511FA}"/>
              </a:ext>
            </a:extLst>
          </p:cNvPr>
          <p:cNvSpPr/>
          <p:nvPr/>
        </p:nvSpPr>
        <p:spPr>
          <a:xfrm>
            <a:off x="8078525" y="1360127"/>
            <a:ext cx="3749040" cy="1783080"/>
          </a:xfrm>
          <a:prstGeom prst="rect">
            <a:avLst/>
          </a:prstGeom>
          <a:solidFill>
            <a:srgbClr val="EDE9FE"/>
          </a:solidFill>
          <a:ln w="12700">
            <a:solidFill>
              <a:srgbClr val="7C3AED"/>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24" name="Shape 23">
            <a:extLst>
              <a:ext uri="{FF2B5EF4-FFF2-40B4-BE49-F238E27FC236}">
                <a16:creationId xmlns:a16="http://schemas.microsoft.com/office/drawing/2014/main" id="{6D232182-6EFC-8C98-6552-C4F599303B22}"/>
              </a:ext>
            </a:extLst>
          </p:cNvPr>
          <p:cNvSpPr/>
          <p:nvPr/>
        </p:nvSpPr>
        <p:spPr>
          <a:xfrm>
            <a:off x="8078525" y="1405847"/>
            <a:ext cx="502920" cy="493776"/>
          </a:xfrm>
          <a:prstGeom prst="rect">
            <a:avLst/>
          </a:prstGeom>
          <a:solidFill>
            <a:srgbClr val="7C3AED"/>
          </a:solidFill>
          <a:ln w="12700">
            <a:solidFill>
              <a:srgbClr val="7C3A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p>
        </p:txBody>
      </p:sp>
      <p:sp>
        <p:nvSpPr>
          <p:cNvPr id="125" name="Text 24">
            <a:extLst>
              <a:ext uri="{FF2B5EF4-FFF2-40B4-BE49-F238E27FC236}">
                <a16:creationId xmlns:a16="http://schemas.microsoft.com/office/drawing/2014/main" id="{9C39D3B6-6DA3-43C0-DA19-453F37896FB3}"/>
              </a:ext>
            </a:extLst>
          </p:cNvPr>
          <p:cNvSpPr/>
          <p:nvPr/>
        </p:nvSpPr>
        <p:spPr>
          <a:xfrm>
            <a:off x="8078525" y="1405847"/>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FFFFFF"/>
                </a:solidFill>
                <a:latin typeface="Calibri" pitchFamily="34" charset="0"/>
                <a:ea typeface="Calibri" pitchFamily="34" charset="-122"/>
                <a:cs typeface="Calibri" pitchFamily="34" charset="-120"/>
              </a:rPr>
              <a:t>03</a:t>
            </a:r>
            <a:endParaRPr lang="en-US" sz="2000"/>
          </a:p>
        </p:txBody>
      </p:sp>
      <p:sp>
        <p:nvSpPr>
          <p:cNvPr id="126" name="Text 25">
            <a:extLst>
              <a:ext uri="{FF2B5EF4-FFF2-40B4-BE49-F238E27FC236}">
                <a16:creationId xmlns:a16="http://schemas.microsoft.com/office/drawing/2014/main" id="{21E18F11-1C6E-E990-37D4-049EBC98C616}"/>
              </a:ext>
            </a:extLst>
          </p:cNvPr>
          <p:cNvSpPr/>
          <p:nvPr/>
        </p:nvSpPr>
        <p:spPr>
          <a:xfrm>
            <a:off x="8645453" y="1451567"/>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a:solidFill>
                  <a:srgbClr val="7C3AED"/>
                </a:solidFill>
                <a:latin typeface="Calibri" pitchFamily="34" charset="0"/>
                <a:ea typeface="Calibri" pitchFamily="34" charset="-122"/>
                <a:cs typeface="Calibri" pitchFamily="34" charset="-120"/>
              </a:rPr>
              <a:t>AI Clinical Review</a:t>
            </a:r>
            <a:endParaRPr lang="en-US" sz="1600"/>
          </a:p>
        </p:txBody>
      </p:sp>
      <p:sp>
        <p:nvSpPr>
          <p:cNvPr id="127" name="Text 26">
            <a:extLst>
              <a:ext uri="{FF2B5EF4-FFF2-40B4-BE49-F238E27FC236}">
                <a16:creationId xmlns:a16="http://schemas.microsoft.com/office/drawing/2014/main" id="{FA609757-A346-6781-286A-15326BC3B51A}"/>
              </a:ext>
            </a:extLst>
          </p:cNvPr>
          <p:cNvSpPr/>
          <p:nvPr/>
        </p:nvSpPr>
        <p:spPr>
          <a:xfrm>
            <a:off x="8143428" y="1855335"/>
            <a:ext cx="3657600"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7C3AED"/>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Per-guideline verdict: CMS / MCG / InterQual - Met, Not Met, or Partial</a:t>
            </a:r>
          </a:p>
        </p:txBody>
      </p:sp>
      <p:sp>
        <p:nvSpPr>
          <p:cNvPr id="128" name="Text 27">
            <a:extLst>
              <a:ext uri="{FF2B5EF4-FFF2-40B4-BE49-F238E27FC236}">
                <a16:creationId xmlns:a16="http://schemas.microsoft.com/office/drawing/2014/main" id="{7FC40372-B6BB-B545-54F1-FBACCE99869C}"/>
              </a:ext>
            </a:extLst>
          </p:cNvPr>
          <p:cNvSpPr/>
          <p:nvPr/>
        </p:nvSpPr>
        <p:spPr>
          <a:xfrm>
            <a:off x="8143428" y="2041975"/>
            <a:ext cx="3657600"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7C3AED"/>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AI derives a recommended decision with confidence scoring</a:t>
            </a:r>
            <a:endParaRPr lang="en-US" sz="1200"/>
          </a:p>
        </p:txBody>
      </p:sp>
      <p:sp>
        <p:nvSpPr>
          <p:cNvPr id="130" name="Shape 45">
            <a:extLst>
              <a:ext uri="{FF2B5EF4-FFF2-40B4-BE49-F238E27FC236}">
                <a16:creationId xmlns:a16="http://schemas.microsoft.com/office/drawing/2014/main" id="{D3F12580-21FB-4935-FF65-8C8F42CE1EB0}"/>
              </a:ext>
            </a:extLst>
          </p:cNvPr>
          <p:cNvSpPr/>
          <p:nvPr/>
        </p:nvSpPr>
        <p:spPr>
          <a:xfrm>
            <a:off x="8078525" y="3327431"/>
            <a:ext cx="3749040" cy="1783080"/>
          </a:xfrm>
          <a:prstGeom prst="rect">
            <a:avLst/>
          </a:prstGeom>
          <a:solidFill>
            <a:srgbClr val="FEF3C7"/>
          </a:solidFill>
          <a:ln w="12700">
            <a:solidFill>
              <a:srgbClr val="F59E0B"/>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31" name="Shape 46">
            <a:extLst>
              <a:ext uri="{FF2B5EF4-FFF2-40B4-BE49-F238E27FC236}">
                <a16:creationId xmlns:a16="http://schemas.microsoft.com/office/drawing/2014/main" id="{636BADB5-09D9-9095-BF67-875DB04E8A30}"/>
              </a:ext>
            </a:extLst>
          </p:cNvPr>
          <p:cNvSpPr/>
          <p:nvPr/>
        </p:nvSpPr>
        <p:spPr>
          <a:xfrm>
            <a:off x="8078525" y="3327431"/>
            <a:ext cx="3749040" cy="45720"/>
          </a:xfrm>
          <a:prstGeom prst="rect">
            <a:avLst/>
          </a:prstGeom>
          <a:solidFill>
            <a:srgbClr val="F59E0B"/>
          </a:solidFill>
          <a:ln w="12700">
            <a:solidFill>
              <a:srgbClr val="F59E0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32" name="Shape 47">
            <a:extLst>
              <a:ext uri="{FF2B5EF4-FFF2-40B4-BE49-F238E27FC236}">
                <a16:creationId xmlns:a16="http://schemas.microsoft.com/office/drawing/2014/main" id="{833A66BD-5E1B-E83C-E083-2D9FA3372928}"/>
              </a:ext>
            </a:extLst>
          </p:cNvPr>
          <p:cNvSpPr/>
          <p:nvPr/>
        </p:nvSpPr>
        <p:spPr>
          <a:xfrm>
            <a:off x="8078525" y="3373151"/>
            <a:ext cx="502920" cy="493776"/>
          </a:xfrm>
          <a:prstGeom prst="rect">
            <a:avLst/>
          </a:prstGeom>
          <a:solidFill>
            <a:srgbClr val="F59E0B"/>
          </a:solidFill>
          <a:ln w="12700">
            <a:solidFill>
              <a:srgbClr val="F59E0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33" name="Text 48">
            <a:extLst>
              <a:ext uri="{FF2B5EF4-FFF2-40B4-BE49-F238E27FC236}">
                <a16:creationId xmlns:a16="http://schemas.microsoft.com/office/drawing/2014/main" id="{81D61DE6-D6E0-834E-833C-28F2DFF0837C}"/>
              </a:ext>
            </a:extLst>
          </p:cNvPr>
          <p:cNvSpPr/>
          <p:nvPr/>
        </p:nvSpPr>
        <p:spPr>
          <a:xfrm>
            <a:off x="8078525" y="3373151"/>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a:solidFill>
                  <a:srgbClr val="FFFFFF"/>
                </a:solidFill>
                <a:latin typeface="Calibri" pitchFamily="34" charset="0"/>
                <a:ea typeface="Calibri" pitchFamily="34" charset="-122"/>
                <a:cs typeface="Calibri" pitchFamily="34" charset="-120"/>
              </a:rPr>
              <a:t>06</a:t>
            </a:r>
            <a:endParaRPr lang="en-US" sz="2400"/>
          </a:p>
        </p:txBody>
      </p:sp>
      <p:sp>
        <p:nvSpPr>
          <p:cNvPr id="134" name="Text 49">
            <a:extLst>
              <a:ext uri="{FF2B5EF4-FFF2-40B4-BE49-F238E27FC236}">
                <a16:creationId xmlns:a16="http://schemas.microsoft.com/office/drawing/2014/main" id="{56B2C562-6661-1D78-0E68-198593345068}"/>
              </a:ext>
            </a:extLst>
          </p:cNvPr>
          <p:cNvSpPr/>
          <p:nvPr/>
        </p:nvSpPr>
        <p:spPr>
          <a:xfrm>
            <a:off x="8645453" y="3418871"/>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a:solidFill>
                  <a:srgbClr val="F59E0B"/>
                </a:solidFill>
                <a:latin typeface="Calibri" pitchFamily="34" charset="0"/>
                <a:ea typeface="Calibri" pitchFamily="34" charset="-122"/>
                <a:cs typeface="Calibri" pitchFamily="34" charset="-120"/>
              </a:rPr>
              <a:t>FHIR R4 Integration Phase</a:t>
            </a:r>
            <a:endParaRPr lang="en-US"/>
          </a:p>
        </p:txBody>
      </p:sp>
      <p:sp>
        <p:nvSpPr>
          <p:cNvPr id="135" name="Text 50">
            <a:extLst>
              <a:ext uri="{FF2B5EF4-FFF2-40B4-BE49-F238E27FC236}">
                <a16:creationId xmlns:a16="http://schemas.microsoft.com/office/drawing/2014/main" id="{ADDF973C-5933-B4E8-8F2F-3B2A94DE4503}"/>
              </a:ext>
            </a:extLst>
          </p:cNvPr>
          <p:cNvSpPr/>
          <p:nvPr/>
        </p:nvSpPr>
        <p:spPr>
          <a:xfrm>
            <a:off x="8188253" y="38943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F59E0B"/>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CDS Hooks — fires at order-select and order-sign in provider EHR workflow</a:t>
            </a:r>
            <a:endParaRPr lang="en-US" sz="1200"/>
          </a:p>
        </p:txBody>
      </p:sp>
      <p:sp>
        <p:nvSpPr>
          <p:cNvPr id="136" name="Text 51">
            <a:extLst>
              <a:ext uri="{FF2B5EF4-FFF2-40B4-BE49-F238E27FC236}">
                <a16:creationId xmlns:a16="http://schemas.microsoft.com/office/drawing/2014/main" id="{4F9AD2E6-8521-4263-E482-3C0E5BB0BD69}"/>
              </a:ext>
            </a:extLst>
          </p:cNvPr>
          <p:cNvSpPr/>
          <p:nvPr/>
        </p:nvSpPr>
        <p:spPr>
          <a:xfrm>
            <a:off x="8188253" y="42692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F59E0B"/>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DTR questionnaire delivery, PAS claims, SMART on FHIR auth</a:t>
            </a:r>
            <a:endParaRPr lang="en-US" sz="1200"/>
          </a:p>
        </p:txBody>
      </p:sp>
      <p:sp>
        <p:nvSpPr>
          <p:cNvPr id="137" name="Text 52">
            <a:extLst>
              <a:ext uri="{FF2B5EF4-FFF2-40B4-BE49-F238E27FC236}">
                <a16:creationId xmlns:a16="http://schemas.microsoft.com/office/drawing/2014/main" id="{F576A9E7-2BE3-1657-C0A2-BC152F2B1440}"/>
              </a:ext>
            </a:extLst>
          </p:cNvPr>
          <p:cNvSpPr/>
          <p:nvPr/>
        </p:nvSpPr>
        <p:spPr>
          <a:xfrm>
            <a:off x="8188253" y="4644167"/>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0000"/>
              </a:lnSpc>
              <a:buNone/>
            </a:pPr>
            <a:r>
              <a:rPr lang="en-US" sz="1200" b="1">
                <a:solidFill>
                  <a:srgbClr val="F59E0B"/>
                </a:solidFill>
                <a:latin typeface="Calibri" pitchFamily="34" charset="0"/>
                <a:ea typeface="Calibri" pitchFamily="34" charset="-122"/>
                <a:cs typeface="Calibri" pitchFamily="34" charset="-120"/>
              </a:rPr>
              <a:t>▸  </a:t>
            </a:r>
            <a:r>
              <a:rPr lang="en-US" sz="1200">
                <a:solidFill>
                  <a:srgbClr val="1E293B"/>
                </a:solidFill>
                <a:latin typeface="Calibri" pitchFamily="34" charset="0"/>
                <a:ea typeface="Calibri" pitchFamily="34" charset="-122"/>
                <a:cs typeface="Calibri" pitchFamily="34" charset="-120"/>
              </a:rPr>
              <a:t>CQL rule engine — executable clinical guidelines natively in FHIR</a:t>
            </a:r>
            <a:endParaRPr lang="en-US" sz="1200"/>
          </a:p>
        </p:txBody>
      </p:sp>
      <p:sp>
        <p:nvSpPr>
          <p:cNvPr id="138" name="Text 28">
            <a:extLst>
              <a:ext uri="{FF2B5EF4-FFF2-40B4-BE49-F238E27FC236}">
                <a16:creationId xmlns:a16="http://schemas.microsoft.com/office/drawing/2014/main" id="{9AAC226C-0574-F0AE-FED5-F373C9489EA7}"/>
              </a:ext>
            </a:extLst>
          </p:cNvPr>
          <p:cNvSpPr/>
          <p:nvPr/>
        </p:nvSpPr>
        <p:spPr>
          <a:xfrm>
            <a:off x="8193333" y="276830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en-US" sz="1200">
              <a:ea typeface="Calibri" pitchFamily="34" charset="-122"/>
              <a:cs typeface="Arial" panose="020B0604020202020204" pitchFamily="34" charset="0"/>
            </a:endParaRPr>
          </a:p>
        </p:txBody>
      </p:sp>
      <p:sp>
        <p:nvSpPr>
          <p:cNvPr id="139" name="Text 27">
            <a:extLst>
              <a:ext uri="{FF2B5EF4-FFF2-40B4-BE49-F238E27FC236}">
                <a16:creationId xmlns:a16="http://schemas.microsoft.com/office/drawing/2014/main" id="{1D557254-8001-E2CD-F2F8-B059219672CC}"/>
              </a:ext>
            </a:extLst>
          </p:cNvPr>
          <p:cNvSpPr/>
          <p:nvPr/>
        </p:nvSpPr>
        <p:spPr>
          <a:xfrm>
            <a:off x="8134463" y="2275060"/>
            <a:ext cx="3657600"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7C3AED"/>
                </a:solidFill>
                <a:latin typeface="Calibri" pitchFamily="34" charset="0"/>
                <a:ea typeface="Calibri" pitchFamily="34" charset="-122"/>
                <a:cs typeface="Calibri" pitchFamily="34" charset="-120"/>
              </a:rPr>
              <a:t>▸  </a:t>
            </a:r>
            <a:r>
              <a:rPr lang="en-US" sz="1200">
                <a:latin typeface="Calibri" pitchFamily="34" charset="0"/>
                <a:ea typeface="Calibri" pitchFamily="34" charset="-122"/>
                <a:cs typeface="Calibri" pitchFamily="34" charset="-120"/>
              </a:rPr>
              <a:t>Approve / Deny / Pend recommendations are presented to clinical staff - final determination remains 100% human‑driven</a:t>
            </a:r>
            <a:endParaRPr lang="en-US" sz="1200"/>
          </a:p>
        </p:txBody>
      </p:sp>
      <p:sp>
        <p:nvSpPr>
          <p:cNvPr id="140" name="Shape 21">
            <a:extLst>
              <a:ext uri="{FF2B5EF4-FFF2-40B4-BE49-F238E27FC236}">
                <a16:creationId xmlns:a16="http://schemas.microsoft.com/office/drawing/2014/main" id="{044D9F7E-C2D3-E76E-B886-9D91049EFD56}"/>
              </a:ext>
            </a:extLst>
          </p:cNvPr>
          <p:cNvSpPr/>
          <p:nvPr/>
        </p:nvSpPr>
        <p:spPr>
          <a:xfrm>
            <a:off x="8078525" y="1360127"/>
            <a:ext cx="3749040" cy="1783080"/>
          </a:xfrm>
          <a:prstGeom prst="rect">
            <a:avLst/>
          </a:prstGeom>
          <a:solidFill>
            <a:srgbClr val="EDE9FE"/>
          </a:solidFill>
          <a:ln w="12700">
            <a:solidFill>
              <a:srgbClr val="7C3AED"/>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41" name="Shape 23">
            <a:extLst>
              <a:ext uri="{FF2B5EF4-FFF2-40B4-BE49-F238E27FC236}">
                <a16:creationId xmlns:a16="http://schemas.microsoft.com/office/drawing/2014/main" id="{277B4ABA-2F07-F15C-027A-AC99483899D4}"/>
              </a:ext>
            </a:extLst>
          </p:cNvPr>
          <p:cNvSpPr/>
          <p:nvPr/>
        </p:nvSpPr>
        <p:spPr>
          <a:xfrm>
            <a:off x="8078525" y="1405847"/>
            <a:ext cx="502920" cy="493776"/>
          </a:xfrm>
          <a:prstGeom prst="rect">
            <a:avLst/>
          </a:prstGeom>
          <a:solidFill>
            <a:srgbClr val="7C3AED"/>
          </a:solidFill>
          <a:ln w="12700">
            <a:solidFill>
              <a:srgbClr val="7C3AED"/>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800"/>
          </a:p>
        </p:txBody>
      </p:sp>
      <p:sp>
        <p:nvSpPr>
          <p:cNvPr id="142" name="Text 24">
            <a:extLst>
              <a:ext uri="{FF2B5EF4-FFF2-40B4-BE49-F238E27FC236}">
                <a16:creationId xmlns:a16="http://schemas.microsoft.com/office/drawing/2014/main" id="{E695E201-DFEA-0799-0CAE-72BC7774ED75}"/>
              </a:ext>
            </a:extLst>
          </p:cNvPr>
          <p:cNvSpPr/>
          <p:nvPr/>
        </p:nvSpPr>
        <p:spPr>
          <a:xfrm>
            <a:off x="8078525" y="1405847"/>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000" b="1">
                <a:solidFill>
                  <a:srgbClr val="FFFFFF"/>
                </a:solidFill>
                <a:latin typeface="Calibri" pitchFamily="34" charset="0"/>
                <a:ea typeface="Calibri" pitchFamily="34" charset="-122"/>
                <a:cs typeface="Calibri" pitchFamily="34" charset="-120"/>
              </a:rPr>
              <a:t>03</a:t>
            </a:r>
            <a:endParaRPr lang="en-US" sz="2000"/>
          </a:p>
        </p:txBody>
      </p:sp>
      <p:sp>
        <p:nvSpPr>
          <p:cNvPr id="143" name="Text 25">
            <a:extLst>
              <a:ext uri="{FF2B5EF4-FFF2-40B4-BE49-F238E27FC236}">
                <a16:creationId xmlns:a16="http://schemas.microsoft.com/office/drawing/2014/main" id="{0DBA5F95-F839-A0AE-CB25-BE5E5E77D1D3}"/>
              </a:ext>
            </a:extLst>
          </p:cNvPr>
          <p:cNvSpPr/>
          <p:nvPr/>
        </p:nvSpPr>
        <p:spPr>
          <a:xfrm>
            <a:off x="8645453" y="1451567"/>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b="1">
                <a:solidFill>
                  <a:srgbClr val="7C3AED"/>
                </a:solidFill>
                <a:latin typeface="Calibri"/>
                <a:ea typeface="Calibri"/>
                <a:cs typeface="Calibri"/>
              </a:rPr>
              <a:t>DATA ANALYSIS</a:t>
            </a:r>
            <a:endParaRPr lang="en-US" sz="2800"/>
          </a:p>
        </p:txBody>
      </p:sp>
      <p:sp>
        <p:nvSpPr>
          <p:cNvPr id="144" name="Text 26">
            <a:extLst>
              <a:ext uri="{FF2B5EF4-FFF2-40B4-BE49-F238E27FC236}">
                <a16:creationId xmlns:a16="http://schemas.microsoft.com/office/drawing/2014/main" id="{CE9B6A5C-7E83-CE84-E1AC-0794C7E783EA}"/>
              </a:ext>
            </a:extLst>
          </p:cNvPr>
          <p:cNvSpPr/>
          <p:nvPr/>
        </p:nvSpPr>
        <p:spPr>
          <a:xfrm>
            <a:off x="8143428" y="1855335"/>
            <a:ext cx="3657600"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7C3AED"/>
                </a:solidFill>
                <a:latin typeface="Calibri"/>
                <a:ea typeface="Calibri"/>
                <a:cs typeface="Calibri"/>
              </a:rPr>
              <a:t>▸ </a:t>
            </a:r>
            <a:r>
              <a:rPr lang="en-US" sz="1200" err="1">
                <a:solidFill>
                  <a:srgbClr val="1E293B"/>
                </a:solidFill>
                <a:latin typeface="Calibri"/>
                <a:ea typeface="Calibri"/>
                <a:cs typeface="Calibri"/>
              </a:rPr>
              <a:t>Analyse</a:t>
            </a:r>
            <a:r>
              <a:rPr lang="en-US" sz="1200">
                <a:solidFill>
                  <a:srgbClr val="1E293B"/>
                </a:solidFill>
                <a:latin typeface="Calibri"/>
                <a:ea typeface="Calibri"/>
                <a:cs typeface="Calibri"/>
              </a:rPr>
              <a:t> datasets, create visualizations</a:t>
            </a:r>
            <a:endParaRPr lang="en-US" sz="3200"/>
          </a:p>
        </p:txBody>
      </p:sp>
      <p:sp>
        <p:nvSpPr>
          <p:cNvPr id="145" name="Text 27">
            <a:extLst>
              <a:ext uri="{FF2B5EF4-FFF2-40B4-BE49-F238E27FC236}">
                <a16:creationId xmlns:a16="http://schemas.microsoft.com/office/drawing/2014/main" id="{5A9A1D10-C599-B0F1-B3D0-946DD8AF05EA}"/>
              </a:ext>
            </a:extLst>
          </p:cNvPr>
          <p:cNvSpPr/>
          <p:nvPr/>
        </p:nvSpPr>
        <p:spPr>
          <a:xfrm>
            <a:off x="8143428" y="2128239"/>
            <a:ext cx="3657600"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7C3AED"/>
                </a:solidFill>
                <a:latin typeface="Calibri"/>
                <a:ea typeface="Calibri"/>
                <a:cs typeface="Calibri"/>
              </a:rPr>
              <a:t>▸  </a:t>
            </a:r>
            <a:r>
              <a:rPr lang="en-US" sz="1200">
                <a:solidFill>
                  <a:srgbClr val="1E293B"/>
                </a:solidFill>
                <a:latin typeface="Calibri"/>
                <a:ea typeface="Calibri"/>
                <a:cs typeface="Calibri"/>
              </a:rPr>
              <a:t>Generate insights &amp; reports</a:t>
            </a:r>
            <a:endParaRPr lang="en-US" sz="1200"/>
          </a:p>
        </p:txBody>
      </p:sp>
      <p:sp>
        <p:nvSpPr>
          <p:cNvPr id="147" name="Shape 45">
            <a:extLst>
              <a:ext uri="{FF2B5EF4-FFF2-40B4-BE49-F238E27FC236}">
                <a16:creationId xmlns:a16="http://schemas.microsoft.com/office/drawing/2014/main" id="{67E8CDC8-6F54-4BD7-EB72-6F06831E19DD}"/>
              </a:ext>
            </a:extLst>
          </p:cNvPr>
          <p:cNvSpPr/>
          <p:nvPr/>
        </p:nvSpPr>
        <p:spPr>
          <a:xfrm>
            <a:off x="8078525" y="3327431"/>
            <a:ext cx="3749040" cy="1783080"/>
          </a:xfrm>
          <a:prstGeom prst="rect">
            <a:avLst/>
          </a:prstGeom>
          <a:solidFill>
            <a:srgbClr val="FEF3C7"/>
          </a:solidFill>
          <a:ln w="12700">
            <a:solidFill>
              <a:srgbClr val="F59E0B"/>
            </a:solidFill>
            <a:prstDash val="solid"/>
          </a:ln>
          <a:effectLst>
            <a:outerShdw blurRad="63500" dist="25400" dir="8100000" algn="bl" rotWithShape="0">
              <a:srgbClr val="000000">
                <a:alpha val="9000"/>
              </a:srgbClr>
            </a:outerShdw>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48" name="Shape 46">
            <a:extLst>
              <a:ext uri="{FF2B5EF4-FFF2-40B4-BE49-F238E27FC236}">
                <a16:creationId xmlns:a16="http://schemas.microsoft.com/office/drawing/2014/main" id="{FBF1442F-1976-7073-3161-C549534369E0}"/>
              </a:ext>
            </a:extLst>
          </p:cNvPr>
          <p:cNvSpPr/>
          <p:nvPr/>
        </p:nvSpPr>
        <p:spPr>
          <a:xfrm>
            <a:off x="8078525" y="3327431"/>
            <a:ext cx="3749040" cy="45720"/>
          </a:xfrm>
          <a:prstGeom prst="rect">
            <a:avLst/>
          </a:prstGeom>
          <a:solidFill>
            <a:srgbClr val="F59E0B"/>
          </a:solidFill>
          <a:ln w="12700">
            <a:solidFill>
              <a:srgbClr val="F59E0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49" name="Shape 47">
            <a:extLst>
              <a:ext uri="{FF2B5EF4-FFF2-40B4-BE49-F238E27FC236}">
                <a16:creationId xmlns:a16="http://schemas.microsoft.com/office/drawing/2014/main" id="{B99ABB27-2C0C-AB8C-7EBD-B31EC014F743}"/>
              </a:ext>
            </a:extLst>
          </p:cNvPr>
          <p:cNvSpPr/>
          <p:nvPr/>
        </p:nvSpPr>
        <p:spPr>
          <a:xfrm>
            <a:off x="8078525" y="3373151"/>
            <a:ext cx="502920" cy="493776"/>
          </a:xfrm>
          <a:prstGeom prst="rect">
            <a:avLst/>
          </a:prstGeom>
          <a:solidFill>
            <a:srgbClr val="F59E0B"/>
          </a:solidFill>
          <a:ln w="12700">
            <a:solidFill>
              <a:srgbClr val="F59E0B"/>
            </a:solidFill>
            <a:prstDash val="soli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3200"/>
          </a:p>
        </p:txBody>
      </p:sp>
      <p:sp>
        <p:nvSpPr>
          <p:cNvPr id="150" name="Text 48">
            <a:extLst>
              <a:ext uri="{FF2B5EF4-FFF2-40B4-BE49-F238E27FC236}">
                <a16:creationId xmlns:a16="http://schemas.microsoft.com/office/drawing/2014/main" id="{D4CEA04C-CA1E-62EA-309E-2EE67A868820}"/>
              </a:ext>
            </a:extLst>
          </p:cNvPr>
          <p:cNvSpPr/>
          <p:nvPr/>
        </p:nvSpPr>
        <p:spPr>
          <a:xfrm>
            <a:off x="8078525" y="3373151"/>
            <a:ext cx="502920" cy="493776"/>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400" b="1">
                <a:solidFill>
                  <a:srgbClr val="FFFFFF"/>
                </a:solidFill>
                <a:latin typeface="Calibri" pitchFamily="34" charset="0"/>
                <a:ea typeface="Calibri" pitchFamily="34" charset="-122"/>
                <a:cs typeface="Calibri" pitchFamily="34" charset="-120"/>
              </a:rPr>
              <a:t>06</a:t>
            </a:r>
            <a:endParaRPr lang="en-US" sz="2400"/>
          </a:p>
        </p:txBody>
      </p:sp>
      <p:sp>
        <p:nvSpPr>
          <p:cNvPr id="151" name="Text 49">
            <a:extLst>
              <a:ext uri="{FF2B5EF4-FFF2-40B4-BE49-F238E27FC236}">
                <a16:creationId xmlns:a16="http://schemas.microsoft.com/office/drawing/2014/main" id="{CE24CFDF-E679-A73B-F2E4-80A411E7903E}"/>
              </a:ext>
            </a:extLst>
          </p:cNvPr>
          <p:cNvSpPr/>
          <p:nvPr/>
        </p:nvSpPr>
        <p:spPr>
          <a:xfrm>
            <a:off x="8645453" y="3418871"/>
            <a:ext cx="3090672" cy="420624"/>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a:solidFill>
                  <a:srgbClr val="F59E0B"/>
                </a:solidFill>
                <a:latin typeface="Calibri"/>
                <a:ea typeface="Calibri"/>
                <a:cs typeface="Calibri"/>
              </a:rPr>
              <a:t>PRODUCTIVITY</a:t>
            </a:r>
            <a:endParaRPr lang="en-US" sz="3200"/>
          </a:p>
        </p:txBody>
      </p:sp>
      <p:sp>
        <p:nvSpPr>
          <p:cNvPr id="152" name="Text 50">
            <a:extLst>
              <a:ext uri="{FF2B5EF4-FFF2-40B4-BE49-F238E27FC236}">
                <a16:creationId xmlns:a16="http://schemas.microsoft.com/office/drawing/2014/main" id="{0FC134EF-E7DF-025C-5200-33FA0C0244DD}"/>
              </a:ext>
            </a:extLst>
          </p:cNvPr>
          <p:cNvSpPr/>
          <p:nvPr/>
        </p:nvSpPr>
        <p:spPr>
          <a:xfrm>
            <a:off x="8188253" y="3894359"/>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F59E0B"/>
                </a:solidFill>
                <a:latin typeface="Calibri"/>
                <a:ea typeface="Calibri"/>
                <a:cs typeface="Calibri"/>
              </a:rPr>
              <a:t>▸ </a:t>
            </a:r>
            <a:r>
              <a:rPr lang="en-US" sz="1200">
                <a:solidFill>
                  <a:srgbClr val="1E293B"/>
                </a:solidFill>
                <a:latin typeface="Calibri"/>
                <a:ea typeface="Calibri"/>
                <a:cs typeface="Calibri"/>
              </a:rPr>
              <a:t>Automate workflows.</a:t>
            </a:r>
          </a:p>
        </p:txBody>
      </p:sp>
      <p:sp>
        <p:nvSpPr>
          <p:cNvPr id="153" name="Text 51">
            <a:extLst>
              <a:ext uri="{FF2B5EF4-FFF2-40B4-BE49-F238E27FC236}">
                <a16:creationId xmlns:a16="http://schemas.microsoft.com/office/drawing/2014/main" id="{205F7F16-11F6-0B8B-6C2B-AA1CD5FE3FF6}"/>
              </a:ext>
            </a:extLst>
          </p:cNvPr>
          <p:cNvSpPr/>
          <p:nvPr/>
        </p:nvSpPr>
        <p:spPr>
          <a:xfrm>
            <a:off x="8188253" y="426926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F59E0B"/>
                </a:solidFill>
                <a:latin typeface="Calibri"/>
                <a:ea typeface="Calibri"/>
                <a:cs typeface="Calibri"/>
              </a:rPr>
              <a:t>▸  </a:t>
            </a:r>
            <a:r>
              <a:rPr lang="en-US" sz="1200">
                <a:solidFill>
                  <a:srgbClr val="1E293B"/>
                </a:solidFill>
                <a:latin typeface="Calibri"/>
                <a:ea typeface="Calibri"/>
                <a:cs typeface="Calibri"/>
              </a:rPr>
              <a:t>Task planning &amp; prioritization.</a:t>
            </a:r>
            <a:endParaRPr lang="en-US" sz="1200"/>
          </a:p>
        </p:txBody>
      </p:sp>
      <p:sp>
        <p:nvSpPr>
          <p:cNvPr id="154" name="Text 52">
            <a:extLst>
              <a:ext uri="{FF2B5EF4-FFF2-40B4-BE49-F238E27FC236}">
                <a16:creationId xmlns:a16="http://schemas.microsoft.com/office/drawing/2014/main" id="{16A2C742-27D1-7E4D-B2E4-F5F8A1FBE779}"/>
              </a:ext>
            </a:extLst>
          </p:cNvPr>
          <p:cNvSpPr/>
          <p:nvPr/>
        </p:nvSpPr>
        <p:spPr>
          <a:xfrm>
            <a:off x="8188253" y="4644167"/>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F59E0B"/>
                </a:solidFill>
                <a:latin typeface="Calibri"/>
                <a:ea typeface="Calibri"/>
                <a:cs typeface="Calibri"/>
              </a:rPr>
              <a:t>▸  </a:t>
            </a:r>
            <a:r>
              <a:rPr lang="en-US" sz="1200">
                <a:solidFill>
                  <a:srgbClr val="1E293B"/>
                </a:solidFill>
                <a:latin typeface="Calibri"/>
                <a:ea typeface="Calibri"/>
                <a:cs typeface="Calibri"/>
              </a:rPr>
              <a:t>Problem solving.</a:t>
            </a:r>
            <a:endParaRPr lang="en-US" sz="1200"/>
          </a:p>
        </p:txBody>
      </p:sp>
      <p:sp>
        <p:nvSpPr>
          <p:cNvPr id="155" name="Text 28">
            <a:extLst>
              <a:ext uri="{FF2B5EF4-FFF2-40B4-BE49-F238E27FC236}">
                <a16:creationId xmlns:a16="http://schemas.microsoft.com/office/drawing/2014/main" id="{114CEEF0-F5D3-8FC4-5773-A12D4BC6B4D8}"/>
              </a:ext>
            </a:extLst>
          </p:cNvPr>
          <p:cNvSpPr/>
          <p:nvPr/>
        </p:nvSpPr>
        <p:spPr>
          <a:xfrm>
            <a:off x="8193333" y="2768303"/>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en-US" sz="1200">
              <a:ea typeface="Calibri" pitchFamily="34" charset="-122"/>
              <a:cs typeface="Arial" panose="020B0604020202020204" pitchFamily="34" charset="0"/>
            </a:endParaRPr>
          </a:p>
        </p:txBody>
      </p:sp>
      <p:sp>
        <p:nvSpPr>
          <p:cNvPr id="2" name="Text 19">
            <a:extLst>
              <a:ext uri="{FF2B5EF4-FFF2-40B4-BE49-F238E27FC236}">
                <a16:creationId xmlns:a16="http://schemas.microsoft.com/office/drawing/2014/main" id="{15D26FB7-731A-C8CF-58F3-8F9653259ED7}"/>
              </a:ext>
            </a:extLst>
          </p:cNvPr>
          <p:cNvSpPr/>
          <p:nvPr/>
        </p:nvSpPr>
        <p:spPr>
          <a:xfrm>
            <a:off x="4329484" y="1956902"/>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0D9488"/>
                </a:solidFill>
                <a:latin typeface="Calibri"/>
                <a:ea typeface="Calibri"/>
                <a:cs typeface="Calibri"/>
              </a:rPr>
              <a:t>▸  </a:t>
            </a:r>
            <a:r>
              <a:rPr lang="en-US" sz="1200">
                <a:solidFill>
                  <a:srgbClr val="1E293B"/>
                </a:solidFill>
                <a:latin typeface="Calibri"/>
                <a:ea typeface="Calibri"/>
                <a:cs typeface="Calibri"/>
              </a:rPr>
              <a:t>Generate, debug, review code</a:t>
            </a:r>
            <a:endParaRPr lang="en-US" sz="1200"/>
          </a:p>
        </p:txBody>
      </p:sp>
      <p:sp>
        <p:nvSpPr>
          <p:cNvPr id="5" name="Text 27">
            <a:extLst>
              <a:ext uri="{FF2B5EF4-FFF2-40B4-BE49-F238E27FC236}">
                <a16:creationId xmlns:a16="http://schemas.microsoft.com/office/drawing/2014/main" id="{DC0C2D12-FC24-F266-B0BF-5B8792F67844}"/>
              </a:ext>
            </a:extLst>
          </p:cNvPr>
          <p:cNvSpPr/>
          <p:nvPr/>
        </p:nvSpPr>
        <p:spPr>
          <a:xfrm>
            <a:off x="8143427" y="2387031"/>
            <a:ext cx="3657600"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7C3AED"/>
                </a:solidFill>
                <a:latin typeface="Calibri"/>
                <a:ea typeface="Calibri"/>
                <a:cs typeface="Calibri"/>
              </a:rPr>
              <a:t>▸  </a:t>
            </a:r>
            <a:r>
              <a:rPr lang="en-US" sz="1200">
                <a:solidFill>
                  <a:srgbClr val="1E293B"/>
                </a:solidFill>
                <a:latin typeface="Calibri"/>
                <a:ea typeface="Calibri"/>
                <a:cs typeface="Calibri"/>
              </a:rPr>
              <a:t>Statistical analysis</a:t>
            </a:r>
            <a:endParaRPr lang="en-US" sz="1200"/>
          </a:p>
        </p:txBody>
      </p:sp>
      <p:sp>
        <p:nvSpPr>
          <p:cNvPr id="7" name="Text 43">
            <a:extLst>
              <a:ext uri="{FF2B5EF4-FFF2-40B4-BE49-F238E27FC236}">
                <a16:creationId xmlns:a16="http://schemas.microsoft.com/office/drawing/2014/main" id="{C2C6C987-43CC-8462-98F0-7381DF103F60}"/>
              </a:ext>
            </a:extLst>
          </p:cNvPr>
          <p:cNvSpPr/>
          <p:nvPr/>
        </p:nvSpPr>
        <p:spPr>
          <a:xfrm>
            <a:off x="4329484" y="4630700"/>
            <a:ext cx="3547872" cy="347472"/>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1200" b="1">
                <a:solidFill>
                  <a:srgbClr val="C62828"/>
                </a:solidFill>
                <a:latin typeface="Calibri"/>
                <a:ea typeface="Calibri"/>
                <a:cs typeface="Calibri"/>
              </a:rPr>
              <a:t>▸ </a:t>
            </a:r>
            <a:r>
              <a:rPr lang="en-US" sz="1200">
                <a:solidFill>
                  <a:srgbClr val="1E293B"/>
                </a:solidFill>
                <a:latin typeface="Calibri"/>
                <a:ea typeface="Calibri"/>
                <a:cs typeface="Calibri"/>
              </a:rPr>
              <a:t> Brainstorm ideas</a:t>
            </a:r>
          </a:p>
        </p:txBody>
      </p:sp>
    </p:spTree>
    <p:extLst>
      <p:ext uri="{BB962C8B-B14F-4D97-AF65-F5344CB8AC3E}">
        <p14:creationId xmlns:p14="http://schemas.microsoft.com/office/powerpoint/2010/main" val="3675454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13BA6-7823-3D94-E9E1-703D8119E64D}"/>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D08ED24B-B7A2-7B81-43ED-8CCB431F8CB2}"/>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B6E06C21-868A-AEC1-B359-87324D5A0FA8}"/>
              </a:ext>
            </a:extLst>
          </p:cNvPr>
          <p:cNvPicPr>
            <a:picLocks noChangeAspect="1"/>
          </p:cNvPicPr>
          <p:nvPr/>
        </p:nvPicPr>
        <p:blipFill>
          <a:blip r:embed="rId3"/>
          <a:stretch>
            <a:fillRect/>
          </a:stretch>
        </p:blipFill>
        <p:spPr>
          <a:xfrm>
            <a:off x="9960940" y="103430"/>
            <a:ext cx="2040941" cy="769925"/>
          </a:xfrm>
          <a:prstGeom prst="rect">
            <a:avLst/>
          </a:prstGeom>
        </p:spPr>
      </p:pic>
      <p:sp>
        <p:nvSpPr>
          <p:cNvPr id="211" name="Text 2">
            <a:extLst>
              <a:ext uri="{FF2B5EF4-FFF2-40B4-BE49-F238E27FC236}">
                <a16:creationId xmlns:a16="http://schemas.microsoft.com/office/drawing/2014/main" id="{813B659E-9450-89DC-0C7E-915BDBDAD4E9}"/>
              </a:ext>
            </a:extLst>
          </p:cNvPr>
          <p:cNvSpPr/>
          <p:nvPr/>
        </p:nvSpPr>
        <p:spPr>
          <a:xfrm>
            <a:off x="367178" y="280520"/>
            <a:ext cx="4863493" cy="910912"/>
          </a:xfrm>
          <a:prstGeom prst="rect">
            <a:avLst/>
          </a:prstGeom>
          <a:noFill/>
          <a:ln/>
        </p:spPr>
        <p:txBody>
          <a:bodyPr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4000"/>
              </a:lnSpc>
            </a:pPr>
            <a:r>
              <a:rPr lang="en-US" sz="3200" b="1">
                <a:solidFill>
                  <a:schemeClr val="tx2">
                    <a:lumMod val="76000"/>
                    <a:lumOff val="24000"/>
                  </a:schemeClr>
                </a:solidFill>
                <a:latin typeface="Aptos"/>
                <a:ea typeface="Source Serif 4 SemiBold"/>
              </a:rPr>
              <a:t>AI Tools Landscape</a:t>
            </a:r>
            <a:endParaRPr lang="en-US" sz="3200">
              <a:solidFill>
                <a:schemeClr val="tx2">
                  <a:lumMod val="76000"/>
                  <a:lumOff val="24000"/>
                </a:schemeClr>
              </a:solidFill>
            </a:endParaRPr>
          </a:p>
        </p:txBody>
      </p:sp>
      <p:sp>
        <p:nvSpPr>
          <p:cNvPr id="213" name="Shape 8">
            <a:extLst>
              <a:ext uri="{FF2B5EF4-FFF2-40B4-BE49-F238E27FC236}">
                <a16:creationId xmlns:a16="http://schemas.microsoft.com/office/drawing/2014/main" id="{EA5F2839-6300-CD07-C006-4D07C6BE9172}"/>
              </a:ext>
            </a:extLst>
          </p:cNvPr>
          <p:cNvSpPr/>
          <p:nvPr/>
        </p:nvSpPr>
        <p:spPr>
          <a:xfrm>
            <a:off x="320040" y="1170432"/>
            <a:ext cx="11551615" cy="347472"/>
          </a:xfrm>
          <a:prstGeom prst="rect">
            <a:avLst/>
          </a:prstGeom>
          <a:solidFill>
            <a:srgbClr val="0D1B3E"/>
          </a:solidFill>
          <a:ln w="12700">
            <a:solidFill>
              <a:srgbClr val="0D1B3E"/>
            </a:solidFill>
            <a:prstDash val="solid"/>
          </a:ln>
        </p:spPr>
      </p:sp>
      <p:sp>
        <p:nvSpPr>
          <p:cNvPr id="215" name="Text 9">
            <a:extLst>
              <a:ext uri="{FF2B5EF4-FFF2-40B4-BE49-F238E27FC236}">
                <a16:creationId xmlns:a16="http://schemas.microsoft.com/office/drawing/2014/main" id="{7A86DFB1-0C26-4D19-E396-C3C03FF54B9F}"/>
              </a:ext>
            </a:extLst>
          </p:cNvPr>
          <p:cNvSpPr/>
          <p:nvPr/>
        </p:nvSpPr>
        <p:spPr>
          <a:xfrm>
            <a:off x="448056" y="1197864"/>
            <a:ext cx="1572768" cy="29260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Tool</a:t>
            </a:r>
            <a:endParaRPr lang="en-US" sz="1100"/>
          </a:p>
        </p:txBody>
      </p:sp>
      <p:sp>
        <p:nvSpPr>
          <p:cNvPr id="217" name="Text 11">
            <a:extLst>
              <a:ext uri="{FF2B5EF4-FFF2-40B4-BE49-F238E27FC236}">
                <a16:creationId xmlns:a16="http://schemas.microsoft.com/office/drawing/2014/main" id="{41E5059D-D151-F67D-B70E-3A6549383E0B}"/>
              </a:ext>
            </a:extLst>
          </p:cNvPr>
          <p:cNvSpPr/>
          <p:nvPr/>
        </p:nvSpPr>
        <p:spPr>
          <a:xfrm>
            <a:off x="4352544" y="1197864"/>
            <a:ext cx="4919472" cy="29260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Best For</a:t>
            </a:r>
            <a:endParaRPr lang="en-US" sz="1100"/>
          </a:p>
        </p:txBody>
      </p:sp>
      <p:sp>
        <p:nvSpPr>
          <p:cNvPr id="219" name="Text 12">
            <a:extLst>
              <a:ext uri="{FF2B5EF4-FFF2-40B4-BE49-F238E27FC236}">
                <a16:creationId xmlns:a16="http://schemas.microsoft.com/office/drawing/2014/main" id="{9A839ECE-EBA5-CD1B-7F57-833C6D20C8CD}"/>
              </a:ext>
            </a:extLst>
          </p:cNvPr>
          <p:cNvSpPr/>
          <p:nvPr/>
        </p:nvSpPr>
        <p:spPr>
          <a:xfrm>
            <a:off x="8709042" y="1197864"/>
            <a:ext cx="2651760" cy="292608"/>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Avoid When</a:t>
            </a:r>
            <a:endParaRPr lang="en-US" sz="1100"/>
          </a:p>
        </p:txBody>
      </p:sp>
      <p:sp>
        <p:nvSpPr>
          <p:cNvPr id="221" name="Shape 13">
            <a:extLst>
              <a:ext uri="{FF2B5EF4-FFF2-40B4-BE49-F238E27FC236}">
                <a16:creationId xmlns:a16="http://schemas.microsoft.com/office/drawing/2014/main" id="{732DBC91-F952-2A3A-5653-8D4B80CA04F5}"/>
              </a:ext>
            </a:extLst>
          </p:cNvPr>
          <p:cNvSpPr/>
          <p:nvPr/>
        </p:nvSpPr>
        <p:spPr>
          <a:xfrm>
            <a:off x="320040" y="1572768"/>
            <a:ext cx="11551615" cy="713232"/>
          </a:xfrm>
          <a:prstGeom prst="rect">
            <a:avLst/>
          </a:prstGeom>
          <a:solidFill>
            <a:srgbClr val="FFFFFF"/>
          </a:solidFill>
          <a:ln w="6350">
            <a:solidFill>
              <a:srgbClr val="DDE6F0"/>
            </a:solidFill>
            <a:prstDash val="solid"/>
          </a:ln>
        </p:spPr>
      </p:sp>
      <p:sp>
        <p:nvSpPr>
          <p:cNvPr id="223" name="Shape 14">
            <a:extLst>
              <a:ext uri="{FF2B5EF4-FFF2-40B4-BE49-F238E27FC236}">
                <a16:creationId xmlns:a16="http://schemas.microsoft.com/office/drawing/2014/main" id="{68B8B656-1677-C414-6A6F-C82D89871FE5}"/>
              </a:ext>
            </a:extLst>
          </p:cNvPr>
          <p:cNvSpPr/>
          <p:nvPr/>
        </p:nvSpPr>
        <p:spPr>
          <a:xfrm>
            <a:off x="320040" y="1572768"/>
            <a:ext cx="45720" cy="713232"/>
          </a:xfrm>
          <a:prstGeom prst="rect">
            <a:avLst/>
          </a:prstGeom>
          <a:solidFill>
            <a:srgbClr val="0070CD"/>
          </a:solidFill>
          <a:ln w="12700">
            <a:solidFill>
              <a:srgbClr val="0070CD"/>
            </a:solidFill>
            <a:prstDash val="solid"/>
          </a:ln>
        </p:spPr>
      </p:sp>
      <p:sp>
        <p:nvSpPr>
          <p:cNvPr id="225" name="Shape 15">
            <a:extLst>
              <a:ext uri="{FF2B5EF4-FFF2-40B4-BE49-F238E27FC236}">
                <a16:creationId xmlns:a16="http://schemas.microsoft.com/office/drawing/2014/main" id="{2732FA3D-1A78-465D-A1EE-81A9841CBC1E}"/>
              </a:ext>
            </a:extLst>
          </p:cNvPr>
          <p:cNvSpPr/>
          <p:nvPr/>
        </p:nvSpPr>
        <p:spPr>
          <a:xfrm>
            <a:off x="1920240" y="1664208"/>
            <a:ext cx="9144" cy="530352"/>
          </a:xfrm>
          <a:prstGeom prst="rect">
            <a:avLst/>
          </a:prstGeom>
          <a:solidFill>
            <a:srgbClr val="DDE6F0"/>
          </a:solidFill>
          <a:ln w="12700">
            <a:solidFill>
              <a:srgbClr val="DDE6F0"/>
            </a:solidFill>
            <a:prstDash val="solid"/>
          </a:ln>
        </p:spPr>
      </p:sp>
      <p:sp>
        <p:nvSpPr>
          <p:cNvPr id="227" name="Shape 17">
            <a:extLst>
              <a:ext uri="{FF2B5EF4-FFF2-40B4-BE49-F238E27FC236}">
                <a16:creationId xmlns:a16="http://schemas.microsoft.com/office/drawing/2014/main" id="{34384901-3AC6-160B-928E-1BBCE266DBB7}"/>
              </a:ext>
            </a:extLst>
          </p:cNvPr>
          <p:cNvSpPr/>
          <p:nvPr/>
        </p:nvSpPr>
        <p:spPr>
          <a:xfrm>
            <a:off x="7339666" y="1674505"/>
            <a:ext cx="9144" cy="530352"/>
          </a:xfrm>
          <a:prstGeom prst="rect">
            <a:avLst/>
          </a:prstGeom>
          <a:solidFill>
            <a:srgbClr val="DDE6F0"/>
          </a:solidFill>
          <a:ln w="12700">
            <a:solidFill>
              <a:srgbClr val="DDE6F0"/>
            </a:solidFill>
            <a:prstDash val="solid"/>
          </a:ln>
        </p:spPr>
      </p:sp>
      <p:sp>
        <p:nvSpPr>
          <p:cNvPr id="229" name="Text 18">
            <a:extLst>
              <a:ext uri="{FF2B5EF4-FFF2-40B4-BE49-F238E27FC236}">
                <a16:creationId xmlns:a16="http://schemas.microsoft.com/office/drawing/2014/main" id="{C16D5E6E-B7C0-1A66-221E-C83085BFD2E3}"/>
              </a:ext>
            </a:extLst>
          </p:cNvPr>
          <p:cNvSpPr/>
          <p:nvPr/>
        </p:nvSpPr>
        <p:spPr>
          <a:xfrm>
            <a:off x="429768" y="1645920"/>
            <a:ext cx="1444752" cy="274320"/>
          </a:xfrm>
          <a:prstGeom prst="rect">
            <a:avLst/>
          </a:prstGeom>
          <a:noFill/>
          <a:ln/>
        </p:spPr>
        <p:txBody>
          <a:bodyPr wrap="square" lIns="0" tIns="0" rIns="0" bIns="0" rtlCol="0" anchor="ctr"/>
          <a:lstStyle/>
          <a:p>
            <a:pPr marL="0" indent="0">
              <a:buNone/>
            </a:pPr>
            <a:r>
              <a:rPr lang="en-US" sz="1200" b="1">
                <a:solidFill>
                  <a:srgbClr val="0070CD"/>
                </a:solidFill>
                <a:latin typeface="Calibri" pitchFamily="34" charset="0"/>
                <a:ea typeface="Calibri" pitchFamily="34" charset="-122"/>
                <a:cs typeface="Calibri" pitchFamily="34" charset="-120"/>
              </a:rPr>
              <a:t>Claude</a:t>
            </a:r>
            <a:endParaRPr lang="en-US" sz="1200"/>
          </a:p>
        </p:txBody>
      </p:sp>
      <p:sp>
        <p:nvSpPr>
          <p:cNvPr id="231" name="Text 19">
            <a:extLst>
              <a:ext uri="{FF2B5EF4-FFF2-40B4-BE49-F238E27FC236}">
                <a16:creationId xmlns:a16="http://schemas.microsoft.com/office/drawing/2014/main" id="{6F132389-82C9-8643-3FC1-2896A5376C70}"/>
              </a:ext>
            </a:extLst>
          </p:cNvPr>
          <p:cNvSpPr/>
          <p:nvPr/>
        </p:nvSpPr>
        <p:spPr>
          <a:xfrm>
            <a:off x="429768" y="1947672"/>
            <a:ext cx="1444752" cy="201168"/>
          </a:xfrm>
          <a:prstGeom prst="rect">
            <a:avLst/>
          </a:prstGeom>
          <a:noFill/>
          <a:ln/>
        </p:spPr>
        <p:txBody>
          <a:bodyPr wrap="square" lIns="0" tIns="0" rIns="0" bIns="0" rtlCol="0" anchor="ctr"/>
          <a:lstStyle/>
          <a:p>
            <a:pPr marL="0" indent="0">
              <a:buNone/>
            </a:pPr>
            <a:r>
              <a:rPr lang="en-US" sz="900" i="1">
                <a:solidFill>
                  <a:srgbClr val="90A4AE"/>
                </a:solidFill>
                <a:latin typeface="Calibri" pitchFamily="34" charset="0"/>
                <a:ea typeface="Calibri" pitchFamily="34" charset="-122"/>
                <a:cs typeface="Calibri" pitchFamily="34" charset="-120"/>
              </a:rPr>
              <a:t>Anthropic</a:t>
            </a:r>
            <a:endParaRPr lang="en-US" sz="900"/>
          </a:p>
        </p:txBody>
      </p:sp>
      <p:sp>
        <p:nvSpPr>
          <p:cNvPr id="233" name="Shape 26">
            <a:extLst>
              <a:ext uri="{FF2B5EF4-FFF2-40B4-BE49-F238E27FC236}">
                <a16:creationId xmlns:a16="http://schemas.microsoft.com/office/drawing/2014/main" id="{8E3A3D31-D463-3C89-3968-68D47066E116}"/>
              </a:ext>
            </a:extLst>
          </p:cNvPr>
          <p:cNvSpPr/>
          <p:nvPr/>
        </p:nvSpPr>
        <p:spPr>
          <a:xfrm>
            <a:off x="3212515" y="1684232"/>
            <a:ext cx="74305" cy="64008"/>
          </a:xfrm>
          <a:prstGeom prst="ellipse">
            <a:avLst/>
          </a:prstGeom>
          <a:solidFill>
            <a:srgbClr val="90A4AE"/>
          </a:solidFill>
          <a:ln w="12700">
            <a:solidFill>
              <a:srgbClr val="90A4AE"/>
            </a:solidFill>
            <a:prstDash val="solid"/>
          </a:ln>
        </p:spPr>
      </p:sp>
      <p:sp>
        <p:nvSpPr>
          <p:cNvPr id="235" name="Shape 28">
            <a:extLst>
              <a:ext uri="{FF2B5EF4-FFF2-40B4-BE49-F238E27FC236}">
                <a16:creationId xmlns:a16="http://schemas.microsoft.com/office/drawing/2014/main" id="{87336D88-3CDE-1AE5-46A8-7FC9EE21D094}"/>
              </a:ext>
            </a:extLst>
          </p:cNvPr>
          <p:cNvSpPr/>
          <p:nvPr/>
        </p:nvSpPr>
        <p:spPr>
          <a:xfrm>
            <a:off x="3212515" y="1903688"/>
            <a:ext cx="74305" cy="64008"/>
          </a:xfrm>
          <a:prstGeom prst="ellipse">
            <a:avLst/>
          </a:prstGeom>
          <a:solidFill>
            <a:srgbClr val="90A4AE"/>
          </a:solidFill>
          <a:ln w="12700">
            <a:solidFill>
              <a:srgbClr val="90A4AE"/>
            </a:solidFill>
            <a:prstDash val="solid"/>
          </a:ln>
        </p:spPr>
      </p:sp>
      <p:sp>
        <p:nvSpPr>
          <p:cNvPr id="237" name="Shape 30">
            <a:extLst>
              <a:ext uri="{FF2B5EF4-FFF2-40B4-BE49-F238E27FC236}">
                <a16:creationId xmlns:a16="http://schemas.microsoft.com/office/drawing/2014/main" id="{DFD9B6F3-5C6C-6246-24B2-DFD060322883}"/>
              </a:ext>
            </a:extLst>
          </p:cNvPr>
          <p:cNvSpPr/>
          <p:nvPr/>
        </p:nvSpPr>
        <p:spPr>
          <a:xfrm>
            <a:off x="3212515" y="2123144"/>
            <a:ext cx="74305" cy="64008"/>
          </a:xfrm>
          <a:prstGeom prst="ellipse">
            <a:avLst/>
          </a:prstGeom>
          <a:solidFill>
            <a:srgbClr val="90A4AE"/>
          </a:solidFill>
          <a:ln w="12700">
            <a:solidFill>
              <a:srgbClr val="90A4AE"/>
            </a:solidFill>
            <a:prstDash val="solid"/>
          </a:ln>
        </p:spPr>
      </p:sp>
      <p:sp>
        <p:nvSpPr>
          <p:cNvPr id="239" name="Text 32">
            <a:extLst>
              <a:ext uri="{FF2B5EF4-FFF2-40B4-BE49-F238E27FC236}">
                <a16:creationId xmlns:a16="http://schemas.microsoft.com/office/drawing/2014/main" id="{177108CA-A0FA-FAF5-E0FF-C919D5DBE3B7}"/>
              </a:ext>
            </a:extLst>
          </p:cNvPr>
          <p:cNvSpPr/>
          <p:nvPr/>
        </p:nvSpPr>
        <p:spPr>
          <a:xfrm>
            <a:off x="8155295" y="1674505"/>
            <a:ext cx="2487168" cy="548640"/>
          </a:xfrm>
          <a:prstGeom prst="rect">
            <a:avLst/>
          </a:prstGeom>
          <a:noFill/>
          <a:ln/>
        </p:spPr>
        <p:txBody>
          <a:bodyPr wrap="square" lIns="0" tIns="0" rIns="0" bIns="0" rtlCol="0" anchor="ctr"/>
          <a:lstStyle/>
          <a:p>
            <a:pPr marL="0" indent="0">
              <a:lnSpc>
                <a:spcPct val="135000"/>
              </a:lnSpc>
              <a:buNone/>
            </a:pPr>
            <a:r>
              <a:rPr lang="en-US" sz="900" i="1">
                <a:solidFill>
                  <a:srgbClr val="546E7A"/>
                </a:solidFill>
                <a:latin typeface="Calibri" pitchFamily="34" charset="0"/>
                <a:ea typeface="Calibri" pitchFamily="34" charset="-122"/>
                <a:cs typeface="Calibri" pitchFamily="34" charset="-120"/>
              </a:rPr>
              <a:t>Real-time web search; simple quick lookups</a:t>
            </a:r>
            <a:endParaRPr lang="en-US" sz="900"/>
          </a:p>
        </p:txBody>
      </p:sp>
      <p:sp>
        <p:nvSpPr>
          <p:cNvPr id="241" name="Shape 33">
            <a:extLst>
              <a:ext uri="{FF2B5EF4-FFF2-40B4-BE49-F238E27FC236}">
                <a16:creationId xmlns:a16="http://schemas.microsoft.com/office/drawing/2014/main" id="{A79D4D1F-B9E7-1C4D-FC5C-BFEE14169846}"/>
              </a:ext>
            </a:extLst>
          </p:cNvPr>
          <p:cNvSpPr/>
          <p:nvPr/>
        </p:nvSpPr>
        <p:spPr>
          <a:xfrm>
            <a:off x="320040" y="2331720"/>
            <a:ext cx="11551615" cy="713232"/>
          </a:xfrm>
          <a:prstGeom prst="rect">
            <a:avLst/>
          </a:prstGeom>
          <a:solidFill>
            <a:srgbClr val="F7F9FC"/>
          </a:solidFill>
          <a:ln w="6350">
            <a:solidFill>
              <a:srgbClr val="DDE6F0"/>
            </a:solidFill>
            <a:prstDash val="solid"/>
          </a:ln>
        </p:spPr>
      </p:sp>
      <p:sp>
        <p:nvSpPr>
          <p:cNvPr id="243" name="Shape 34">
            <a:extLst>
              <a:ext uri="{FF2B5EF4-FFF2-40B4-BE49-F238E27FC236}">
                <a16:creationId xmlns:a16="http://schemas.microsoft.com/office/drawing/2014/main" id="{F1BC84C2-E118-D266-A033-57DE7FEC374B}"/>
              </a:ext>
            </a:extLst>
          </p:cNvPr>
          <p:cNvSpPr/>
          <p:nvPr/>
        </p:nvSpPr>
        <p:spPr>
          <a:xfrm>
            <a:off x="320040" y="2331720"/>
            <a:ext cx="45720" cy="713232"/>
          </a:xfrm>
          <a:prstGeom prst="rect">
            <a:avLst/>
          </a:prstGeom>
          <a:solidFill>
            <a:srgbClr val="1976D2"/>
          </a:solidFill>
          <a:ln w="12700">
            <a:solidFill>
              <a:srgbClr val="1976D2"/>
            </a:solidFill>
            <a:prstDash val="solid"/>
          </a:ln>
        </p:spPr>
      </p:sp>
      <p:sp>
        <p:nvSpPr>
          <p:cNvPr id="245" name="Shape 35">
            <a:extLst>
              <a:ext uri="{FF2B5EF4-FFF2-40B4-BE49-F238E27FC236}">
                <a16:creationId xmlns:a16="http://schemas.microsoft.com/office/drawing/2014/main" id="{7599F61F-A92E-B4A0-0A45-9C6AE4466FCF}"/>
              </a:ext>
            </a:extLst>
          </p:cNvPr>
          <p:cNvSpPr/>
          <p:nvPr/>
        </p:nvSpPr>
        <p:spPr>
          <a:xfrm>
            <a:off x="1920240" y="2423160"/>
            <a:ext cx="9144" cy="530352"/>
          </a:xfrm>
          <a:prstGeom prst="rect">
            <a:avLst/>
          </a:prstGeom>
          <a:solidFill>
            <a:srgbClr val="DDE6F0"/>
          </a:solidFill>
          <a:ln w="12700">
            <a:solidFill>
              <a:srgbClr val="DDE6F0"/>
            </a:solidFill>
            <a:prstDash val="solid"/>
          </a:ln>
        </p:spPr>
      </p:sp>
      <p:sp>
        <p:nvSpPr>
          <p:cNvPr id="247" name="Shape 37">
            <a:extLst>
              <a:ext uri="{FF2B5EF4-FFF2-40B4-BE49-F238E27FC236}">
                <a16:creationId xmlns:a16="http://schemas.microsoft.com/office/drawing/2014/main" id="{82EEFC2F-D4FA-20A1-9017-39BA99299F32}"/>
              </a:ext>
            </a:extLst>
          </p:cNvPr>
          <p:cNvSpPr/>
          <p:nvPr/>
        </p:nvSpPr>
        <p:spPr>
          <a:xfrm>
            <a:off x="7339666" y="2412863"/>
            <a:ext cx="9144" cy="530352"/>
          </a:xfrm>
          <a:prstGeom prst="rect">
            <a:avLst/>
          </a:prstGeom>
          <a:solidFill>
            <a:srgbClr val="DDE6F0"/>
          </a:solidFill>
          <a:ln w="12700">
            <a:solidFill>
              <a:srgbClr val="DDE6F0"/>
            </a:solidFill>
            <a:prstDash val="solid"/>
          </a:ln>
        </p:spPr>
      </p:sp>
      <p:sp>
        <p:nvSpPr>
          <p:cNvPr id="249" name="Text 38">
            <a:extLst>
              <a:ext uri="{FF2B5EF4-FFF2-40B4-BE49-F238E27FC236}">
                <a16:creationId xmlns:a16="http://schemas.microsoft.com/office/drawing/2014/main" id="{5CA5BE59-1912-9556-AE72-0DB1A91238DC}"/>
              </a:ext>
            </a:extLst>
          </p:cNvPr>
          <p:cNvSpPr/>
          <p:nvPr/>
        </p:nvSpPr>
        <p:spPr>
          <a:xfrm>
            <a:off x="429768" y="2404872"/>
            <a:ext cx="1444752" cy="274320"/>
          </a:xfrm>
          <a:prstGeom prst="rect">
            <a:avLst/>
          </a:prstGeom>
          <a:noFill/>
          <a:ln/>
        </p:spPr>
        <p:txBody>
          <a:bodyPr wrap="square" lIns="0" tIns="0" rIns="0" bIns="0" rtlCol="0" anchor="ctr"/>
          <a:lstStyle/>
          <a:p>
            <a:pPr marL="0" indent="0">
              <a:buNone/>
            </a:pPr>
            <a:r>
              <a:rPr lang="en-US" sz="1200" b="1">
                <a:solidFill>
                  <a:srgbClr val="1976D2"/>
                </a:solidFill>
                <a:latin typeface="Calibri" pitchFamily="34" charset="0"/>
                <a:ea typeface="Calibri" pitchFamily="34" charset="-122"/>
                <a:cs typeface="Calibri" pitchFamily="34" charset="-120"/>
              </a:rPr>
              <a:t>ChatGPT</a:t>
            </a:r>
            <a:endParaRPr lang="en-US" sz="1200"/>
          </a:p>
        </p:txBody>
      </p:sp>
      <p:sp>
        <p:nvSpPr>
          <p:cNvPr id="251" name="Text 39">
            <a:extLst>
              <a:ext uri="{FF2B5EF4-FFF2-40B4-BE49-F238E27FC236}">
                <a16:creationId xmlns:a16="http://schemas.microsoft.com/office/drawing/2014/main" id="{91B9C47D-3A95-F837-1DE7-879189A84F13}"/>
              </a:ext>
            </a:extLst>
          </p:cNvPr>
          <p:cNvSpPr/>
          <p:nvPr/>
        </p:nvSpPr>
        <p:spPr>
          <a:xfrm>
            <a:off x="429768" y="2706624"/>
            <a:ext cx="1444752" cy="201168"/>
          </a:xfrm>
          <a:prstGeom prst="rect">
            <a:avLst/>
          </a:prstGeom>
          <a:noFill/>
          <a:ln/>
        </p:spPr>
        <p:txBody>
          <a:bodyPr wrap="square" lIns="0" tIns="0" rIns="0" bIns="0" rtlCol="0" anchor="ctr"/>
          <a:lstStyle/>
          <a:p>
            <a:pPr marL="0" indent="0">
              <a:buNone/>
            </a:pPr>
            <a:r>
              <a:rPr lang="en-US" sz="900" i="1">
                <a:solidFill>
                  <a:srgbClr val="90A4AE"/>
                </a:solidFill>
                <a:latin typeface="Calibri" pitchFamily="34" charset="0"/>
                <a:ea typeface="Calibri" pitchFamily="34" charset="-122"/>
                <a:cs typeface="Calibri" pitchFamily="34" charset="-120"/>
              </a:rPr>
              <a:t>OpenAI</a:t>
            </a:r>
            <a:endParaRPr lang="en-US" sz="900"/>
          </a:p>
        </p:txBody>
      </p:sp>
      <p:sp>
        <p:nvSpPr>
          <p:cNvPr id="253" name="Shape 46">
            <a:extLst>
              <a:ext uri="{FF2B5EF4-FFF2-40B4-BE49-F238E27FC236}">
                <a16:creationId xmlns:a16="http://schemas.microsoft.com/office/drawing/2014/main" id="{0065BB6B-D574-CD61-2D0E-7A6BF4D8C28F}"/>
              </a:ext>
            </a:extLst>
          </p:cNvPr>
          <p:cNvSpPr/>
          <p:nvPr/>
        </p:nvSpPr>
        <p:spPr>
          <a:xfrm>
            <a:off x="3212515" y="2443184"/>
            <a:ext cx="74305" cy="64008"/>
          </a:xfrm>
          <a:prstGeom prst="ellipse">
            <a:avLst/>
          </a:prstGeom>
          <a:solidFill>
            <a:srgbClr val="90A4AE"/>
          </a:solidFill>
          <a:ln w="12700">
            <a:solidFill>
              <a:srgbClr val="90A4AE"/>
            </a:solidFill>
            <a:prstDash val="solid"/>
          </a:ln>
        </p:spPr>
      </p:sp>
      <p:sp>
        <p:nvSpPr>
          <p:cNvPr id="255" name="Shape 48">
            <a:extLst>
              <a:ext uri="{FF2B5EF4-FFF2-40B4-BE49-F238E27FC236}">
                <a16:creationId xmlns:a16="http://schemas.microsoft.com/office/drawing/2014/main" id="{61656395-DCC7-F7D5-DFA7-18DC49BD5C9F}"/>
              </a:ext>
            </a:extLst>
          </p:cNvPr>
          <p:cNvSpPr/>
          <p:nvPr/>
        </p:nvSpPr>
        <p:spPr>
          <a:xfrm>
            <a:off x="3212515" y="2662640"/>
            <a:ext cx="74305" cy="64008"/>
          </a:xfrm>
          <a:prstGeom prst="ellipse">
            <a:avLst/>
          </a:prstGeom>
          <a:solidFill>
            <a:srgbClr val="90A4AE"/>
          </a:solidFill>
          <a:ln w="12700">
            <a:solidFill>
              <a:srgbClr val="90A4AE"/>
            </a:solidFill>
            <a:prstDash val="solid"/>
          </a:ln>
        </p:spPr>
      </p:sp>
      <p:sp>
        <p:nvSpPr>
          <p:cNvPr id="257" name="Shape 50">
            <a:extLst>
              <a:ext uri="{FF2B5EF4-FFF2-40B4-BE49-F238E27FC236}">
                <a16:creationId xmlns:a16="http://schemas.microsoft.com/office/drawing/2014/main" id="{DB15DEDB-3E74-6CC0-36C2-B1925E30D7D3}"/>
              </a:ext>
            </a:extLst>
          </p:cNvPr>
          <p:cNvSpPr/>
          <p:nvPr/>
        </p:nvSpPr>
        <p:spPr>
          <a:xfrm>
            <a:off x="3212515" y="2882096"/>
            <a:ext cx="74305" cy="64008"/>
          </a:xfrm>
          <a:prstGeom prst="ellipse">
            <a:avLst/>
          </a:prstGeom>
          <a:solidFill>
            <a:srgbClr val="90A4AE"/>
          </a:solidFill>
          <a:ln w="12700">
            <a:solidFill>
              <a:srgbClr val="90A4AE"/>
            </a:solidFill>
            <a:prstDash val="solid"/>
          </a:ln>
        </p:spPr>
      </p:sp>
      <p:sp>
        <p:nvSpPr>
          <p:cNvPr id="259" name="Text 52">
            <a:extLst>
              <a:ext uri="{FF2B5EF4-FFF2-40B4-BE49-F238E27FC236}">
                <a16:creationId xmlns:a16="http://schemas.microsoft.com/office/drawing/2014/main" id="{CB660BB5-F194-9C44-B6D9-7A840E039FEC}"/>
              </a:ext>
            </a:extLst>
          </p:cNvPr>
          <p:cNvSpPr/>
          <p:nvPr/>
        </p:nvSpPr>
        <p:spPr>
          <a:xfrm>
            <a:off x="8155295" y="2392268"/>
            <a:ext cx="2487168" cy="548640"/>
          </a:xfrm>
          <a:prstGeom prst="rect">
            <a:avLst/>
          </a:prstGeom>
          <a:noFill/>
          <a:ln/>
        </p:spPr>
        <p:txBody>
          <a:bodyPr wrap="square" lIns="0" tIns="0" rIns="0" bIns="0" rtlCol="0" anchor="ctr"/>
          <a:lstStyle/>
          <a:p>
            <a:pPr marL="0" indent="0">
              <a:lnSpc>
                <a:spcPct val="135000"/>
              </a:lnSpc>
              <a:buNone/>
            </a:pPr>
            <a:r>
              <a:rPr lang="en-US" sz="900" i="1">
                <a:solidFill>
                  <a:srgbClr val="546E7A"/>
                </a:solidFill>
                <a:latin typeface="Calibri" pitchFamily="34" charset="0"/>
                <a:ea typeface="Calibri" pitchFamily="34" charset="-122"/>
                <a:cs typeface="Calibri" pitchFamily="34" charset="-120"/>
              </a:rPr>
              <a:t>High-accuracy quantitative or compliance-sensitive work</a:t>
            </a:r>
            <a:endParaRPr lang="en-US" sz="900"/>
          </a:p>
        </p:txBody>
      </p:sp>
      <p:sp>
        <p:nvSpPr>
          <p:cNvPr id="261" name="Shape 53">
            <a:extLst>
              <a:ext uri="{FF2B5EF4-FFF2-40B4-BE49-F238E27FC236}">
                <a16:creationId xmlns:a16="http://schemas.microsoft.com/office/drawing/2014/main" id="{8F4BDEAB-E594-CC15-7FD3-D5AD8E20156F}"/>
              </a:ext>
            </a:extLst>
          </p:cNvPr>
          <p:cNvSpPr/>
          <p:nvPr/>
        </p:nvSpPr>
        <p:spPr>
          <a:xfrm>
            <a:off x="320040" y="3090672"/>
            <a:ext cx="11551615" cy="713232"/>
          </a:xfrm>
          <a:prstGeom prst="rect">
            <a:avLst/>
          </a:prstGeom>
          <a:solidFill>
            <a:srgbClr val="FFFFFF"/>
          </a:solidFill>
          <a:ln w="6350">
            <a:solidFill>
              <a:srgbClr val="DDE6F0"/>
            </a:solidFill>
            <a:prstDash val="solid"/>
          </a:ln>
        </p:spPr>
      </p:sp>
      <p:sp>
        <p:nvSpPr>
          <p:cNvPr id="263" name="Shape 54">
            <a:extLst>
              <a:ext uri="{FF2B5EF4-FFF2-40B4-BE49-F238E27FC236}">
                <a16:creationId xmlns:a16="http://schemas.microsoft.com/office/drawing/2014/main" id="{B9FC43B2-364D-F555-7446-4EE03720E972}"/>
              </a:ext>
            </a:extLst>
          </p:cNvPr>
          <p:cNvSpPr/>
          <p:nvPr/>
        </p:nvSpPr>
        <p:spPr>
          <a:xfrm>
            <a:off x="320040" y="3090672"/>
            <a:ext cx="45720" cy="713232"/>
          </a:xfrm>
          <a:prstGeom prst="rect">
            <a:avLst/>
          </a:prstGeom>
          <a:solidFill>
            <a:srgbClr val="2196A0"/>
          </a:solidFill>
          <a:ln w="12700">
            <a:solidFill>
              <a:srgbClr val="2196A0"/>
            </a:solidFill>
            <a:prstDash val="solid"/>
          </a:ln>
        </p:spPr>
      </p:sp>
      <p:sp>
        <p:nvSpPr>
          <p:cNvPr id="265" name="Shape 55">
            <a:extLst>
              <a:ext uri="{FF2B5EF4-FFF2-40B4-BE49-F238E27FC236}">
                <a16:creationId xmlns:a16="http://schemas.microsoft.com/office/drawing/2014/main" id="{5D4AFB68-F2F9-6A4F-E309-0467A1F4CADA}"/>
              </a:ext>
            </a:extLst>
          </p:cNvPr>
          <p:cNvSpPr/>
          <p:nvPr/>
        </p:nvSpPr>
        <p:spPr>
          <a:xfrm>
            <a:off x="1920240" y="3182112"/>
            <a:ext cx="9144" cy="530352"/>
          </a:xfrm>
          <a:prstGeom prst="rect">
            <a:avLst/>
          </a:prstGeom>
          <a:solidFill>
            <a:srgbClr val="DDE6F0"/>
          </a:solidFill>
          <a:ln w="12700">
            <a:solidFill>
              <a:srgbClr val="DDE6F0"/>
            </a:solidFill>
            <a:prstDash val="solid"/>
          </a:ln>
        </p:spPr>
      </p:sp>
      <p:sp>
        <p:nvSpPr>
          <p:cNvPr id="267" name="Shape 57">
            <a:extLst>
              <a:ext uri="{FF2B5EF4-FFF2-40B4-BE49-F238E27FC236}">
                <a16:creationId xmlns:a16="http://schemas.microsoft.com/office/drawing/2014/main" id="{AEA12FE7-47E8-2455-BBF1-4853776EF024}"/>
              </a:ext>
            </a:extLst>
          </p:cNvPr>
          <p:cNvSpPr/>
          <p:nvPr/>
        </p:nvSpPr>
        <p:spPr>
          <a:xfrm>
            <a:off x="7349964" y="3192409"/>
            <a:ext cx="9144" cy="530352"/>
          </a:xfrm>
          <a:prstGeom prst="rect">
            <a:avLst/>
          </a:prstGeom>
          <a:solidFill>
            <a:srgbClr val="DDE6F0"/>
          </a:solidFill>
          <a:ln w="12700">
            <a:solidFill>
              <a:srgbClr val="DDE6F0"/>
            </a:solidFill>
            <a:prstDash val="solid"/>
          </a:ln>
        </p:spPr>
      </p:sp>
      <p:sp>
        <p:nvSpPr>
          <p:cNvPr id="269" name="Text 58">
            <a:extLst>
              <a:ext uri="{FF2B5EF4-FFF2-40B4-BE49-F238E27FC236}">
                <a16:creationId xmlns:a16="http://schemas.microsoft.com/office/drawing/2014/main" id="{158EB943-C848-79DF-49A5-F998D0E1105B}"/>
              </a:ext>
            </a:extLst>
          </p:cNvPr>
          <p:cNvSpPr/>
          <p:nvPr/>
        </p:nvSpPr>
        <p:spPr>
          <a:xfrm>
            <a:off x="429768" y="3163824"/>
            <a:ext cx="1444752" cy="274320"/>
          </a:xfrm>
          <a:prstGeom prst="rect">
            <a:avLst/>
          </a:prstGeom>
          <a:noFill/>
          <a:ln/>
        </p:spPr>
        <p:txBody>
          <a:bodyPr wrap="square" lIns="0" tIns="0" rIns="0" bIns="0" rtlCol="0" anchor="ctr"/>
          <a:lstStyle/>
          <a:p>
            <a:pPr marL="0" indent="0">
              <a:buNone/>
            </a:pPr>
            <a:r>
              <a:rPr lang="en-US" sz="1200" b="1">
                <a:solidFill>
                  <a:srgbClr val="2196A0"/>
                </a:solidFill>
                <a:latin typeface="Calibri" pitchFamily="34" charset="0"/>
                <a:ea typeface="Calibri" pitchFamily="34" charset="-122"/>
                <a:cs typeface="Calibri" pitchFamily="34" charset="-120"/>
              </a:rPr>
              <a:t>Gemini</a:t>
            </a:r>
            <a:endParaRPr lang="en-US" sz="1200"/>
          </a:p>
        </p:txBody>
      </p:sp>
      <p:sp>
        <p:nvSpPr>
          <p:cNvPr id="271" name="Text 59">
            <a:extLst>
              <a:ext uri="{FF2B5EF4-FFF2-40B4-BE49-F238E27FC236}">
                <a16:creationId xmlns:a16="http://schemas.microsoft.com/office/drawing/2014/main" id="{DD1277A3-1941-37F0-0F7F-F26F21966911}"/>
              </a:ext>
            </a:extLst>
          </p:cNvPr>
          <p:cNvSpPr/>
          <p:nvPr/>
        </p:nvSpPr>
        <p:spPr>
          <a:xfrm>
            <a:off x="429768" y="3465576"/>
            <a:ext cx="1444752" cy="201168"/>
          </a:xfrm>
          <a:prstGeom prst="rect">
            <a:avLst/>
          </a:prstGeom>
          <a:noFill/>
          <a:ln/>
        </p:spPr>
        <p:txBody>
          <a:bodyPr wrap="square" lIns="0" tIns="0" rIns="0" bIns="0" rtlCol="0" anchor="ctr"/>
          <a:lstStyle/>
          <a:p>
            <a:pPr marL="0" indent="0">
              <a:buNone/>
            </a:pPr>
            <a:r>
              <a:rPr lang="en-US" sz="900" i="1">
                <a:solidFill>
                  <a:srgbClr val="90A4AE"/>
                </a:solidFill>
                <a:latin typeface="Calibri" pitchFamily="34" charset="0"/>
                <a:ea typeface="Calibri" pitchFamily="34" charset="-122"/>
                <a:cs typeface="Calibri" pitchFamily="34" charset="-120"/>
              </a:rPr>
              <a:t>Google</a:t>
            </a:r>
            <a:endParaRPr lang="en-US" sz="900"/>
          </a:p>
        </p:txBody>
      </p:sp>
      <p:sp>
        <p:nvSpPr>
          <p:cNvPr id="273" name="Shape 66">
            <a:extLst>
              <a:ext uri="{FF2B5EF4-FFF2-40B4-BE49-F238E27FC236}">
                <a16:creationId xmlns:a16="http://schemas.microsoft.com/office/drawing/2014/main" id="{E9ECF436-4484-3096-0A9D-6D17732C897C}"/>
              </a:ext>
            </a:extLst>
          </p:cNvPr>
          <p:cNvSpPr/>
          <p:nvPr/>
        </p:nvSpPr>
        <p:spPr>
          <a:xfrm>
            <a:off x="3212515" y="3202136"/>
            <a:ext cx="74305" cy="64008"/>
          </a:xfrm>
          <a:prstGeom prst="ellipse">
            <a:avLst/>
          </a:prstGeom>
          <a:solidFill>
            <a:srgbClr val="90A4AE"/>
          </a:solidFill>
          <a:ln w="12700">
            <a:solidFill>
              <a:srgbClr val="90A4AE"/>
            </a:solidFill>
            <a:prstDash val="solid"/>
          </a:ln>
        </p:spPr>
      </p:sp>
      <p:sp>
        <p:nvSpPr>
          <p:cNvPr id="275" name="Shape 68">
            <a:extLst>
              <a:ext uri="{FF2B5EF4-FFF2-40B4-BE49-F238E27FC236}">
                <a16:creationId xmlns:a16="http://schemas.microsoft.com/office/drawing/2014/main" id="{9A5CC0AB-6B40-FFCD-AF0D-92405E092C8D}"/>
              </a:ext>
            </a:extLst>
          </p:cNvPr>
          <p:cNvSpPr/>
          <p:nvPr/>
        </p:nvSpPr>
        <p:spPr>
          <a:xfrm>
            <a:off x="3212515" y="3421592"/>
            <a:ext cx="74305" cy="64008"/>
          </a:xfrm>
          <a:prstGeom prst="ellipse">
            <a:avLst/>
          </a:prstGeom>
          <a:solidFill>
            <a:srgbClr val="90A4AE"/>
          </a:solidFill>
          <a:ln w="12700">
            <a:solidFill>
              <a:srgbClr val="90A4AE"/>
            </a:solidFill>
            <a:prstDash val="solid"/>
          </a:ln>
        </p:spPr>
      </p:sp>
      <p:sp>
        <p:nvSpPr>
          <p:cNvPr id="277" name="Shape 70">
            <a:extLst>
              <a:ext uri="{FF2B5EF4-FFF2-40B4-BE49-F238E27FC236}">
                <a16:creationId xmlns:a16="http://schemas.microsoft.com/office/drawing/2014/main" id="{C8C2D54D-927E-B2A6-6D54-867FE16DFFB9}"/>
              </a:ext>
            </a:extLst>
          </p:cNvPr>
          <p:cNvSpPr/>
          <p:nvPr/>
        </p:nvSpPr>
        <p:spPr>
          <a:xfrm>
            <a:off x="3212515" y="3641048"/>
            <a:ext cx="74305" cy="64008"/>
          </a:xfrm>
          <a:prstGeom prst="ellipse">
            <a:avLst/>
          </a:prstGeom>
          <a:solidFill>
            <a:srgbClr val="90A4AE"/>
          </a:solidFill>
          <a:ln w="12700">
            <a:solidFill>
              <a:srgbClr val="90A4AE"/>
            </a:solidFill>
            <a:prstDash val="solid"/>
          </a:ln>
        </p:spPr>
      </p:sp>
      <p:sp>
        <p:nvSpPr>
          <p:cNvPr id="279" name="Text 72">
            <a:extLst>
              <a:ext uri="{FF2B5EF4-FFF2-40B4-BE49-F238E27FC236}">
                <a16:creationId xmlns:a16="http://schemas.microsoft.com/office/drawing/2014/main" id="{7E63B982-C9E0-7F6B-D9F9-9438A8BB0E82}"/>
              </a:ext>
            </a:extLst>
          </p:cNvPr>
          <p:cNvSpPr/>
          <p:nvPr/>
        </p:nvSpPr>
        <p:spPr>
          <a:xfrm>
            <a:off x="8155295" y="3151220"/>
            <a:ext cx="2487168" cy="548640"/>
          </a:xfrm>
          <a:prstGeom prst="rect">
            <a:avLst/>
          </a:prstGeom>
          <a:noFill/>
          <a:ln/>
        </p:spPr>
        <p:txBody>
          <a:bodyPr wrap="square" lIns="0" tIns="0" rIns="0" bIns="0" rtlCol="0" anchor="ctr"/>
          <a:lstStyle/>
          <a:p>
            <a:pPr marL="0" indent="0">
              <a:lnSpc>
                <a:spcPct val="135000"/>
              </a:lnSpc>
              <a:buNone/>
            </a:pPr>
            <a:r>
              <a:rPr lang="en-US" sz="900" i="1">
                <a:solidFill>
                  <a:srgbClr val="546E7A"/>
                </a:solidFill>
                <a:latin typeface="Calibri" pitchFamily="34" charset="0"/>
                <a:ea typeface="Calibri" pitchFamily="34" charset="-122"/>
                <a:cs typeface="Calibri" pitchFamily="34" charset="-120"/>
              </a:rPr>
              <a:t>Non-Google stack environments or offline use</a:t>
            </a:r>
            <a:endParaRPr lang="en-US" sz="900"/>
          </a:p>
        </p:txBody>
      </p:sp>
      <p:sp>
        <p:nvSpPr>
          <p:cNvPr id="281" name="Shape 73">
            <a:extLst>
              <a:ext uri="{FF2B5EF4-FFF2-40B4-BE49-F238E27FC236}">
                <a16:creationId xmlns:a16="http://schemas.microsoft.com/office/drawing/2014/main" id="{328E993F-DE7C-C5C8-CB3F-917F8AA4129C}"/>
              </a:ext>
            </a:extLst>
          </p:cNvPr>
          <p:cNvSpPr/>
          <p:nvPr/>
        </p:nvSpPr>
        <p:spPr>
          <a:xfrm>
            <a:off x="320040" y="3849624"/>
            <a:ext cx="11551615" cy="713232"/>
          </a:xfrm>
          <a:prstGeom prst="rect">
            <a:avLst/>
          </a:prstGeom>
          <a:solidFill>
            <a:srgbClr val="F7F9FC"/>
          </a:solidFill>
          <a:ln w="6350">
            <a:solidFill>
              <a:srgbClr val="DDE6F0"/>
            </a:solidFill>
            <a:prstDash val="solid"/>
          </a:ln>
        </p:spPr>
      </p:sp>
      <p:sp>
        <p:nvSpPr>
          <p:cNvPr id="283" name="Shape 74">
            <a:extLst>
              <a:ext uri="{FF2B5EF4-FFF2-40B4-BE49-F238E27FC236}">
                <a16:creationId xmlns:a16="http://schemas.microsoft.com/office/drawing/2014/main" id="{C96288DF-92A2-101A-5CFE-52E56244E8AF}"/>
              </a:ext>
            </a:extLst>
          </p:cNvPr>
          <p:cNvSpPr/>
          <p:nvPr/>
        </p:nvSpPr>
        <p:spPr>
          <a:xfrm>
            <a:off x="320040" y="3849624"/>
            <a:ext cx="45720" cy="713232"/>
          </a:xfrm>
          <a:prstGeom prst="rect">
            <a:avLst/>
          </a:prstGeom>
          <a:solidFill>
            <a:srgbClr val="00838F"/>
          </a:solidFill>
          <a:ln w="12700">
            <a:solidFill>
              <a:srgbClr val="00838F"/>
            </a:solidFill>
            <a:prstDash val="solid"/>
          </a:ln>
        </p:spPr>
      </p:sp>
      <p:sp>
        <p:nvSpPr>
          <p:cNvPr id="285" name="Shape 75">
            <a:extLst>
              <a:ext uri="{FF2B5EF4-FFF2-40B4-BE49-F238E27FC236}">
                <a16:creationId xmlns:a16="http://schemas.microsoft.com/office/drawing/2014/main" id="{B2EDC4F1-FE3A-59C2-2ADA-BBEC37C9CA0A}"/>
              </a:ext>
            </a:extLst>
          </p:cNvPr>
          <p:cNvSpPr/>
          <p:nvPr/>
        </p:nvSpPr>
        <p:spPr>
          <a:xfrm>
            <a:off x="1920240" y="3941064"/>
            <a:ext cx="9144" cy="530352"/>
          </a:xfrm>
          <a:prstGeom prst="rect">
            <a:avLst/>
          </a:prstGeom>
          <a:solidFill>
            <a:srgbClr val="DDE6F0"/>
          </a:solidFill>
          <a:ln w="12700">
            <a:solidFill>
              <a:srgbClr val="DDE6F0"/>
            </a:solidFill>
            <a:prstDash val="solid"/>
          </a:ln>
        </p:spPr>
      </p:sp>
      <p:sp>
        <p:nvSpPr>
          <p:cNvPr id="287" name="Shape 77">
            <a:extLst>
              <a:ext uri="{FF2B5EF4-FFF2-40B4-BE49-F238E27FC236}">
                <a16:creationId xmlns:a16="http://schemas.microsoft.com/office/drawing/2014/main" id="{08628FEF-5C10-D0F7-9713-A407059247A0}"/>
              </a:ext>
            </a:extLst>
          </p:cNvPr>
          <p:cNvSpPr/>
          <p:nvPr/>
        </p:nvSpPr>
        <p:spPr>
          <a:xfrm>
            <a:off x="7349964" y="4105821"/>
            <a:ext cx="9144" cy="530352"/>
          </a:xfrm>
          <a:prstGeom prst="rect">
            <a:avLst/>
          </a:prstGeom>
          <a:solidFill>
            <a:srgbClr val="DDE6F0"/>
          </a:solidFill>
          <a:ln w="12700">
            <a:solidFill>
              <a:srgbClr val="DDE6F0"/>
            </a:solidFill>
            <a:prstDash val="solid"/>
          </a:ln>
        </p:spPr>
      </p:sp>
      <p:sp>
        <p:nvSpPr>
          <p:cNvPr id="289" name="Text 78">
            <a:extLst>
              <a:ext uri="{FF2B5EF4-FFF2-40B4-BE49-F238E27FC236}">
                <a16:creationId xmlns:a16="http://schemas.microsoft.com/office/drawing/2014/main" id="{AB75ADA9-FB8A-1189-0E9E-4D45457B2BE8}"/>
              </a:ext>
            </a:extLst>
          </p:cNvPr>
          <p:cNvSpPr/>
          <p:nvPr/>
        </p:nvSpPr>
        <p:spPr>
          <a:xfrm>
            <a:off x="429768" y="3922776"/>
            <a:ext cx="1444752" cy="274320"/>
          </a:xfrm>
          <a:prstGeom prst="rect">
            <a:avLst/>
          </a:prstGeom>
          <a:noFill/>
          <a:ln/>
        </p:spPr>
        <p:txBody>
          <a:bodyPr wrap="square" lIns="0" tIns="0" rIns="0" bIns="0" rtlCol="0" anchor="ctr"/>
          <a:lstStyle/>
          <a:p>
            <a:pPr marL="0" indent="0">
              <a:buNone/>
            </a:pPr>
            <a:r>
              <a:rPr lang="en-US" sz="1200" b="1">
                <a:solidFill>
                  <a:srgbClr val="00838F"/>
                </a:solidFill>
                <a:latin typeface="Calibri" pitchFamily="34" charset="0"/>
                <a:ea typeface="Calibri" pitchFamily="34" charset="-122"/>
                <a:cs typeface="Calibri" pitchFamily="34" charset="-120"/>
              </a:rPr>
              <a:t>Perplexity</a:t>
            </a:r>
            <a:endParaRPr lang="en-US" sz="1200"/>
          </a:p>
        </p:txBody>
      </p:sp>
      <p:sp>
        <p:nvSpPr>
          <p:cNvPr id="291" name="Text 79">
            <a:extLst>
              <a:ext uri="{FF2B5EF4-FFF2-40B4-BE49-F238E27FC236}">
                <a16:creationId xmlns:a16="http://schemas.microsoft.com/office/drawing/2014/main" id="{B9939462-5551-0F2D-8BF3-3EA3663A8D6D}"/>
              </a:ext>
            </a:extLst>
          </p:cNvPr>
          <p:cNvSpPr/>
          <p:nvPr/>
        </p:nvSpPr>
        <p:spPr>
          <a:xfrm>
            <a:off x="429768" y="4224528"/>
            <a:ext cx="1444752" cy="201168"/>
          </a:xfrm>
          <a:prstGeom prst="rect">
            <a:avLst/>
          </a:prstGeom>
          <a:noFill/>
          <a:ln/>
        </p:spPr>
        <p:txBody>
          <a:bodyPr wrap="square" lIns="0" tIns="0" rIns="0" bIns="0" rtlCol="0" anchor="ctr"/>
          <a:lstStyle/>
          <a:p>
            <a:pPr marL="0" indent="0">
              <a:buNone/>
            </a:pPr>
            <a:r>
              <a:rPr lang="en-US" sz="900" i="1">
                <a:solidFill>
                  <a:srgbClr val="90A4AE"/>
                </a:solidFill>
                <a:latin typeface="Calibri" pitchFamily="34" charset="0"/>
                <a:ea typeface="Calibri" pitchFamily="34" charset="-122"/>
                <a:cs typeface="Calibri" pitchFamily="34" charset="-120"/>
              </a:rPr>
              <a:t>Perplexity AI</a:t>
            </a:r>
            <a:endParaRPr lang="en-US" sz="900"/>
          </a:p>
        </p:txBody>
      </p:sp>
      <p:sp>
        <p:nvSpPr>
          <p:cNvPr id="293" name="Shape 86">
            <a:extLst>
              <a:ext uri="{FF2B5EF4-FFF2-40B4-BE49-F238E27FC236}">
                <a16:creationId xmlns:a16="http://schemas.microsoft.com/office/drawing/2014/main" id="{2CDC74F8-5118-4D28-6D88-71FC0A497CDF}"/>
              </a:ext>
            </a:extLst>
          </p:cNvPr>
          <p:cNvSpPr/>
          <p:nvPr/>
        </p:nvSpPr>
        <p:spPr>
          <a:xfrm>
            <a:off x="3212515" y="3961088"/>
            <a:ext cx="74305" cy="64008"/>
          </a:xfrm>
          <a:prstGeom prst="ellipse">
            <a:avLst/>
          </a:prstGeom>
          <a:solidFill>
            <a:srgbClr val="90A4AE"/>
          </a:solidFill>
          <a:ln w="12700">
            <a:solidFill>
              <a:srgbClr val="90A4AE"/>
            </a:solidFill>
            <a:prstDash val="solid"/>
          </a:ln>
        </p:spPr>
      </p:sp>
      <p:sp>
        <p:nvSpPr>
          <p:cNvPr id="295" name="Shape 88">
            <a:extLst>
              <a:ext uri="{FF2B5EF4-FFF2-40B4-BE49-F238E27FC236}">
                <a16:creationId xmlns:a16="http://schemas.microsoft.com/office/drawing/2014/main" id="{9E84271D-CA97-5189-F45E-57B952BDDB97}"/>
              </a:ext>
            </a:extLst>
          </p:cNvPr>
          <p:cNvSpPr/>
          <p:nvPr/>
        </p:nvSpPr>
        <p:spPr>
          <a:xfrm>
            <a:off x="3212515" y="4180544"/>
            <a:ext cx="74305" cy="64008"/>
          </a:xfrm>
          <a:prstGeom prst="ellipse">
            <a:avLst/>
          </a:prstGeom>
          <a:solidFill>
            <a:srgbClr val="90A4AE"/>
          </a:solidFill>
          <a:ln w="12700">
            <a:solidFill>
              <a:srgbClr val="90A4AE"/>
            </a:solidFill>
            <a:prstDash val="solid"/>
          </a:ln>
        </p:spPr>
      </p:sp>
      <p:sp>
        <p:nvSpPr>
          <p:cNvPr id="297" name="Shape 90">
            <a:extLst>
              <a:ext uri="{FF2B5EF4-FFF2-40B4-BE49-F238E27FC236}">
                <a16:creationId xmlns:a16="http://schemas.microsoft.com/office/drawing/2014/main" id="{09AEAA39-1197-0A24-5535-E2276AE3B6A0}"/>
              </a:ext>
            </a:extLst>
          </p:cNvPr>
          <p:cNvSpPr/>
          <p:nvPr/>
        </p:nvSpPr>
        <p:spPr>
          <a:xfrm>
            <a:off x="3212515" y="4410297"/>
            <a:ext cx="74305" cy="53711"/>
          </a:xfrm>
          <a:prstGeom prst="ellipse">
            <a:avLst/>
          </a:prstGeom>
          <a:solidFill>
            <a:srgbClr val="90A4AE"/>
          </a:solidFill>
          <a:ln w="12700">
            <a:solidFill>
              <a:srgbClr val="90A4AE"/>
            </a:solidFill>
            <a:prstDash val="solid"/>
          </a:ln>
        </p:spPr>
      </p:sp>
      <p:sp>
        <p:nvSpPr>
          <p:cNvPr id="299" name="Text 92">
            <a:extLst>
              <a:ext uri="{FF2B5EF4-FFF2-40B4-BE49-F238E27FC236}">
                <a16:creationId xmlns:a16="http://schemas.microsoft.com/office/drawing/2014/main" id="{82E6E30C-D781-C86B-FBB7-1D60EA79A445}"/>
              </a:ext>
            </a:extLst>
          </p:cNvPr>
          <p:cNvSpPr/>
          <p:nvPr/>
        </p:nvSpPr>
        <p:spPr>
          <a:xfrm>
            <a:off x="8155295" y="4023442"/>
            <a:ext cx="2487168" cy="548640"/>
          </a:xfrm>
          <a:prstGeom prst="rect">
            <a:avLst/>
          </a:prstGeom>
          <a:noFill/>
          <a:ln/>
        </p:spPr>
        <p:txBody>
          <a:bodyPr wrap="square" lIns="0" tIns="0" rIns="0" bIns="0" rtlCol="0" anchor="ctr"/>
          <a:lstStyle/>
          <a:p>
            <a:pPr marL="0" indent="0">
              <a:lnSpc>
                <a:spcPct val="135000"/>
              </a:lnSpc>
              <a:buNone/>
            </a:pPr>
            <a:r>
              <a:rPr lang="en-US" sz="900" i="1">
                <a:solidFill>
                  <a:srgbClr val="546E7A"/>
                </a:solidFill>
                <a:latin typeface="Calibri" pitchFamily="34" charset="0"/>
                <a:ea typeface="Calibri" pitchFamily="34" charset="-122"/>
                <a:cs typeface="Calibri" pitchFamily="34" charset="-120"/>
              </a:rPr>
              <a:t>Creative writing, code generation, long-form documents</a:t>
            </a:r>
            <a:endParaRPr lang="en-US" sz="900"/>
          </a:p>
        </p:txBody>
      </p:sp>
      <p:sp>
        <p:nvSpPr>
          <p:cNvPr id="301" name="Shape 93">
            <a:extLst>
              <a:ext uri="{FF2B5EF4-FFF2-40B4-BE49-F238E27FC236}">
                <a16:creationId xmlns:a16="http://schemas.microsoft.com/office/drawing/2014/main" id="{39973B64-61B3-774D-0E8D-4E03DDA13AC4}"/>
              </a:ext>
            </a:extLst>
          </p:cNvPr>
          <p:cNvSpPr/>
          <p:nvPr/>
        </p:nvSpPr>
        <p:spPr>
          <a:xfrm>
            <a:off x="320040" y="4608576"/>
            <a:ext cx="11551615" cy="713232"/>
          </a:xfrm>
          <a:prstGeom prst="rect">
            <a:avLst/>
          </a:prstGeom>
          <a:solidFill>
            <a:srgbClr val="FFFFFF"/>
          </a:solidFill>
          <a:ln w="6350">
            <a:solidFill>
              <a:srgbClr val="DDE6F0"/>
            </a:solidFill>
            <a:prstDash val="solid"/>
          </a:ln>
        </p:spPr>
      </p:sp>
      <p:sp>
        <p:nvSpPr>
          <p:cNvPr id="303" name="Shape 94">
            <a:extLst>
              <a:ext uri="{FF2B5EF4-FFF2-40B4-BE49-F238E27FC236}">
                <a16:creationId xmlns:a16="http://schemas.microsoft.com/office/drawing/2014/main" id="{B35D6434-9722-5779-F215-0051C0653E68}"/>
              </a:ext>
            </a:extLst>
          </p:cNvPr>
          <p:cNvSpPr/>
          <p:nvPr/>
        </p:nvSpPr>
        <p:spPr>
          <a:xfrm>
            <a:off x="320040" y="4608576"/>
            <a:ext cx="45720" cy="713232"/>
          </a:xfrm>
          <a:prstGeom prst="rect">
            <a:avLst/>
          </a:prstGeom>
          <a:solidFill>
            <a:srgbClr val="3949AB"/>
          </a:solidFill>
          <a:ln w="12700">
            <a:solidFill>
              <a:srgbClr val="3949AB"/>
            </a:solidFill>
            <a:prstDash val="solid"/>
          </a:ln>
        </p:spPr>
      </p:sp>
      <p:sp>
        <p:nvSpPr>
          <p:cNvPr id="305" name="Shape 95">
            <a:extLst>
              <a:ext uri="{FF2B5EF4-FFF2-40B4-BE49-F238E27FC236}">
                <a16:creationId xmlns:a16="http://schemas.microsoft.com/office/drawing/2014/main" id="{2C4AA415-5885-4063-4E1B-62D6EA2B7B5F}"/>
              </a:ext>
            </a:extLst>
          </p:cNvPr>
          <p:cNvSpPr/>
          <p:nvPr/>
        </p:nvSpPr>
        <p:spPr>
          <a:xfrm>
            <a:off x="1920240" y="4700016"/>
            <a:ext cx="9144" cy="530352"/>
          </a:xfrm>
          <a:prstGeom prst="rect">
            <a:avLst/>
          </a:prstGeom>
          <a:solidFill>
            <a:srgbClr val="DDE6F0"/>
          </a:solidFill>
          <a:ln w="12700">
            <a:solidFill>
              <a:srgbClr val="DDE6F0"/>
            </a:solidFill>
            <a:prstDash val="solid"/>
          </a:ln>
        </p:spPr>
      </p:sp>
      <p:sp>
        <p:nvSpPr>
          <p:cNvPr id="307" name="Shape 97">
            <a:extLst>
              <a:ext uri="{FF2B5EF4-FFF2-40B4-BE49-F238E27FC236}">
                <a16:creationId xmlns:a16="http://schemas.microsoft.com/office/drawing/2014/main" id="{FC023EEC-ADC3-6B19-9D58-696BAE12619F}"/>
              </a:ext>
            </a:extLst>
          </p:cNvPr>
          <p:cNvSpPr/>
          <p:nvPr/>
        </p:nvSpPr>
        <p:spPr>
          <a:xfrm>
            <a:off x="7349964" y="4782394"/>
            <a:ext cx="9144" cy="530352"/>
          </a:xfrm>
          <a:prstGeom prst="rect">
            <a:avLst/>
          </a:prstGeom>
          <a:solidFill>
            <a:srgbClr val="DDE6F0"/>
          </a:solidFill>
          <a:ln w="12700">
            <a:solidFill>
              <a:srgbClr val="DDE6F0"/>
            </a:solidFill>
            <a:prstDash val="solid"/>
          </a:ln>
        </p:spPr>
      </p:sp>
      <p:sp>
        <p:nvSpPr>
          <p:cNvPr id="309" name="Text 98">
            <a:extLst>
              <a:ext uri="{FF2B5EF4-FFF2-40B4-BE49-F238E27FC236}">
                <a16:creationId xmlns:a16="http://schemas.microsoft.com/office/drawing/2014/main" id="{977E5402-CF90-F105-6010-4B6887165928}"/>
              </a:ext>
            </a:extLst>
          </p:cNvPr>
          <p:cNvSpPr/>
          <p:nvPr/>
        </p:nvSpPr>
        <p:spPr>
          <a:xfrm>
            <a:off x="429768" y="4681728"/>
            <a:ext cx="1444752" cy="274320"/>
          </a:xfrm>
          <a:prstGeom prst="rect">
            <a:avLst/>
          </a:prstGeom>
          <a:noFill/>
          <a:ln/>
        </p:spPr>
        <p:txBody>
          <a:bodyPr wrap="square" lIns="0" tIns="0" rIns="0" bIns="0" rtlCol="0" anchor="ctr"/>
          <a:lstStyle/>
          <a:p>
            <a:pPr marL="0" indent="0">
              <a:buNone/>
            </a:pPr>
            <a:r>
              <a:rPr lang="en-US" sz="1200" b="1">
                <a:solidFill>
                  <a:srgbClr val="3949AB"/>
                </a:solidFill>
                <a:latin typeface="Calibri" pitchFamily="34" charset="0"/>
                <a:ea typeface="Calibri" pitchFamily="34" charset="-122"/>
                <a:cs typeface="Calibri" pitchFamily="34" charset="-120"/>
              </a:rPr>
              <a:t>Copilot</a:t>
            </a:r>
            <a:endParaRPr lang="en-US" sz="1200"/>
          </a:p>
        </p:txBody>
      </p:sp>
      <p:sp>
        <p:nvSpPr>
          <p:cNvPr id="311" name="Text 99">
            <a:extLst>
              <a:ext uri="{FF2B5EF4-FFF2-40B4-BE49-F238E27FC236}">
                <a16:creationId xmlns:a16="http://schemas.microsoft.com/office/drawing/2014/main" id="{A15E2B8D-E6D2-69B4-09DD-6A39CE0ABC8B}"/>
              </a:ext>
            </a:extLst>
          </p:cNvPr>
          <p:cNvSpPr/>
          <p:nvPr/>
        </p:nvSpPr>
        <p:spPr>
          <a:xfrm>
            <a:off x="429768" y="4983480"/>
            <a:ext cx="1444752" cy="201168"/>
          </a:xfrm>
          <a:prstGeom prst="rect">
            <a:avLst/>
          </a:prstGeom>
          <a:noFill/>
          <a:ln/>
        </p:spPr>
        <p:txBody>
          <a:bodyPr wrap="square" lIns="0" tIns="0" rIns="0" bIns="0" rtlCol="0" anchor="ctr"/>
          <a:lstStyle/>
          <a:p>
            <a:pPr marL="0" indent="0">
              <a:buNone/>
            </a:pPr>
            <a:r>
              <a:rPr lang="en-US" sz="900" i="1">
                <a:solidFill>
                  <a:srgbClr val="90A4AE"/>
                </a:solidFill>
                <a:latin typeface="Calibri" pitchFamily="34" charset="0"/>
                <a:ea typeface="Calibri" pitchFamily="34" charset="-122"/>
                <a:cs typeface="Calibri" pitchFamily="34" charset="-120"/>
              </a:rPr>
              <a:t>Microsoft</a:t>
            </a:r>
            <a:endParaRPr lang="en-US" sz="900"/>
          </a:p>
        </p:txBody>
      </p:sp>
      <p:sp>
        <p:nvSpPr>
          <p:cNvPr id="313" name="Shape 106">
            <a:extLst>
              <a:ext uri="{FF2B5EF4-FFF2-40B4-BE49-F238E27FC236}">
                <a16:creationId xmlns:a16="http://schemas.microsoft.com/office/drawing/2014/main" id="{E6796976-40B6-8B0B-1975-BAD3D4CE5CC7}"/>
              </a:ext>
            </a:extLst>
          </p:cNvPr>
          <p:cNvSpPr/>
          <p:nvPr/>
        </p:nvSpPr>
        <p:spPr>
          <a:xfrm>
            <a:off x="3212515" y="4730337"/>
            <a:ext cx="74305" cy="53711"/>
          </a:xfrm>
          <a:prstGeom prst="ellipse">
            <a:avLst/>
          </a:prstGeom>
          <a:solidFill>
            <a:srgbClr val="90A4AE"/>
          </a:solidFill>
          <a:ln w="12700">
            <a:solidFill>
              <a:srgbClr val="90A4AE"/>
            </a:solidFill>
            <a:prstDash val="solid"/>
          </a:ln>
        </p:spPr>
      </p:sp>
      <p:sp>
        <p:nvSpPr>
          <p:cNvPr id="315" name="Shape 108">
            <a:extLst>
              <a:ext uri="{FF2B5EF4-FFF2-40B4-BE49-F238E27FC236}">
                <a16:creationId xmlns:a16="http://schemas.microsoft.com/office/drawing/2014/main" id="{DF7DB9B2-90FC-C8EB-25C3-09A9A6EC4812}"/>
              </a:ext>
            </a:extLst>
          </p:cNvPr>
          <p:cNvSpPr/>
          <p:nvPr/>
        </p:nvSpPr>
        <p:spPr>
          <a:xfrm>
            <a:off x="3212515" y="4939496"/>
            <a:ext cx="74305" cy="64008"/>
          </a:xfrm>
          <a:prstGeom prst="ellipse">
            <a:avLst/>
          </a:prstGeom>
          <a:solidFill>
            <a:srgbClr val="90A4AE"/>
          </a:solidFill>
          <a:ln w="12700">
            <a:solidFill>
              <a:srgbClr val="90A4AE"/>
            </a:solidFill>
            <a:prstDash val="solid"/>
          </a:ln>
        </p:spPr>
      </p:sp>
      <p:sp>
        <p:nvSpPr>
          <p:cNvPr id="317" name="Shape 110">
            <a:extLst>
              <a:ext uri="{FF2B5EF4-FFF2-40B4-BE49-F238E27FC236}">
                <a16:creationId xmlns:a16="http://schemas.microsoft.com/office/drawing/2014/main" id="{81FBF141-FD1B-5FFB-3363-47A9380AA541}"/>
              </a:ext>
            </a:extLst>
          </p:cNvPr>
          <p:cNvSpPr/>
          <p:nvPr/>
        </p:nvSpPr>
        <p:spPr>
          <a:xfrm>
            <a:off x="3212515" y="5158952"/>
            <a:ext cx="74305" cy="64008"/>
          </a:xfrm>
          <a:prstGeom prst="ellipse">
            <a:avLst/>
          </a:prstGeom>
          <a:solidFill>
            <a:srgbClr val="90A4AE"/>
          </a:solidFill>
          <a:ln w="12700">
            <a:solidFill>
              <a:srgbClr val="90A4AE"/>
            </a:solidFill>
            <a:prstDash val="solid"/>
          </a:ln>
        </p:spPr>
      </p:sp>
      <p:sp>
        <p:nvSpPr>
          <p:cNvPr id="319" name="Text 112">
            <a:extLst>
              <a:ext uri="{FF2B5EF4-FFF2-40B4-BE49-F238E27FC236}">
                <a16:creationId xmlns:a16="http://schemas.microsoft.com/office/drawing/2014/main" id="{DA533FCF-FA28-B706-FE69-8CE4BE936FB6}"/>
              </a:ext>
            </a:extLst>
          </p:cNvPr>
          <p:cNvSpPr/>
          <p:nvPr/>
        </p:nvSpPr>
        <p:spPr>
          <a:xfrm>
            <a:off x="8155295" y="4772097"/>
            <a:ext cx="2487168" cy="548640"/>
          </a:xfrm>
          <a:prstGeom prst="rect">
            <a:avLst/>
          </a:prstGeom>
          <a:noFill/>
          <a:ln/>
        </p:spPr>
        <p:txBody>
          <a:bodyPr wrap="square" lIns="0" tIns="0" rIns="0" bIns="0" rtlCol="0" anchor="ctr"/>
          <a:lstStyle/>
          <a:p>
            <a:pPr marL="0" indent="0">
              <a:lnSpc>
                <a:spcPct val="135000"/>
              </a:lnSpc>
              <a:buNone/>
            </a:pPr>
            <a:r>
              <a:rPr lang="en-US" sz="900" i="1">
                <a:solidFill>
                  <a:srgbClr val="546E7A"/>
                </a:solidFill>
                <a:latin typeface="Calibri" pitchFamily="34" charset="0"/>
                <a:ea typeface="Calibri" pitchFamily="34" charset="-122"/>
                <a:cs typeface="Calibri" pitchFamily="34" charset="-120"/>
              </a:rPr>
              <a:t>Tasks outside the Microsoft ecosystem</a:t>
            </a:r>
            <a:endParaRPr lang="en-US" sz="900"/>
          </a:p>
        </p:txBody>
      </p:sp>
      <p:sp>
        <p:nvSpPr>
          <p:cNvPr id="321" name="Shape 113">
            <a:extLst>
              <a:ext uri="{FF2B5EF4-FFF2-40B4-BE49-F238E27FC236}">
                <a16:creationId xmlns:a16="http://schemas.microsoft.com/office/drawing/2014/main" id="{A4D9BA2E-8AC8-B454-A736-EA93F04FF9DA}"/>
              </a:ext>
            </a:extLst>
          </p:cNvPr>
          <p:cNvSpPr/>
          <p:nvPr/>
        </p:nvSpPr>
        <p:spPr>
          <a:xfrm>
            <a:off x="320040" y="5367528"/>
            <a:ext cx="11551615" cy="713232"/>
          </a:xfrm>
          <a:prstGeom prst="rect">
            <a:avLst/>
          </a:prstGeom>
          <a:solidFill>
            <a:srgbClr val="F7F9FC"/>
          </a:solidFill>
          <a:ln w="6350">
            <a:solidFill>
              <a:srgbClr val="DDE6F0"/>
            </a:solidFill>
            <a:prstDash val="solid"/>
          </a:ln>
        </p:spPr>
      </p:sp>
      <p:sp>
        <p:nvSpPr>
          <p:cNvPr id="323" name="Shape 114">
            <a:extLst>
              <a:ext uri="{FF2B5EF4-FFF2-40B4-BE49-F238E27FC236}">
                <a16:creationId xmlns:a16="http://schemas.microsoft.com/office/drawing/2014/main" id="{5B744C13-3590-006D-5874-22E46D15E6E8}"/>
              </a:ext>
            </a:extLst>
          </p:cNvPr>
          <p:cNvSpPr/>
          <p:nvPr/>
        </p:nvSpPr>
        <p:spPr>
          <a:xfrm>
            <a:off x="320040" y="5367528"/>
            <a:ext cx="45720" cy="713232"/>
          </a:xfrm>
          <a:prstGeom prst="rect">
            <a:avLst/>
          </a:prstGeom>
          <a:solidFill>
            <a:srgbClr val="607D8B"/>
          </a:solidFill>
          <a:ln w="12700">
            <a:solidFill>
              <a:srgbClr val="607D8B"/>
            </a:solidFill>
            <a:prstDash val="solid"/>
          </a:ln>
        </p:spPr>
      </p:sp>
      <p:sp>
        <p:nvSpPr>
          <p:cNvPr id="325" name="Shape 115">
            <a:extLst>
              <a:ext uri="{FF2B5EF4-FFF2-40B4-BE49-F238E27FC236}">
                <a16:creationId xmlns:a16="http://schemas.microsoft.com/office/drawing/2014/main" id="{3102648A-DD5A-44D6-DE27-02CA74DEBD07}"/>
              </a:ext>
            </a:extLst>
          </p:cNvPr>
          <p:cNvSpPr/>
          <p:nvPr/>
        </p:nvSpPr>
        <p:spPr>
          <a:xfrm>
            <a:off x="1920240" y="5458968"/>
            <a:ext cx="9144" cy="530352"/>
          </a:xfrm>
          <a:prstGeom prst="rect">
            <a:avLst/>
          </a:prstGeom>
          <a:solidFill>
            <a:srgbClr val="DDE6F0"/>
          </a:solidFill>
          <a:ln w="12700">
            <a:solidFill>
              <a:srgbClr val="DDE6F0"/>
            </a:solidFill>
            <a:prstDash val="solid"/>
          </a:ln>
        </p:spPr>
      </p:sp>
      <p:sp>
        <p:nvSpPr>
          <p:cNvPr id="327" name="Shape 117">
            <a:extLst>
              <a:ext uri="{FF2B5EF4-FFF2-40B4-BE49-F238E27FC236}">
                <a16:creationId xmlns:a16="http://schemas.microsoft.com/office/drawing/2014/main" id="{4FC14338-3190-289B-6FB2-F91C7285A2A0}"/>
              </a:ext>
            </a:extLst>
          </p:cNvPr>
          <p:cNvSpPr/>
          <p:nvPr/>
        </p:nvSpPr>
        <p:spPr>
          <a:xfrm>
            <a:off x="7339666" y="5458968"/>
            <a:ext cx="9144" cy="530352"/>
          </a:xfrm>
          <a:prstGeom prst="rect">
            <a:avLst/>
          </a:prstGeom>
          <a:solidFill>
            <a:srgbClr val="DDE6F0"/>
          </a:solidFill>
          <a:ln w="12700">
            <a:solidFill>
              <a:srgbClr val="DDE6F0"/>
            </a:solidFill>
            <a:prstDash val="solid"/>
          </a:ln>
        </p:spPr>
      </p:sp>
      <p:sp>
        <p:nvSpPr>
          <p:cNvPr id="329" name="Text 118">
            <a:extLst>
              <a:ext uri="{FF2B5EF4-FFF2-40B4-BE49-F238E27FC236}">
                <a16:creationId xmlns:a16="http://schemas.microsoft.com/office/drawing/2014/main" id="{27EA5A26-6F5F-3920-7D03-330F2259C694}"/>
              </a:ext>
            </a:extLst>
          </p:cNvPr>
          <p:cNvSpPr/>
          <p:nvPr/>
        </p:nvSpPr>
        <p:spPr>
          <a:xfrm>
            <a:off x="429768" y="5440680"/>
            <a:ext cx="1444752" cy="274320"/>
          </a:xfrm>
          <a:prstGeom prst="rect">
            <a:avLst/>
          </a:prstGeom>
          <a:noFill/>
          <a:ln/>
        </p:spPr>
        <p:txBody>
          <a:bodyPr wrap="square" lIns="0" tIns="0" rIns="0" bIns="0" rtlCol="0" anchor="ctr"/>
          <a:lstStyle/>
          <a:p>
            <a:pPr marL="0" indent="0">
              <a:buNone/>
            </a:pPr>
            <a:r>
              <a:rPr lang="en-US" sz="1200" b="1">
                <a:solidFill>
                  <a:srgbClr val="607D8B"/>
                </a:solidFill>
                <a:latin typeface="Calibri" pitchFamily="34" charset="0"/>
                <a:ea typeface="Calibri" pitchFamily="34" charset="-122"/>
                <a:cs typeface="Calibri" pitchFamily="34" charset="-120"/>
              </a:rPr>
              <a:t>Grok</a:t>
            </a:r>
            <a:endParaRPr lang="en-US" sz="1200"/>
          </a:p>
        </p:txBody>
      </p:sp>
      <p:sp>
        <p:nvSpPr>
          <p:cNvPr id="331" name="Text 119">
            <a:extLst>
              <a:ext uri="{FF2B5EF4-FFF2-40B4-BE49-F238E27FC236}">
                <a16:creationId xmlns:a16="http://schemas.microsoft.com/office/drawing/2014/main" id="{6D24C946-49DB-7B33-6E32-D9A78BF5A159}"/>
              </a:ext>
            </a:extLst>
          </p:cNvPr>
          <p:cNvSpPr/>
          <p:nvPr/>
        </p:nvSpPr>
        <p:spPr>
          <a:xfrm>
            <a:off x="429768" y="5742432"/>
            <a:ext cx="1444752" cy="201168"/>
          </a:xfrm>
          <a:prstGeom prst="rect">
            <a:avLst/>
          </a:prstGeom>
          <a:noFill/>
          <a:ln/>
        </p:spPr>
        <p:txBody>
          <a:bodyPr wrap="square" lIns="0" tIns="0" rIns="0" bIns="0" rtlCol="0" anchor="ctr"/>
          <a:lstStyle/>
          <a:p>
            <a:pPr marL="0" indent="0">
              <a:buNone/>
            </a:pPr>
            <a:r>
              <a:rPr lang="en-US" sz="900" i="1">
                <a:solidFill>
                  <a:srgbClr val="90A4AE"/>
                </a:solidFill>
                <a:latin typeface="Calibri" pitchFamily="34" charset="0"/>
                <a:ea typeface="Calibri" pitchFamily="34" charset="-122"/>
                <a:cs typeface="Calibri" pitchFamily="34" charset="-120"/>
              </a:rPr>
              <a:t>xAI</a:t>
            </a:r>
            <a:endParaRPr lang="en-US" sz="900"/>
          </a:p>
        </p:txBody>
      </p:sp>
      <p:sp>
        <p:nvSpPr>
          <p:cNvPr id="333" name="Shape 126">
            <a:extLst>
              <a:ext uri="{FF2B5EF4-FFF2-40B4-BE49-F238E27FC236}">
                <a16:creationId xmlns:a16="http://schemas.microsoft.com/office/drawing/2014/main" id="{3417D892-D5D3-168B-F822-EDDDFA96300A}"/>
              </a:ext>
            </a:extLst>
          </p:cNvPr>
          <p:cNvSpPr/>
          <p:nvPr/>
        </p:nvSpPr>
        <p:spPr>
          <a:xfrm>
            <a:off x="3212515" y="5478992"/>
            <a:ext cx="74305" cy="64008"/>
          </a:xfrm>
          <a:prstGeom prst="ellipse">
            <a:avLst/>
          </a:prstGeom>
          <a:solidFill>
            <a:srgbClr val="90A4AE"/>
          </a:solidFill>
          <a:ln w="12700">
            <a:solidFill>
              <a:srgbClr val="90A4AE"/>
            </a:solidFill>
            <a:prstDash val="solid"/>
          </a:ln>
        </p:spPr>
      </p:sp>
      <p:sp>
        <p:nvSpPr>
          <p:cNvPr id="335" name="Shape 128">
            <a:extLst>
              <a:ext uri="{FF2B5EF4-FFF2-40B4-BE49-F238E27FC236}">
                <a16:creationId xmlns:a16="http://schemas.microsoft.com/office/drawing/2014/main" id="{A7A66189-7E81-86AA-BAE8-96C2ECAF585C}"/>
              </a:ext>
            </a:extLst>
          </p:cNvPr>
          <p:cNvSpPr/>
          <p:nvPr/>
        </p:nvSpPr>
        <p:spPr>
          <a:xfrm>
            <a:off x="3212515" y="5708745"/>
            <a:ext cx="74305" cy="53711"/>
          </a:xfrm>
          <a:prstGeom prst="ellipse">
            <a:avLst/>
          </a:prstGeom>
          <a:solidFill>
            <a:srgbClr val="90A4AE"/>
          </a:solidFill>
          <a:ln w="12700">
            <a:solidFill>
              <a:srgbClr val="90A4AE"/>
            </a:solidFill>
            <a:prstDash val="solid"/>
          </a:ln>
        </p:spPr>
      </p:sp>
      <p:sp>
        <p:nvSpPr>
          <p:cNvPr id="337" name="Shape 130">
            <a:extLst>
              <a:ext uri="{FF2B5EF4-FFF2-40B4-BE49-F238E27FC236}">
                <a16:creationId xmlns:a16="http://schemas.microsoft.com/office/drawing/2014/main" id="{17B65516-89D4-D96A-D117-DEBF1D85F6CD}"/>
              </a:ext>
            </a:extLst>
          </p:cNvPr>
          <p:cNvSpPr/>
          <p:nvPr/>
        </p:nvSpPr>
        <p:spPr>
          <a:xfrm>
            <a:off x="3212515" y="5917904"/>
            <a:ext cx="74305" cy="64008"/>
          </a:xfrm>
          <a:prstGeom prst="ellipse">
            <a:avLst/>
          </a:prstGeom>
          <a:solidFill>
            <a:srgbClr val="90A4AE"/>
          </a:solidFill>
          <a:ln w="12700">
            <a:solidFill>
              <a:srgbClr val="90A4AE"/>
            </a:solidFill>
            <a:prstDash val="solid"/>
          </a:ln>
        </p:spPr>
      </p:sp>
      <p:sp>
        <p:nvSpPr>
          <p:cNvPr id="339" name="Text 132">
            <a:extLst>
              <a:ext uri="{FF2B5EF4-FFF2-40B4-BE49-F238E27FC236}">
                <a16:creationId xmlns:a16="http://schemas.microsoft.com/office/drawing/2014/main" id="{5374EE7A-3F9F-56B8-E864-9C526F642CD3}"/>
              </a:ext>
            </a:extLst>
          </p:cNvPr>
          <p:cNvSpPr/>
          <p:nvPr/>
        </p:nvSpPr>
        <p:spPr>
          <a:xfrm>
            <a:off x="8155295" y="5510454"/>
            <a:ext cx="2487168" cy="548640"/>
          </a:xfrm>
          <a:prstGeom prst="rect">
            <a:avLst/>
          </a:prstGeom>
          <a:noFill/>
          <a:ln/>
        </p:spPr>
        <p:txBody>
          <a:bodyPr wrap="square" lIns="0" tIns="0" rIns="0" bIns="0" rtlCol="0" anchor="ctr"/>
          <a:lstStyle/>
          <a:p>
            <a:pPr marL="0" indent="0">
              <a:lnSpc>
                <a:spcPct val="135000"/>
              </a:lnSpc>
              <a:buNone/>
            </a:pPr>
            <a:r>
              <a:rPr lang="en-US" sz="900" i="1">
                <a:solidFill>
                  <a:srgbClr val="546E7A"/>
                </a:solidFill>
                <a:latin typeface="Calibri" pitchFamily="34" charset="0"/>
                <a:ea typeface="Calibri" pitchFamily="34" charset="-122"/>
                <a:cs typeface="Calibri" pitchFamily="34" charset="-120"/>
              </a:rPr>
              <a:t>Enterprise compliance, sensitive data, reproducible analysis</a:t>
            </a:r>
            <a:endParaRPr lang="en-US" sz="900"/>
          </a:p>
        </p:txBody>
      </p:sp>
      <p:sp>
        <p:nvSpPr>
          <p:cNvPr id="341" name="Shape 133">
            <a:extLst>
              <a:ext uri="{FF2B5EF4-FFF2-40B4-BE49-F238E27FC236}">
                <a16:creationId xmlns:a16="http://schemas.microsoft.com/office/drawing/2014/main" id="{E0E47ABD-696B-67C6-8783-F09DB32A21DA}"/>
              </a:ext>
            </a:extLst>
          </p:cNvPr>
          <p:cNvSpPr/>
          <p:nvPr/>
        </p:nvSpPr>
        <p:spPr>
          <a:xfrm>
            <a:off x="320040" y="6172200"/>
            <a:ext cx="11551615" cy="256032"/>
          </a:xfrm>
          <a:prstGeom prst="rect">
            <a:avLst/>
          </a:prstGeom>
          <a:solidFill>
            <a:srgbClr val="F0F6FF"/>
          </a:solidFill>
          <a:ln w="12700">
            <a:solidFill>
              <a:srgbClr val="DDE6F0"/>
            </a:solidFill>
            <a:prstDash val="solid"/>
          </a:ln>
        </p:spPr>
      </p:sp>
      <p:sp>
        <p:nvSpPr>
          <p:cNvPr id="343" name="Text 134">
            <a:extLst>
              <a:ext uri="{FF2B5EF4-FFF2-40B4-BE49-F238E27FC236}">
                <a16:creationId xmlns:a16="http://schemas.microsoft.com/office/drawing/2014/main" id="{230AC2D5-B451-115B-B444-582B04CA14E0}"/>
              </a:ext>
            </a:extLst>
          </p:cNvPr>
          <p:cNvSpPr/>
          <p:nvPr/>
        </p:nvSpPr>
        <p:spPr>
          <a:xfrm>
            <a:off x="475488" y="6172200"/>
            <a:ext cx="11277295" cy="256032"/>
          </a:xfrm>
          <a:prstGeom prst="rect">
            <a:avLst/>
          </a:prstGeom>
          <a:noFill/>
          <a:ln/>
        </p:spPr>
        <p:txBody>
          <a:bodyPr wrap="square" lIns="0" tIns="0" rIns="0" bIns="0" rtlCol="0" anchor="ctr"/>
          <a:lstStyle/>
          <a:p>
            <a:pPr marL="0" indent="0">
              <a:buNone/>
            </a:pPr>
            <a:r>
              <a:rPr lang="en-US" sz="900" i="1">
                <a:solidFill>
                  <a:srgbClr val="546E7A"/>
                </a:solidFill>
                <a:latin typeface="Calibri" pitchFamily="34" charset="0"/>
                <a:ea typeface="Calibri" pitchFamily="34" charset="-122"/>
                <a:cs typeface="Calibri" pitchFamily="34" charset="-120"/>
              </a:rPr>
              <a:t>* Pricing as of 2025 — verify on vendor websites. Most tools offer free tiers suitable for exploration. Enterprise pricing varies by seat count and data agreements.</a:t>
            </a:r>
            <a:endParaRPr lang="en-US" sz="900"/>
          </a:p>
        </p:txBody>
      </p:sp>
      <p:sp>
        <p:nvSpPr>
          <p:cNvPr id="345" name="Text 27">
            <a:extLst>
              <a:ext uri="{FF2B5EF4-FFF2-40B4-BE49-F238E27FC236}">
                <a16:creationId xmlns:a16="http://schemas.microsoft.com/office/drawing/2014/main" id="{18B262D4-FD26-2087-88E4-8C491A6D7C2D}"/>
              </a:ext>
            </a:extLst>
          </p:cNvPr>
          <p:cNvSpPr/>
          <p:nvPr/>
        </p:nvSpPr>
        <p:spPr>
          <a:xfrm>
            <a:off x="3340531" y="1651115"/>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Long-document analysis, legal &amp; compliance review</a:t>
            </a:r>
            <a:endParaRPr lang="en-US" sz="1050"/>
          </a:p>
        </p:txBody>
      </p:sp>
      <p:sp>
        <p:nvSpPr>
          <p:cNvPr id="347" name="Text 29">
            <a:extLst>
              <a:ext uri="{FF2B5EF4-FFF2-40B4-BE49-F238E27FC236}">
                <a16:creationId xmlns:a16="http://schemas.microsoft.com/office/drawing/2014/main" id="{BE12C1BF-8550-15CF-DA1F-35932913953A}"/>
              </a:ext>
            </a:extLst>
          </p:cNvPr>
          <p:cNvSpPr/>
          <p:nvPr/>
        </p:nvSpPr>
        <p:spPr>
          <a:xfrm>
            <a:off x="3340531" y="1870571"/>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Complex reasoning, code, enterprise agentic workflows</a:t>
            </a:r>
            <a:endParaRPr lang="en-US" sz="1050"/>
          </a:p>
        </p:txBody>
      </p:sp>
      <p:sp>
        <p:nvSpPr>
          <p:cNvPr id="349" name="Text 31">
            <a:extLst>
              <a:ext uri="{FF2B5EF4-FFF2-40B4-BE49-F238E27FC236}">
                <a16:creationId xmlns:a16="http://schemas.microsoft.com/office/drawing/2014/main" id="{D9402859-929B-6562-B5A5-32B7048C6D85}"/>
              </a:ext>
            </a:extLst>
          </p:cNvPr>
          <p:cNvSpPr/>
          <p:nvPr/>
        </p:nvSpPr>
        <p:spPr>
          <a:xfrm>
            <a:off x="3340531" y="2090027"/>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Healthcare data — lowest hallucination rate</a:t>
            </a:r>
            <a:endParaRPr lang="en-US" sz="1050"/>
          </a:p>
        </p:txBody>
      </p:sp>
      <p:sp>
        <p:nvSpPr>
          <p:cNvPr id="351" name="Text 47">
            <a:extLst>
              <a:ext uri="{FF2B5EF4-FFF2-40B4-BE49-F238E27FC236}">
                <a16:creationId xmlns:a16="http://schemas.microsoft.com/office/drawing/2014/main" id="{9296B08A-AFB0-F7E3-D01C-807EF790242F}"/>
              </a:ext>
            </a:extLst>
          </p:cNvPr>
          <p:cNvSpPr/>
          <p:nvPr/>
        </p:nvSpPr>
        <p:spPr>
          <a:xfrm>
            <a:off x="3340531" y="2410067"/>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General writing, brainstorming, drafting</a:t>
            </a:r>
            <a:endParaRPr lang="en-US" sz="1050"/>
          </a:p>
        </p:txBody>
      </p:sp>
      <p:sp>
        <p:nvSpPr>
          <p:cNvPr id="353" name="Text 49">
            <a:extLst>
              <a:ext uri="{FF2B5EF4-FFF2-40B4-BE49-F238E27FC236}">
                <a16:creationId xmlns:a16="http://schemas.microsoft.com/office/drawing/2014/main" id="{A1805F83-CBE4-D2CC-02CA-18F804A73035}"/>
              </a:ext>
            </a:extLst>
          </p:cNvPr>
          <p:cNvSpPr/>
          <p:nvPr/>
        </p:nvSpPr>
        <p:spPr>
          <a:xfrm>
            <a:off x="3340531" y="2629523"/>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Image generation via DALL·E (Plus tier)</a:t>
            </a:r>
            <a:endParaRPr lang="en-US" sz="1050"/>
          </a:p>
        </p:txBody>
      </p:sp>
      <p:sp>
        <p:nvSpPr>
          <p:cNvPr id="355" name="Text 51">
            <a:extLst>
              <a:ext uri="{FF2B5EF4-FFF2-40B4-BE49-F238E27FC236}">
                <a16:creationId xmlns:a16="http://schemas.microsoft.com/office/drawing/2014/main" id="{F6D35DAB-D4C2-CA55-3CCE-7AABD390E10D}"/>
              </a:ext>
            </a:extLst>
          </p:cNvPr>
          <p:cNvSpPr/>
          <p:nvPr/>
        </p:nvSpPr>
        <p:spPr>
          <a:xfrm>
            <a:off x="3340531" y="2848979"/>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Custom GPT Store integrations</a:t>
            </a:r>
            <a:endParaRPr lang="en-US" sz="1050"/>
          </a:p>
        </p:txBody>
      </p:sp>
      <p:sp>
        <p:nvSpPr>
          <p:cNvPr id="357" name="Text 67">
            <a:extLst>
              <a:ext uri="{FF2B5EF4-FFF2-40B4-BE49-F238E27FC236}">
                <a16:creationId xmlns:a16="http://schemas.microsoft.com/office/drawing/2014/main" id="{A578A35C-7FDE-8C04-B2F1-B4DB158D679A}"/>
              </a:ext>
            </a:extLst>
          </p:cNvPr>
          <p:cNvSpPr/>
          <p:nvPr/>
        </p:nvSpPr>
        <p:spPr>
          <a:xfrm>
            <a:off x="3340531" y="3169019"/>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Google Workspace: Docs, Sheets, Gmail, Slides</a:t>
            </a:r>
            <a:endParaRPr lang="en-US" sz="1050"/>
          </a:p>
        </p:txBody>
      </p:sp>
      <p:sp>
        <p:nvSpPr>
          <p:cNvPr id="359" name="Text 69">
            <a:extLst>
              <a:ext uri="{FF2B5EF4-FFF2-40B4-BE49-F238E27FC236}">
                <a16:creationId xmlns:a16="http://schemas.microsoft.com/office/drawing/2014/main" id="{B44E5683-00CB-3E48-0B4C-A23B60D8DD7F}"/>
              </a:ext>
            </a:extLst>
          </p:cNvPr>
          <p:cNvSpPr/>
          <p:nvPr/>
        </p:nvSpPr>
        <p:spPr>
          <a:xfrm>
            <a:off x="3340531" y="3388475"/>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Real-time web search with inline citations</a:t>
            </a:r>
            <a:endParaRPr lang="en-US" sz="1050"/>
          </a:p>
        </p:txBody>
      </p:sp>
      <p:sp>
        <p:nvSpPr>
          <p:cNvPr id="361" name="Text 71">
            <a:extLst>
              <a:ext uri="{FF2B5EF4-FFF2-40B4-BE49-F238E27FC236}">
                <a16:creationId xmlns:a16="http://schemas.microsoft.com/office/drawing/2014/main" id="{79DB6019-E127-9815-5127-5CF92BD52E60}"/>
              </a:ext>
            </a:extLst>
          </p:cNvPr>
          <p:cNvSpPr/>
          <p:nvPr/>
        </p:nvSpPr>
        <p:spPr>
          <a:xfrm>
            <a:off x="3340531" y="3607931"/>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Multimodal tasks leveraging Google data</a:t>
            </a:r>
            <a:endParaRPr lang="en-US" sz="1050"/>
          </a:p>
        </p:txBody>
      </p:sp>
      <p:sp>
        <p:nvSpPr>
          <p:cNvPr id="363" name="Text 87">
            <a:extLst>
              <a:ext uri="{FF2B5EF4-FFF2-40B4-BE49-F238E27FC236}">
                <a16:creationId xmlns:a16="http://schemas.microsoft.com/office/drawing/2014/main" id="{8E87B886-2B25-81BE-118C-09404831DB3B}"/>
              </a:ext>
            </a:extLst>
          </p:cNvPr>
          <p:cNvSpPr/>
          <p:nvPr/>
        </p:nvSpPr>
        <p:spPr>
          <a:xfrm>
            <a:off x="3340531" y="3927971"/>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Real-time research with source citations</a:t>
            </a:r>
            <a:endParaRPr lang="en-US" sz="1050"/>
          </a:p>
        </p:txBody>
      </p:sp>
      <p:sp>
        <p:nvSpPr>
          <p:cNvPr id="365" name="Text 89">
            <a:extLst>
              <a:ext uri="{FF2B5EF4-FFF2-40B4-BE49-F238E27FC236}">
                <a16:creationId xmlns:a16="http://schemas.microsoft.com/office/drawing/2014/main" id="{95530DCB-C2EC-0841-BF8A-87CBFCC53297}"/>
              </a:ext>
            </a:extLst>
          </p:cNvPr>
          <p:cNvSpPr/>
          <p:nvPr/>
        </p:nvSpPr>
        <p:spPr>
          <a:xfrm>
            <a:off x="3340531" y="4147427"/>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Fact-checking, news monitoring, market intel</a:t>
            </a:r>
            <a:endParaRPr lang="en-US" sz="1050"/>
          </a:p>
        </p:txBody>
      </p:sp>
      <p:sp>
        <p:nvSpPr>
          <p:cNvPr id="367" name="Text 91">
            <a:extLst>
              <a:ext uri="{FF2B5EF4-FFF2-40B4-BE49-F238E27FC236}">
                <a16:creationId xmlns:a16="http://schemas.microsoft.com/office/drawing/2014/main" id="{1530E7DB-7322-027A-DA6F-6FDD4C10867A}"/>
              </a:ext>
            </a:extLst>
          </p:cNvPr>
          <p:cNvSpPr/>
          <p:nvPr/>
        </p:nvSpPr>
        <p:spPr>
          <a:xfrm>
            <a:off x="3340531" y="4366883"/>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Quick competitive or industry intelligence</a:t>
            </a:r>
            <a:endParaRPr lang="en-US" sz="1050"/>
          </a:p>
        </p:txBody>
      </p:sp>
      <p:sp>
        <p:nvSpPr>
          <p:cNvPr id="369" name="Text 107">
            <a:extLst>
              <a:ext uri="{FF2B5EF4-FFF2-40B4-BE49-F238E27FC236}">
                <a16:creationId xmlns:a16="http://schemas.microsoft.com/office/drawing/2014/main" id="{78AD5D1E-C18A-B0D0-20E1-50D26639051E}"/>
              </a:ext>
            </a:extLst>
          </p:cNvPr>
          <p:cNvSpPr/>
          <p:nvPr/>
        </p:nvSpPr>
        <p:spPr>
          <a:xfrm>
            <a:off x="3340531" y="4686923"/>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Office 365: Word, Excel, PowerPoint, Teams</a:t>
            </a:r>
            <a:endParaRPr lang="en-US" sz="1050"/>
          </a:p>
        </p:txBody>
      </p:sp>
      <p:sp>
        <p:nvSpPr>
          <p:cNvPr id="371" name="Text 109">
            <a:extLst>
              <a:ext uri="{FF2B5EF4-FFF2-40B4-BE49-F238E27FC236}">
                <a16:creationId xmlns:a16="http://schemas.microsoft.com/office/drawing/2014/main" id="{8688EA76-B01E-21B1-D31D-DDBA5DF8479A}"/>
              </a:ext>
            </a:extLst>
          </p:cNvPr>
          <p:cNvSpPr/>
          <p:nvPr/>
        </p:nvSpPr>
        <p:spPr>
          <a:xfrm>
            <a:off x="3340531" y="4906379"/>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GitHub code completion inside VS Code</a:t>
            </a:r>
            <a:endParaRPr lang="en-US" sz="1050"/>
          </a:p>
        </p:txBody>
      </p:sp>
      <p:sp>
        <p:nvSpPr>
          <p:cNvPr id="373" name="Text 111">
            <a:extLst>
              <a:ext uri="{FF2B5EF4-FFF2-40B4-BE49-F238E27FC236}">
                <a16:creationId xmlns:a16="http://schemas.microsoft.com/office/drawing/2014/main" id="{B05A551F-7E13-0560-42D2-E2807D0EE889}"/>
              </a:ext>
            </a:extLst>
          </p:cNvPr>
          <p:cNvSpPr/>
          <p:nvPr/>
        </p:nvSpPr>
        <p:spPr>
          <a:xfrm>
            <a:off x="3340531" y="5125835"/>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Enterprise M365 data summarisation &amp; search</a:t>
            </a:r>
            <a:endParaRPr lang="en-US" sz="1050"/>
          </a:p>
        </p:txBody>
      </p:sp>
      <p:sp>
        <p:nvSpPr>
          <p:cNvPr id="375" name="Text 127">
            <a:extLst>
              <a:ext uri="{FF2B5EF4-FFF2-40B4-BE49-F238E27FC236}">
                <a16:creationId xmlns:a16="http://schemas.microsoft.com/office/drawing/2014/main" id="{6356F403-A35D-4B04-9932-7F4D15481D81}"/>
              </a:ext>
            </a:extLst>
          </p:cNvPr>
          <p:cNvSpPr/>
          <p:nvPr/>
        </p:nvSpPr>
        <p:spPr>
          <a:xfrm>
            <a:off x="3340531" y="5445875"/>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Real-time X / Twitter data and trending topics</a:t>
            </a:r>
            <a:endParaRPr lang="en-US" sz="1050"/>
          </a:p>
        </p:txBody>
      </p:sp>
      <p:sp>
        <p:nvSpPr>
          <p:cNvPr id="377" name="Text 129">
            <a:extLst>
              <a:ext uri="{FF2B5EF4-FFF2-40B4-BE49-F238E27FC236}">
                <a16:creationId xmlns:a16="http://schemas.microsoft.com/office/drawing/2014/main" id="{1CA2BB36-C91C-3935-F93B-4CFE90881E35}"/>
              </a:ext>
            </a:extLst>
          </p:cNvPr>
          <p:cNvSpPr/>
          <p:nvPr/>
        </p:nvSpPr>
        <p:spPr>
          <a:xfrm>
            <a:off x="3340531" y="5665331"/>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Casual creative writing with fewer restrictions</a:t>
            </a:r>
            <a:endParaRPr lang="en-US" sz="1050"/>
          </a:p>
        </p:txBody>
      </p:sp>
      <p:sp>
        <p:nvSpPr>
          <p:cNvPr id="379" name="Text 131">
            <a:extLst>
              <a:ext uri="{FF2B5EF4-FFF2-40B4-BE49-F238E27FC236}">
                <a16:creationId xmlns:a16="http://schemas.microsoft.com/office/drawing/2014/main" id="{88F25DE6-E335-3568-4D45-A7FF8C2DC9E4}"/>
              </a:ext>
            </a:extLst>
          </p:cNvPr>
          <p:cNvSpPr/>
          <p:nvPr/>
        </p:nvSpPr>
        <p:spPr>
          <a:xfrm>
            <a:off x="3340531" y="5884787"/>
            <a:ext cx="5708080" cy="170277"/>
          </a:xfrm>
          <a:prstGeom prst="rect">
            <a:avLst/>
          </a:prstGeom>
          <a:noFill/>
          <a:ln/>
        </p:spPr>
        <p:txBody>
          <a:bodyPr wrap="square"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50">
                <a:solidFill>
                  <a:srgbClr val="2C3E50"/>
                </a:solidFill>
                <a:latin typeface="Calibri" pitchFamily="34" charset="0"/>
                <a:ea typeface="Calibri" pitchFamily="34" charset="-122"/>
                <a:cs typeface="Calibri" pitchFamily="34" charset="-120"/>
              </a:rPr>
              <a:t>Current events analysis from social media</a:t>
            </a:r>
            <a:endParaRPr lang="en-US" sz="1050"/>
          </a:p>
        </p:txBody>
      </p:sp>
      <p:sp>
        <p:nvSpPr>
          <p:cNvPr id="417" name="TextBox 416">
            <a:extLst>
              <a:ext uri="{FF2B5EF4-FFF2-40B4-BE49-F238E27FC236}">
                <a16:creationId xmlns:a16="http://schemas.microsoft.com/office/drawing/2014/main" id="{A4B7D272-1E35-3851-527D-C9030159162C}"/>
              </a:ext>
            </a:extLst>
          </p:cNvPr>
          <p:cNvSpPr txBox="1"/>
          <p:nvPr/>
        </p:nvSpPr>
        <p:spPr>
          <a:xfrm>
            <a:off x="364436" y="690217"/>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0" i="1" u="none" strike="noStrike" baseline="0">
                <a:solidFill>
                  <a:schemeClr val="tx2">
                    <a:lumMod val="76000"/>
                    <a:lumOff val="24000"/>
                  </a:schemeClr>
                </a:solidFill>
                <a:latin typeface="Aptos"/>
              </a:rPr>
              <a:t>Choosing the right AI tool for the right task</a:t>
            </a:r>
            <a:r>
              <a:rPr sz="1200" b="0" i="0">
                <a:solidFill>
                  <a:schemeClr val="tx2">
                    <a:lumMod val="76000"/>
                    <a:lumOff val="24000"/>
                  </a:schemeClr>
                </a:solidFill>
                <a:latin typeface="Aptos"/>
                <a:ea typeface="Calibri"/>
                <a:cs typeface="Calibri"/>
              </a:rPr>
              <a:t>​</a:t>
            </a:r>
            <a:endParaRPr lang="en-US" sz="1200">
              <a:solidFill>
                <a:schemeClr val="tx2">
                  <a:lumMod val="76000"/>
                  <a:lumOff val="24000"/>
                </a:schemeClr>
              </a:solidFill>
              <a:latin typeface="Aptos"/>
            </a:endParaRPr>
          </a:p>
          <a:p>
            <a:pPr algn="ctr"/>
            <a:endParaRPr lang="en-US" sz="2400">
              <a:solidFill>
                <a:schemeClr val="tx2">
                  <a:lumMod val="76000"/>
                  <a:lumOff val="24000"/>
                </a:schemeClr>
              </a:solidFill>
            </a:endParaRPr>
          </a:p>
        </p:txBody>
      </p:sp>
    </p:spTree>
    <p:extLst>
      <p:ext uri="{BB962C8B-B14F-4D97-AF65-F5344CB8AC3E}">
        <p14:creationId xmlns:p14="http://schemas.microsoft.com/office/powerpoint/2010/main" val="4241229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512A0-5225-30A4-E503-9DEFA133F7CF}"/>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50740523-FE9F-1EA9-4AA5-871D5FD70DDB}"/>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2AA5715C-9501-7F30-248D-EC6F4C447B2C}"/>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B647756A-5D3C-A7ED-4A55-5493E98F873A}"/>
              </a:ext>
            </a:extLst>
          </p:cNvPr>
          <p:cNvSpPr/>
          <p:nvPr/>
        </p:nvSpPr>
        <p:spPr>
          <a:xfrm>
            <a:off x="313752" y="266276"/>
            <a:ext cx="4874307" cy="880021"/>
          </a:xfrm>
          <a:prstGeom prst="rect">
            <a:avLst/>
          </a:prstGeom>
          <a:noFill/>
          <a:ln/>
        </p:spPr>
        <p:txBody>
          <a:bodyPr wrap="square"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04000"/>
              </a:lnSpc>
              <a:buNone/>
            </a:pPr>
            <a:r>
              <a:rPr lang="en-US" sz="2800" b="1">
                <a:solidFill>
                  <a:schemeClr val="tx2">
                    <a:lumMod val="76000"/>
                    <a:lumOff val="24000"/>
                  </a:schemeClr>
                </a:solidFill>
                <a:latin typeface="Aptos"/>
                <a:ea typeface="Source Serif 4 SemiBold" pitchFamily="34" charset="-122"/>
                <a:cs typeface="Source Serif 4 SemiBold" pitchFamily="34" charset="-120"/>
              </a:rPr>
              <a:t>Why Claude for Analytics?</a:t>
            </a:r>
            <a:endParaRPr lang="en-US" sz="2800" b="1">
              <a:solidFill>
                <a:schemeClr val="tx2">
                  <a:lumMod val="76000"/>
                  <a:lumOff val="24000"/>
                </a:schemeClr>
              </a:solidFill>
              <a:latin typeface="Aptos"/>
            </a:endParaRPr>
          </a:p>
        </p:txBody>
      </p:sp>
      <p:sp>
        <p:nvSpPr>
          <p:cNvPr id="6" name="Text 3">
            <a:extLst>
              <a:ext uri="{FF2B5EF4-FFF2-40B4-BE49-F238E27FC236}">
                <a16:creationId xmlns:a16="http://schemas.microsoft.com/office/drawing/2014/main" id="{5661E474-F137-C0E1-DC0D-EC7B91E897D7}"/>
              </a:ext>
            </a:extLst>
          </p:cNvPr>
          <p:cNvSpPr/>
          <p:nvPr/>
        </p:nvSpPr>
        <p:spPr>
          <a:xfrm>
            <a:off x="308730" y="702031"/>
            <a:ext cx="9269611" cy="445650"/>
          </a:xfrm>
          <a:prstGeom prst="rect">
            <a:avLst/>
          </a:prstGeom>
          <a:noFill/>
          <a:ln/>
        </p:spPr>
        <p:txBody>
          <a:bodyPr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33000"/>
              </a:lnSpc>
              <a:buNone/>
            </a:pPr>
            <a:r>
              <a:rPr lang="en-US" sz="1200" i="1">
                <a:solidFill>
                  <a:srgbClr val="153D64"/>
                </a:solidFill>
                <a:latin typeface="Source Sans 3"/>
                <a:ea typeface="Source Sans 3" pitchFamily="34" charset="-122"/>
                <a:cs typeface="Source Sans 3" pitchFamily="34" charset="-120"/>
              </a:rPr>
              <a:t>Claude stands out for business analysis due to three core strengths that directly address analyst pain points.</a:t>
            </a:r>
            <a:endParaRPr lang="en-US" sz="1200" i="1">
              <a:solidFill>
                <a:srgbClr val="153D64"/>
              </a:solidFill>
              <a:latin typeface="Aptos"/>
            </a:endParaRPr>
          </a:p>
        </p:txBody>
      </p:sp>
      <p:sp>
        <p:nvSpPr>
          <p:cNvPr id="8" name="Shape 8">
            <a:extLst>
              <a:ext uri="{FF2B5EF4-FFF2-40B4-BE49-F238E27FC236}">
                <a16:creationId xmlns:a16="http://schemas.microsoft.com/office/drawing/2014/main" id="{E3266661-5DE8-61B6-B80C-075A3393EC91}"/>
              </a:ext>
            </a:extLst>
          </p:cNvPr>
          <p:cNvSpPr/>
          <p:nvPr/>
        </p:nvSpPr>
        <p:spPr>
          <a:xfrm>
            <a:off x="288456" y="1133503"/>
            <a:ext cx="3749040" cy="4800600"/>
          </a:xfrm>
          <a:prstGeom prst="roundRect">
            <a:avLst>
              <a:gd name="adj" fmla="val 2439"/>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10" name="Shape 9">
            <a:extLst>
              <a:ext uri="{FF2B5EF4-FFF2-40B4-BE49-F238E27FC236}">
                <a16:creationId xmlns:a16="http://schemas.microsoft.com/office/drawing/2014/main" id="{A121B64C-3866-A61A-46BD-C1717968AEAC}"/>
              </a:ext>
            </a:extLst>
          </p:cNvPr>
          <p:cNvSpPr/>
          <p:nvPr/>
        </p:nvSpPr>
        <p:spPr>
          <a:xfrm>
            <a:off x="288456" y="1133503"/>
            <a:ext cx="3749040" cy="457200"/>
          </a:xfrm>
          <a:prstGeom prst="roundRect">
            <a:avLst>
              <a:gd name="adj" fmla="val 20000"/>
            </a:avLst>
          </a:prstGeom>
          <a:solidFill>
            <a:srgbClr val="1565C0"/>
          </a:solidFill>
          <a:ln w="12700">
            <a:solidFill>
              <a:srgbClr val="1565C0"/>
            </a:solidFill>
            <a:prstDash val="solid"/>
          </a:ln>
        </p:spPr>
      </p:sp>
      <p:sp>
        <p:nvSpPr>
          <p:cNvPr id="12" name="Shape 10">
            <a:extLst>
              <a:ext uri="{FF2B5EF4-FFF2-40B4-BE49-F238E27FC236}">
                <a16:creationId xmlns:a16="http://schemas.microsoft.com/office/drawing/2014/main" id="{F57D3C17-15DD-2562-F313-E1DB1DB53B99}"/>
              </a:ext>
            </a:extLst>
          </p:cNvPr>
          <p:cNvSpPr/>
          <p:nvPr/>
        </p:nvSpPr>
        <p:spPr>
          <a:xfrm>
            <a:off x="288456" y="1179223"/>
            <a:ext cx="457200" cy="411480"/>
          </a:xfrm>
          <a:prstGeom prst="rect">
            <a:avLst/>
          </a:prstGeom>
          <a:solidFill>
            <a:srgbClr val="1565C0"/>
          </a:solidFill>
          <a:ln w="12700">
            <a:solidFill>
              <a:srgbClr val="1565C0"/>
            </a:solidFill>
            <a:prstDash val="solid"/>
          </a:ln>
        </p:spPr>
      </p:sp>
      <p:sp>
        <p:nvSpPr>
          <p:cNvPr id="14" name="Text 11">
            <a:extLst>
              <a:ext uri="{FF2B5EF4-FFF2-40B4-BE49-F238E27FC236}">
                <a16:creationId xmlns:a16="http://schemas.microsoft.com/office/drawing/2014/main" id="{AC3DA438-47E3-6265-01E8-1D0EE2E5B5D5}"/>
              </a:ext>
            </a:extLst>
          </p:cNvPr>
          <p:cNvSpPr/>
          <p:nvPr/>
        </p:nvSpPr>
        <p:spPr>
          <a:xfrm>
            <a:off x="451899" y="1154927"/>
            <a:ext cx="45720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01</a:t>
            </a:r>
            <a:endParaRPr lang="en-US" sz="1300"/>
          </a:p>
        </p:txBody>
      </p:sp>
      <p:sp>
        <p:nvSpPr>
          <p:cNvPr id="16" name="Text 12">
            <a:extLst>
              <a:ext uri="{FF2B5EF4-FFF2-40B4-BE49-F238E27FC236}">
                <a16:creationId xmlns:a16="http://schemas.microsoft.com/office/drawing/2014/main" id="{114B1AFC-567F-995D-73C8-6219F9155D00}"/>
              </a:ext>
            </a:extLst>
          </p:cNvPr>
          <p:cNvSpPr/>
          <p:nvPr/>
        </p:nvSpPr>
        <p:spPr>
          <a:xfrm>
            <a:off x="837096" y="1188367"/>
            <a:ext cx="3090672" cy="347472"/>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  Advanced Reasoning</a:t>
            </a:r>
            <a:endParaRPr lang="en-US" sz="1300"/>
          </a:p>
        </p:txBody>
      </p:sp>
      <p:sp>
        <p:nvSpPr>
          <p:cNvPr id="18" name="Text 13">
            <a:extLst>
              <a:ext uri="{FF2B5EF4-FFF2-40B4-BE49-F238E27FC236}">
                <a16:creationId xmlns:a16="http://schemas.microsoft.com/office/drawing/2014/main" id="{D7C9C5A3-228B-0412-6524-BFB3522EB80D}"/>
              </a:ext>
            </a:extLst>
          </p:cNvPr>
          <p:cNvSpPr/>
          <p:nvPr/>
        </p:nvSpPr>
        <p:spPr>
          <a:xfrm>
            <a:off x="453048" y="1700431"/>
            <a:ext cx="3438144" cy="2395728"/>
          </a:xfrm>
          <a:prstGeom prst="rect">
            <a:avLst/>
          </a:prstGeom>
          <a:noFill/>
          <a:ln/>
        </p:spPr>
        <p:txBody>
          <a:bodyPr wrap="square" lIns="0" tIns="0" rIns="0" bIns="0" rtlCol="0" anchor="ctr"/>
          <a:lstStyle/>
          <a:p>
            <a:pPr marL="0" indent="0">
              <a:lnSpc>
                <a:spcPct val="145000"/>
              </a:lnSpc>
              <a:buNone/>
            </a:pPr>
            <a:r>
              <a:rPr lang="en-US" sz="1200">
                <a:solidFill>
                  <a:srgbClr val="1A2B4C"/>
                </a:solidFill>
                <a:latin typeface="Calibri"/>
                <a:ea typeface="Calibri"/>
                <a:cs typeface="Calibri"/>
              </a:rPr>
              <a:t>Superior capability in identifying non-obvious patterns across complex, multi-variable datasets. Goes beyond surface correlations to surface the 'why' behind the numbers.</a:t>
            </a:r>
            <a:endParaRPr lang="en-US" sz="1200">
              <a:latin typeface="Calibri"/>
              <a:ea typeface="Calibri"/>
              <a:cs typeface="Calibri"/>
            </a:endParaRPr>
          </a:p>
        </p:txBody>
      </p:sp>
      <p:sp>
        <p:nvSpPr>
          <p:cNvPr id="20" name="Shape 14">
            <a:extLst>
              <a:ext uri="{FF2B5EF4-FFF2-40B4-BE49-F238E27FC236}">
                <a16:creationId xmlns:a16="http://schemas.microsoft.com/office/drawing/2014/main" id="{585FF509-F70A-68A1-384E-CA70D5145085}"/>
              </a:ext>
            </a:extLst>
          </p:cNvPr>
          <p:cNvSpPr/>
          <p:nvPr/>
        </p:nvSpPr>
        <p:spPr>
          <a:xfrm>
            <a:off x="453048" y="4205887"/>
            <a:ext cx="3438144" cy="1572768"/>
          </a:xfrm>
          <a:prstGeom prst="roundRect">
            <a:avLst>
              <a:gd name="adj" fmla="val 4651"/>
            </a:avLst>
          </a:prstGeom>
          <a:solidFill>
            <a:srgbClr val="FFFFFF"/>
          </a:solidFill>
          <a:ln w="12700">
            <a:solidFill>
              <a:srgbClr val="1565C0"/>
            </a:solidFill>
            <a:prstDash val="solid"/>
          </a:ln>
        </p:spPr>
      </p:sp>
      <p:sp>
        <p:nvSpPr>
          <p:cNvPr id="22" name="Shape 15">
            <a:extLst>
              <a:ext uri="{FF2B5EF4-FFF2-40B4-BE49-F238E27FC236}">
                <a16:creationId xmlns:a16="http://schemas.microsoft.com/office/drawing/2014/main" id="{DC4685FD-9489-0AB0-AC51-E58A5A270EFF}"/>
              </a:ext>
            </a:extLst>
          </p:cNvPr>
          <p:cNvSpPr/>
          <p:nvPr/>
        </p:nvSpPr>
        <p:spPr>
          <a:xfrm>
            <a:off x="453048" y="4205887"/>
            <a:ext cx="3438144" cy="54864"/>
          </a:xfrm>
          <a:prstGeom prst="rect">
            <a:avLst/>
          </a:prstGeom>
          <a:solidFill>
            <a:srgbClr val="1565C0"/>
          </a:solidFill>
          <a:ln w="12700">
            <a:solidFill>
              <a:srgbClr val="1565C0"/>
            </a:solidFill>
            <a:prstDash val="solid"/>
          </a:ln>
        </p:spPr>
      </p:sp>
      <p:sp>
        <p:nvSpPr>
          <p:cNvPr id="24" name="Text 16">
            <a:extLst>
              <a:ext uri="{FF2B5EF4-FFF2-40B4-BE49-F238E27FC236}">
                <a16:creationId xmlns:a16="http://schemas.microsoft.com/office/drawing/2014/main" id="{FE373583-9601-FE58-FED1-4A65A7D6BBDF}"/>
              </a:ext>
            </a:extLst>
          </p:cNvPr>
          <p:cNvSpPr/>
          <p:nvPr/>
        </p:nvSpPr>
        <p:spPr>
          <a:xfrm>
            <a:off x="544488" y="4279039"/>
            <a:ext cx="3291840" cy="237744"/>
          </a:xfrm>
          <a:prstGeom prst="rect">
            <a:avLst/>
          </a:prstGeom>
          <a:noFill/>
          <a:ln/>
        </p:spPr>
        <p:txBody>
          <a:bodyPr wrap="square" lIns="0" tIns="0" rIns="0" bIns="0" rtlCol="0" anchor="ctr"/>
          <a:lstStyle/>
          <a:p>
            <a:pPr marL="0" indent="0">
              <a:buNone/>
            </a:pPr>
            <a:r>
              <a:rPr lang="en-US" sz="900" b="1">
                <a:solidFill>
                  <a:srgbClr val="1565C0"/>
                </a:solidFill>
                <a:latin typeface="Calibri" pitchFamily="34" charset="0"/>
                <a:ea typeface="Calibri" pitchFamily="34" charset="-122"/>
                <a:cs typeface="Calibri" pitchFamily="34" charset="-120"/>
              </a:rPr>
              <a:t>Use Cases</a:t>
            </a:r>
            <a:endParaRPr lang="en-US" sz="900"/>
          </a:p>
        </p:txBody>
      </p:sp>
      <p:sp>
        <p:nvSpPr>
          <p:cNvPr id="26" name="Text 17">
            <a:extLst>
              <a:ext uri="{FF2B5EF4-FFF2-40B4-BE49-F238E27FC236}">
                <a16:creationId xmlns:a16="http://schemas.microsoft.com/office/drawing/2014/main" id="{2D0E44EF-BEFA-8154-EEF6-8AD5E86F9DAA}"/>
              </a:ext>
            </a:extLst>
          </p:cNvPr>
          <p:cNvSpPr/>
          <p:nvPr/>
        </p:nvSpPr>
        <p:spPr>
          <a:xfrm>
            <a:off x="544488" y="4535071"/>
            <a:ext cx="3291840" cy="1152144"/>
          </a:xfrm>
          <a:prstGeom prst="rect">
            <a:avLst/>
          </a:prstGeom>
          <a:noFill/>
          <a:ln/>
        </p:spPr>
        <p:txBody>
          <a:bodyPr wrap="square" lIns="0" tIns="0" rIns="0" bIns="0" rtlCol="0" anchor="ctr"/>
          <a:lstStyle/>
          <a:p>
            <a:pPr marL="0" indent="0">
              <a:lnSpc>
                <a:spcPct val="138000"/>
              </a:lnSpc>
              <a:buNone/>
            </a:pPr>
            <a:r>
              <a:rPr lang="en-US" sz="950" i="1">
                <a:solidFill>
                  <a:srgbClr val="546E7A"/>
                </a:solidFill>
                <a:latin typeface="Calibri" pitchFamily="34" charset="0"/>
                <a:ea typeface="Calibri" pitchFamily="34" charset="-122"/>
                <a:cs typeface="Calibri" pitchFamily="34" charset="-120"/>
              </a:rPr>
              <a:t>Ideal for: root-cause analysis, anomaly detection, hypothesis validation across large, messy data.</a:t>
            </a:r>
            <a:endParaRPr lang="en-US" sz="950"/>
          </a:p>
        </p:txBody>
      </p:sp>
      <p:sp>
        <p:nvSpPr>
          <p:cNvPr id="28" name="Shape 18">
            <a:extLst>
              <a:ext uri="{FF2B5EF4-FFF2-40B4-BE49-F238E27FC236}">
                <a16:creationId xmlns:a16="http://schemas.microsoft.com/office/drawing/2014/main" id="{60E93C55-E2D8-C011-D789-2FA3A87E5673}"/>
              </a:ext>
            </a:extLst>
          </p:cNvPr>
          <p:cNvSpPr/>
          <p:nvPr/>
        </p:nvSpPr>
        <p:spPr>
          <a:xfrm>
            <a:off x="4147224" y="1133503"/>
            <a:ext cx="3749040" cy="4800600"/>
          </a:xfrm>
          <a:prstGeom prst="roundRect">
            <a:avLst>
              <a:gd name="adj" fmla="val 2439"/>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30" name="Shape 19">
            <a:extLst>
              <a:ext uri="{FF2B5EF4-FFF2-40B4-BE49-F238E27FC236}">
                <a16:creationId xmlns:a16="http://schemas.microsoft.com/office/drawing/2014/main" id="{E89E43DE-A392-71DF-687D-97DE110CA312}"/>
              </a:ext>
            </a:extLst>
          </p:cNvPr>
          <p:cNvSpPr/>
          <p:nvPr/>
        </p:nvSpPr>
        <p:spPr>
          <a:xfrm>
            <a:off x="4147224" y="1133503"/>
            <a:ext cx="3749040" cy="457200"/>
          </a:xfrm>
          <a:prstGeom prst="roundRect">
            <a:avLst>
              <a:gd name="adj" fmla="val 20000"/>
            </a:avLst>
          </a:prstGeom>
          <a:solidFill>
            <a:srgbClr val="00897B"/>
          </a:solidFill>
          <a:ln w="12700">
            <a:solidFill>
              <a:srgbClr val="00897B"/>
            </a:solidFill>
            <a:prstDash val="solid"/>
          </a:ln>
        </p:spPr>
      </p:sp>
      <p:sp>
        <p:nvSpPr>
          <p:cNvPr id="32" name="Shape 20">
            <a:extLst>
              <a:ext uri="{FF2B5EF4-FFF2-40B4-BE49-F238E27FC236}">
                <a16:creationId xmlns:a16="http://schemas.microsoft.com/office/drawing/2014/main" id="{F51CBF1D-66A6-2375-E90A-32F97C6FC805}"/>
              </a:ext>
            </a:extLst>
          </p:cNvPr>
          <p:cNvSpPr/>
          <p:nvPr/>
        </p:nvSpPr>
        <p:spPr>
          <a:xfrm>
            <a:off x="4147224" y="1179223"/>
            <a:ext cx="457200" cy="411480"/>
          </a:xfrm>
          <a:prstGeom prst="rect">
            <a:avLst/>
          </a:prstGeom>
          <a:solidFill>
            <a:srgbClr val="00897B"/>
          </a:solidFill>
          <a:ln w="12700">
            <a:solidFill>
              <a:srgbClr val="00897B"/>
            </a:solidFill>
            <a:prstDash val="solid"/>
          </a:ln>
        </p:spPr>
      </p:sp>
      <p:sp>
        <p:nvSpPr>
          <p:cNvPr id="34" name="Text 21">
            <a:extLst>
              <a:ext uri="{FF2B5EF4-FFF2-40B4-BE49-F238E27FC236}">
                <a16:creationId xmlns:a16="http://schemas.microsoft.com/office/drawing/2014/main" id="{41C2716F-4076-7773-FE76-CF28AF9FB3CF}"/>
              </a:ext>
            </a:extLst>
          </p:cNvPr>
          <p:cNvSpPr/>
          <p:nvPr/>
        </p:nvSpPr>
        <p:spPr>
          <a:xfrm>
            <a:off x="4310667" y="1154927"/>
            <a:ext cx="45720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02</a:t>
            </a:r>
            <a:endParaRPr lang="en-US" sz="1300"/>
          </a:p>
        </p:txBody>
      </p:sp>
      <p:sp>
        <p:nvSpPr>
          <p:cNvPr id="36" name="Text 22">
            <a:extLst>
              <a:ext uri="{FF2B5EF4-FFF2-40B4-BE49-F238E27FC236}">
                <a16:creationId xmlns:a16="http://schemas.microsoft.com/office/drawing/2014/main" id="{80295142-EB77-E2B0-1C7F-8E373C15AF37}"/>
              </a:ext>
            </a:extLst>
          </p:cNvPr>
          <p:cNvSpPr/>
          <p:nvPr/>
        </p:nvSpPr>
        <p:spPr>
          <a:xfrm>
            <a:off x="4695864" y="1188367"/>
            <a:ext cx="3090672" cy="347472"/>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  Massive Context Window</a:t>
            </a:r>
            <a:endParaRPr lang="en-US" sz="1300"/>
          </a:p>
        </p:txBody>
      </p:sp>
      <p:sp>
        <p:nvSpPr>
          <p:cNvPr id="38" name="Text 23">
            <a:extLst>
              <a:ext uri="{FF2B5EF4-FFF2-40B4-BE49-F238E27FC236}">
                <a16:creationId xmlns:a16="http://schemas.microsoft.com/office/drawing/2014/main" id="{4AC1319B-68F8-07A6-9DAB-AF9EC6FFD943}"/>
              </a:ext>
            </a:extLst>
          </p:cNvPr>
          <p:cNvSpPr/>
          <p:nvPr/>
        </p:nvSpPr>
        <p:spPr>
          <a:xfrm>
            <a:off x="4311816" y="1700431"/>
            <a:ext cx="3438144" cy="2395728"/>
          </a:xfrm>
          <a:prstGeom prst="rect">
            <a:avLst/>
          </a:prstGeom>
          <a:noFill/>
          <a:ln/>
        </p:spPr>
        <p:txBody>
          <a:bodyPr wrap="square" lIns="0" tIns="0" rIns="0" bIns="0" rtlCol="0" anchor="ctr"/>
          <a:lstStyle/>
          <a:p>
            <a:pPr marL="0" indent="0">
              <a:lnSpc>
                <a:spcPct val="145000"/>
              </a:lnSpc>
              <a:buNone/>
            </a:pPr>
            <a:r>
              <a:rPr lang="en-US" sz="1200">
                <a:solidFill>
                  <a:srgbClr val="1A2B4C"/>
                </a:solidFill>
                <a:latin typeface="Calibri"/>
                <a:ea typeface="Calibri"/>
                <a:cs typeface="Calibri"/>
              </a:rPr>
              <a:t>Process entire PDFs, spreadsheets, and reports simultaneously — no chunking, no lost context. Ingest a 200-page analyst report and ask questions about any section instantly.</a:t>
            </a:r>
            <a:endParaRPr lang="en-US" sz="1200">
              <a:latin typeface="Calibri"/>
              <a:ea typeface="Calibri"/>
              <a:cs typeface="Calibri"/>
            </a:endParaRPr>
          </a:p>
        </p:txBody>
      </p:sp>
      <p:sp>
        <p:nvSpPr>
          <p:cNvPr id="40" name="Shape 24">
            <a:extLst>
              <a:ext uri="{FF2B5EF4-FFF2-40B4-BE49-F238E27FC236}">
                <a16:creationId xmlns:a16="http://schemas.microsoft.com/office/drawing/2014/main" id="{F2978BE0-2175-38D7-E816-6F93C412BFD5}"/>
              </a:ext>
            </a:extLst>
          </p:cNvPr>
          <p:cNvSpPr/>
          <p:nvPr/>
        </p:nvSpPr>
        <p:spPr>
          <a:xfrm>
            <a:off x="4311816" y="4205887"/>
            <a:ext cx="3438144" cy="1572768"/>
          </a:xfrm>
          <a:prstGeom prst="roundRect">
            <a:avLst>
              <a:gd name="adj" fmla="val 4651"/>
            </a:avLst>
          </a:prstGeom>
          <a:solidFill>
            <a:srgbClr val="FFFFFF"/>
          </a:solidFill>
          <a:ln w="12700">
            <a:solidFill>
              <a:srgbClr val="00897B"/>
            </a:solidFill>
            <a:prstDash val="solid"/>
          </a:ln>
        </p:spPr>
      </p:sp>
      <p:sp>
        <p:nvSpPr>
          <p:cNvPr id="42" name="Shape 25">
            <a:extLst>
              <a:ext uri="{FF2B5EF4-FFF2-40B4-BE49-F238E27FC236}">
                <a16:creationId xmlns:a16="http://schemas.microsoft.com/office/drawing/2014/main" id="{1772E04B-3AF2-3C81-BC6A-02AEAB95EE2E}"/>
              </a:ext>
            </a:extLst>
          </p:cNvPr>
          <p:cNvSpPr/>
          <p:nvPr/>
        </p:nvSpPr>
        <p:spPr>
          <a:xfrm>
            <a:off x="4311816" y="4205887"/>
            <a:ext cx="3438144" cy="54864"/>
          </a:xfrm>
          <a:prstGeom prst="rect">
            <a:avLst/>
          </a:prstGeom>
          <a:solidFill>
            <a:srgbClr val="00897B"/>
          </a:solidFill>
          <a:ln w="12700">
            <a:solidFill>
              <a:srgbClr val="00897B"/>
            </a:solidFill>
            <a:prstDash val="solid"/>
          </a:ln>
        </p:spPr>
      </p:sp>
      <p:sp>
        <p:nvSpPr>
          <p:cNvPr id="44" name="Text 26">
            <a:extLst>
              <a:ext uri="{FF2B5EF4-FFF2-40B4-BE49-F238E27FC236}">
                <a16:creationId xmlns:a16="http://schemas.microsoft.com/office/drawing/2014/main" id="{5B11A6AD-1C0B-1798-33B6-AF29E71C2FE9}"/>
              </a:ext>
            </a:extLst>
          </p:cNvPr>
          <p:cNvSpPr/>
          <p:nvPr/>
        </p:nvSpPr>
        <p:spPr>
          <a:xfrm>
            <a:off x="4403256" y="4279039"/>
            <a:ext cx="3291840" cy="237744"/>
          </a:xfrm>
          <a:prstGeom prst="rect">
            <a:avLst/>
          </a:prstGeom>
          <a:noFill/>
          <a:ln/>
        </p:spPr>
        <p:txBody>
          <a:bodyPr wrap="square" lIns="0" tIns="0" rIns="0" bIns="0" rtlCol="0" anchor="ctr"/>
          <a:lstStyle/>
          <a:p>
            <a:pPr marL="0" indent="0">
              <a:buNone/>
            </a:pPr>
            <a:r>
              <a:rPr lang="en-US" sz="900" b="1">
                <a:solidFill>
                  <a:srgbClr val="00897B"/>
                </a:solidFill>
                <a:latin typeface="Calibri" pitchFamily="34" charset="0"/>
                <a:ea typeface="Calibri" pitchFamily="34" charset="-122"/>
                <a:cs typeface="Calibri" pitchFamily="34" charset="-120"/>
              </a:rPr>
              <a:t>Use Cases</a:t>
            </a:r>
            <a:endParaRPr lang="en-US" sz="900"/>
          </a:p>
        </p:txBody>
      </p:sp>
      <p:sp>
        <p:nvSpPr>
          <p:cNvPr id="46" name="Text 27">
            <a:extLst>
              <a:ext uri="{FF2B5EF4-FFF2-40B4-BE49-F238E27FC236}">
                <a16:creationId xmlns:a16="http://schemas.microsoft.com/office/drawing/2014/main" id="{F1BB4117-7676-E2FC-BFD0-43CA19D959FC}"/>
              </a:ext>
            </a:extLst>
          </p:cNvPr>
          <p:cNvSpPr/>
          <p:nvPr/>
        </p:nvSpPr>
        <p:spPr>
          <a:xfrm>
            <a:off x="4403256" y="4535071"/>
            <a:ext cx="3291840" cy="1152144"/>
          </a:xfrm>
          <a:prstGeom prst="rect">
            <a:avLst/>
          </a:prstGeom>
          <a:noFill/>
          <a:ln/>
        </p:spPr>
        <p:txBody>
          <a:bodyPr wrap="square" lIns="0" tIns="0" rIns="0" bIns="0" rtlCol="0" anchor="ctr"/>
          <a:lstStyle/>
          <a:p>
            <a:pPr marL="0" indent="0">
              <a:lnSpc>
                <a:spcPct val="138000"/>
              </a:lnSpc>
              <a:buNone/>
            </a:pPr>
            <a:r>
              <a:rPr lang="en-US" sz="950" i="1">
                <a:solidFill>
                  <a:srgbClr val="546E7A"/>
                </a:solidFill>
                <a:latin typeface="Calibri" pitchFamily="34" charset="0"/>
                <a:ea typeface="Calibri" pitchFamily="34" charset="-122"/>
                <a:cs typeface="Calibri" pitchFamily="34" charset="-120"/>
              </a:rPr>
              <a:t>Ideal for: end-to-end document review, cross-referencing multiple data sources in a single prompt.</a:t>
            </a:r>
            <a:endParaRPr lang="en-US" sz="950"/>
          </a:p>
        </p:txBody>
      </p:sp>
      <p:sp>
        <p:nvSpPr>
          <p:cNvPr id="48" name="Shape 28">
            <a:extLst>
              <a:ext uri="{FF2B5EF4-FFF2-40B4-BE49-F238E27FC236}">
                <a16:creationId xmlns:a16="http://schemas.microsoft.com/office/drawing/2014/main" id="{DB021C82-BD2C-BBB3-7A2D-8543993925D4}"/>
              </a:ext>
            </a:extLst>
          </p:cNvPr>
          <p:cNvSpPr/>
          <p:nvPr/>
        </p:nvSpPr>
        <p:spPr>
          <a:xfrm>
            <a:off x="8005992" y="1133503"/>
            <a:ext cx="3749040" cy="4800600"/>
          </a:xfrm>
          <a:prstGeom prst="roundRect">
            <a:avLst>
              <a:gd name="adj" fmla="val 2439"/>
            </a:avLst>
          </a:prstGeom>
          <a:solidFill>
            <a:srgbClr val="EDE7F6"/>
          </a:solidFill>
          <a:ln w="12700">
            <a:solidFill>
              <a:srgbClr val="5E35B1"/>
            </a:solidFill>
            <a:prstDash val="solid"/>
          </a:ln>
          <a:effectLst>
            <a:outerShdw blurRad="101600" dist="25400" dir="8100000" algn="bl" rotWithShape="0">
              <a:srgbClr val="0070CD">
                <a:alpha val="8000"/>
              </a:srgbClr>
            </a:outerShdw>
          </a:effectLst>
        </p:spPr>
      </p:sp>
      <p:sp>
        <p:nvSpPr>
          <p:cNvPr id="50" name="Shape 29">
            <a:extLst>
              <a:ext uri="{FF2B5EF4-FFF2-40B4-BE49-F238E27FC236}">
                <a16:creationId xmlns:a16="http://schemas.microsoft.com/office/drawing/2014/main" id="{809D9F8D-DB9E-A85A-3494-264C04525FBA}"/>
              </a:ext>
            </a:extLst>
          </p:cNvPr>
          <p:cNvSpPr/>
          <p:nvPr/>
        </p:nvSpPr>
        <p:spPr>
          <a:xfrm>
            <a:off x="8005992" y="1133503"/>
            <a:ext cx="3749040" cy="457200"/>
          </a:xfrm>
          <a:prstGeom prst="roundRect">
            <a:avLst>
              <a:gd name="adj" fmla="val 20000"/>
            </a:avLst>
          </a:prstGeom>
          <a:solidFill>
            <a:srgbClr val="5E35B1"/>
          </a:solidFill>
          <a:ln w="12700">
            <a:solidFill>
              <a:srgbClr val="5E35B1"/>
            </a:solidFill>
            <a:prstDash val="solid"/>
          </a:ln>
        </p:spPr>
      </p:sp>
      <p:sp>
        <p:nvSpPr>
          <p:cNvPr id="52" name="Shape 30">
            <a:extLst>
              <a:ext uri="{FF2B5EF4-FFF2-40B4-BE49-F238E27FC236}">
                <a16:creationId xmlns:a16="http://schemas.microsoft.com/office/drawing/2014/main" id="{6B95713F-5271-E4A2-1FDF-7FEE434A2C39}"/>
              </a:ext>
            </a:extLst>
          </p:cNvPr>
          <p:cNvSpPr/>
          <p:nvPr/>
        </p:nvSpPr>
        <p:spPr>
          <a:xfrm>
            <a:off x="8005992" y="1179223"/>
            <a:ext cx="457200" cy="411480"/>
          </a:xfrm>
          <a:prstGeom prst="rect">
            <a:avLst/>
          </a:prstGeom>
          <a:solidFill>
            <a:srgbClr val="5E35B1"/>
          </a:solidFill>
          <a:ln w="12700">
            <a:solidFill>
              <a:srgbClr val="5E35B1"/>
            </a:solidFill>
            <a:prstDash val="solid"/>
          </a:ln>
        </p:spPr>
      </p:sp>
      <p:sp>
        <p:nvSpPr>
          <p:cNvPr id="54" name="Text 31">
            <a:extLst>
              <a:ext uri="{FF2B5EF4-FFF2-40B4-BE49-F238E27FC236}">
                <a16:creationId xmlns:a16="http://schemas.microsoft.com/office/drawing/2014/main" id="{A95AE6D8-7A8D-5302-15B1-1BE077A3FB6F}"/>
              </a:ext>
            </a:extLst>
          </p:cNvPr>
          <p:cNvSpPr/>
          <p:nvPr/>
        </p:nvSpPr>
        <p:spPr>
          <a:xfrm>
            <a:off x="8169435" y="1154927"/>
            <a:ext cx="45720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03</a:t>
            </a:r>
            <a:endParaRPr lang="en-US" sz="1300"/>
          </a:p>
        </p:txBody>
      </p:sp>
      <p:sp>
        <p:nvSpPr>
          <p:cNvPr id="56" name="Text 32">
            <a:extLst>
              <a:ext uri="{FF2B5EF4-FFF2-40B4-BE49-F238E27FC236}">
                <a16:creationId xmlns:a16="http://schemas.microsoft.com/office/drawing/2014/main" id="{55A8FAE5-5065-3048-3096-DD3A7CEAA6C4}"/>
              </a:ext>
            </a:extLst>
          </p:cNvPr>
          <p:cNvSpPr/>
          <p:nvPr/>
        </p:nvSpPr>
        <p:spPr>
          <a:xfrm>
            <a:off x="8554632" y="1188367"/>
            <a:ext cx="3090672" cy="347472"/>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  Reduced Hallucinations</a:t>
            </a:r>
            <a:endParaRPr lang="en-US" sz="1300"/>
          </a:p>
        </p:txBody>
      </p:sp>
      <p:sp>
        <p:nvSpPr>
          <p:cNvPr id="58" name="Text 33">
            <a:extLst>
              <a:ext uri="{FF2B5EF4-FFF2-40B4-BE49-F238E27FC236}">
                <a16:creationId xmlns:a16="http://schemas.microsoft.com/office/drawing/2014/main" id="{149B2C05-6E39-6B0B-D95A-651BE6D8CD81}"/>
              </a:ext>
            </a:extLst>
          </p:cNvPr>
          <p:cNvSpPr/>
          <p:nvPr/>
        </p:nvSpPr>
        <p:spPr>
          <a:xfrm>
            <a:off x="8214757" y="1711474"/>
            <a:ext cx="3327711" cy="2384685"/>
          </a:xfrm>
          <a:prstGeom prst="rect">
            <a:avLst/>
          </a:prstGeom>
          <a:noFill/>
          <a:ln/>
        </p:spPr>
        <p:txBody>
          <a:bodyPr wrap="square" lIns="0" tIns="0" rIns="0" bIns="0" rtlCol="0" anchor="ctr"/>
          <a:lstStyle/>
          <a:p>
            <a:pPr marL="0" indent="0">
              <a:lnSpc>
                <a:spcPct val="145000"/>
              </a:lnSpc>
              <a:buNone/>
            </a:pPr>
            <a:r>
              <a:rPr lang="en-US" sz="1200">
                <a:solidFill>
                  <a:srgbClr val="1A2B4C"/>
                </a:solidFill>
                <a:latin typeface="Calibri"/>
                <a:ea typeface="Calibri"/>
                <a:cs typeface="Calibri"/>
              </a:rPr>
              <a:t>Higher accuracy in maintaining data integrity across complex quantitative reasoning chains. Claude is calibrated to say 'I'm not certain' rather than fabricate a confident but wrong answer.</a:t>
            </a:r>
            <a:endParaRPr lang="en-US" sz="1200">
              <a:latin typeface="Calibri"/>
              <a:ea typeface="Calibri"/>
              <a:cs typeface="Calibri"/>
            </a:endParaRPr>
          </a:p>
        </p:txBody>
      </p:sp>
      <p:sp>
        <p:nvSpPr>
          <p:cNvPr id="60" name="Shape 34">
            <a:extLst>
              <a:ext uri="{FF2B5EF4-FFF2-40B4-BE49-F238E27FC236}">
                <a16:creationId xmlns:a16="http://schemas.microsoft.com/office/drawing/2014/main" id="{C1BE097A-2683-2464-AAE0-E7741901144C}"/>
              </a:ext>
            </a:extLst>
          </p:cNvPr>
          <p:cNvSpPr/>
          <p:nvPr/>
        </p:nvSpPr>
        <p:spPr>
          <a:xfrm>
            <a:off x="8170584" y="4205887"/>
            <a:ext cx="3438144" cy="1572768"/>
          </a:xfrm>
          <a:prstGeom prst="roundRect">
            <a:avLst>
              <a:gd name="adj" fmla="val 4651"/>
            </a:avLst>
          </a:prstGeom>
          <a:solidFill>
            <a:srgbClr val="FFFFFF"/>
          </a:solidFill>
          <a:ln w="12700">
            <a:solidFill>
              <a:srgbClr val="5E35B1"/>
            </a:solidFill>
            <a:prstDash val="solid"/>
          </a:ln>
        </p:spPr>
      </p:sp>
      <p:sp>
        <p:nvSpPr>
          <p:cNvPr id="62" name="Shape 35">
            <a:extLst>
              <a:ext uri="{FF2B5EF4-FFF2-40B4-BE49-F238E27FC236}">
                <a16:creationId xmlns:a16="http://schemas.microsoft.com/office/drawing/2014/main" id="{837CF518-95CB-0D22-C4C5-8202977675DF}"/>
              </a:ext>
            </a:extLst>
          </p:cNvPr>
          <p:cNvSpPr/>
          <p:nvPr/>
        </p:nvSpPr>
        <p:spPr>
          <a:xfrm>
            <a:off x="8170584" y="4205887"/>
            <a:ext cx="3438144" cy="54864"/>
          </a:xfrm>
          <a:prstGeom prst="rect">
            <a:avLst/>
          </a:prstGeom>
          <a:solidFill>
            <a:srgbClr val="5E35B1"/>
          </a:solidFill>
          <a:ln w="12700">
            <a:solidFill>
              <a:srgbClr val="5E35B1"/>
            </a:solidFill>
            <a:prstDash val="solid"/>
          </a:ln>
        </p:spPr>
      </p:sp>
      <p:sp>
        <p:nvSpPr>
          <p:cNvPr id="64" name="Text 36">
            <a:extLst>
              <a:ext uri="{FF2B5EF4-FFF2-40B4-BE49-F238E27FC236}">
                <a16:creationId xmlns:a16="http://schemas.microsoft.com/office/drawing/2014/main" id="{33A3B477-47BF-663E-8652-08F0A2E2078A}"/>
              </a:ext>
            </a:extLst>
          </p:cNvPr>
          <p:cNvSpPr/>
          <p:nvPr/>
        </p:nvSpPr>
        <p:spPr>
          <a:xfrm>
            <a:off x="8262024" y="4279039"/>
            <a:ext cx="3291840" cy="237744"/>
          </a:xfrm>
          <a:prstGeom prst="rect">
            <a:avLst/>
          </a:prstGeom>
          <a:noFill/>
          <a:ln/>
        </p:spPr>
        <p:txBody>
          <a:bodyPr wrap="square" lIns="0" tIns="0" rIns="0" bIns="0" rtlCol="0" anchor="ctr"/>
          <a:lstStyle/>
          <a:p>
            <a:pPr marL="0" indent="0">
              <a:buNone/>
            </a:pPr>
            <a:r>
              <a:rPr lang="en-US" sz="900" b="1">
                <a:solidFill>
                  <a:srgbClr val="5E35B1"/>
                </a:solidFill>
                <a:latin typeface="Calibri" pitchFamily="34" charset="0"/>
                <a:ea typeface="Calibri" pitchFamily="34" charset="-122"/>
                <a:cs typeface="Calibri" pitchFamily="34" charset="-120"/>
              </a:rPr>
              <a:t>Use Cases</a:t>
            </a:r>
            <a:endParaRPr lang="en-US" sz="900"/>
          </a:p>
        </p:txBody>
      </p:sp>
      <p:sp>
        <p:nvSpPr>
          <p:cNvPr id="66" name="Text 37">
            <a:extLst>
              <a:ext uri="{FF2B5EF4-FFF2-40B4-BE49-F238E27FC236}">
                <a16:creationId xmlns:a16="http://schemas.microsoft.com/office/drawing/2014/main" id="{B5550377-F0DF-323D-0011-D1879C65C592}"/>
              </a:ext>
            </a:extLst>
          </p:cNvPr>
          <p:cNvSpPr/>
          <p:nvPr/>
        </p:nvSpPr>
        <p:spPr>
          <a:xfrm>
            <a:off x="8262024" y="4535071"/>
            <a:ext cx="3291840" cy="1152144"/>
          </a:xfrm>
          <a:prstGeom prst="rect">
            <a:avLst/>
          </a:prstGeom>
          <a:noFill/>
          <a:ln/>
        </p:spPr>
        <p:txBody>
          <a:bodyPr wrap="square" lIns="0" tIns="0" rIns="0" bIns="0" rtlCol="0" anchor="ctr"/>
          <a:lstStyle/>
          <a:p>
            <a:pPr marL="0" indent="0">
              <a:lnSpc>
                <a:spcPct val="138000"/>
              </a:lnSpc>
              <a:buNone/>
            </a:pPr>
            <a:r>
              <a:rPr lang="en-US" sz="950" i="1">
                <a:solidFill>
                  <a:srgbClr val="546E7A"/>
                </a:solidFill>
                <a:latin typeface="Calibri" pitchFamily="34" charset="0"/>
                <a:ea typeface="Calibri" pitchFamily="34" charset="-122"/>
                <a:cs typeface="Calibri" pitchFamily="34" charset="-120"/>
              </a:rPr>
              <a:t>Ideal for: financial modelling validation, compliance reporting, healthcare data interpretation.</a:t>
            </a:r>
            <a:endParaRPr lang="en-US" sz="950"/>
          </a:p>
        </p:txBody>
      </p:sp>
      <p:pic>
        <p:nvPicPr>
          <p:cNvPr id="69" name="Picture 68" descr="A logo with black text&#10;&#10;AI-generated content may be incorrect.">
            <a:extLst>
              <a:ext uri="{FF2B5EF4-FFF2-40B4-BE49-F238E27FC236}">
                <a16:creationId xmlns:a16="http://schemas.microsoft.com/office/drawing/2014/main" id="{42AE86FC-6786-CB78-0835-FE1DDEB9CC21}"/>
              </a:ext>
            </a:extLst>
          </p:cNvPr>
          <p:cNvPicPr>
            <a:picLocks noChangeAspect="1"/>
          </p:cNvPicPr>
          <p:nvPr/>
        </p:nvPicPr>
        <p:blipFill>
          <a:blip r:embed="rId4"/>
          <a:stretch>
            <a:fillRect/>
          </a:stretch>
        </p:blipFill>
        <p:spPr>
          <a:xfrm>
            <a:off x="9928658" y="230909"/>
            <a:ext cx="2009775" cy="762000"/>
          </a:xfrm>
          <a:prstGeom prst="rect">
            <a:avLst/>
          </a:prstGeom>
        </p:spPr>
      </p:pic>
    </p:spTree>
    <p:extLst>
      <p:ext uri="{BB962C8B-B14F-4D97-AF65-F5344CB8AC3E}">
        <p14:creationId xmlns:p14="http://schemas.microsoft.com/office/powerpoint/2010/main" val="2827401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DB324-888C-75F4-BF03-7381F285B8AC}"/>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0442DE7-4BFE-C656-8BDE-2245BA9B2758}"/>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6978F166-1D26-26F3-F7EB-1A9EA0F8462E}"/>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136A07AE-C1C1-7FAE-5EE6-E01C340C69D3}"/>
              </a:ext>
            </a:extLst>
          </p:cNvPr>
          <p:cNvSpPr/>
          <p:nvPr/>
        </p:nvSpPr>
        <p:spPr>
          <a:xfrm>
            <a:off x="298210" y="62854"/>
            <a:ext cx="5365303" cy="678962"/>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buNone/>
            </a:pPr>
            <a:r>
              <a:rPr lang="en-US" sz="2400" b="1">
                <a:solidFill>
                  <a:schemeClr val="tx2">
                    <a:lumMod val="76000"/>
                    <a:lumOff val="24000"/>
                  </a:schemeClr>
                </a:solidFill>
                <a:latin typeface="Aptos"/>
                <a:ea typeface="Calibri"/>
                <a:cs typeface="Calibri"/>
              </a:rPr>
              <a:t>Claude Models &amp; the Anthropic API</a:t>
            </a:r>
          </a:p>
        </p:txBody>
      </p:sp>
      <p:sp>
        <p:nvSpPr>
          <p:cNvPr id="6" name="Text 3">
            <a:extLst>
              <a:ext uri="{FF2B5EF4-FFF2-40B4-BE49-F238E27FC236}">
                <a16:creationId xmlns:a16="http://schemas.microsoft.com/office/drawing/2014/main" id="{28FFCC89-8549-A154-2179-7D6F7A1D9FBB}"/>
              </a:ext>
            </a:extLst>
          </p:cNvPr>
          <p:cNvSpPr/>
          <p:nvPr/>
        </p:nvSpPr>
        <p:spPr>
          <a:xfrm>
            <a:off x="339399" y="594113"/>
            <a:ext cx="9144000" cy="292608"/>
          </a:xfrm>
          <a:prstGeom prst="rect">
            <a:avLst/>
          </a:prstGeom>
          <a:noFill/>
          <a:ln/>
        </p:spPr>
        <p:txBody>
          <a:bodyPr wrap="square" lIns="0" tIns="0" rIns="0" bIns="0" rtlCol="0" anchor="ctr"/>
          <a:lstStyle/>
          <a:p>
            <a:pPr marL="0" indent="0">
              <a:buNone/>
            </a:pPr>
            <a:r>
              <a:rPr lang="en-US" sz="1050" i="1">
                <a:solidFill>
                  <a:srgbClr val="2D4A6B"/>
                </a:solidFill>
                <a:latin typeface="Calibri" pitchFamily="34" charset="0"/>
                <a:ea typeface="Calibri" pitchFamily="34" charset="-122"/>
                <a:cs typeface="Calibri" pitchFamily="34" charset="-120"/>
              </a:rPr>
              <a:t>How models are structured, named, and accessed — and what to pick for each use case</a:t>
            </a:r>
            <a:endParaRPr lang="en-US" sz="1050"/>
          </a:p>
        </p:txBody>
      </p:sp>
      <p:sp>
        <p:nvSpPr>
          <p:cNvPr id="8" name="Shape 5">
            <a:extLst>
              <a:ext uri="{FF2B5EF4-FFF2-40B4-BE49-F238E27FC236}">
                <a16:creationId xmlns:a16="http://schemas.microsoft.com/office/drawing/2014/main" id="{CDF79197-CFF8-EA3E-4C38-A414C843E930}"/>
              </a:ext>
            </a:extLst>
          </p:cNvPr>
          <p:cNvSpPr/>
          <p:nvPr/>
        </p:nvSpPr>
        <p:spPr>
          <a:xfrm>
            <a:off x="365760" y="1093738"/>
            <a:ext cx="3749040" cy="3703320"/>
          </a:xfrm>
          <a:prstGeom prst="roundRect">
            <a:avLst>
              <a:gd name="adj" fmla="val 2469"/>
            </a:avLst>
          </a:prstGeom>
          <a:solidFill>
            <a:srgbClr val="EDE7F6"/>
          </a:solidFill>
          <a:ln w="12700">
            <a:solidFill>
              <a:srgbClr val="5E35B1"/>
            </a:solidFill>
            <a:prstDash val="solid"/>
          </a:ln>
          <a:effectLst>
            <a:outerShdw blurRad="101600" dist="25400" dir="8100000" algn="bl" rotWithShape="0">
              <a:srgbClr val="0070CD">
                <a:alpha val="8000"/>
              </a:srgbClr>
            </a:outerShdw>
          </a:effectLst>
        </p:spPr>
      </p:sp>
      <p:sp>
        <p:nvSpPr>
          <p:cNvPr id="10" name="Shape 6">
            <a:extLst>
              <a:ext uri="{FF2B5EF4-FFF2-40B4-BE49-F238E27FC236}">
                <a16:creationId xmlns:a16="http://schemas.microsoft.com/office/drawing/2014/main" id="{60BDC735-D1AB-AB72-F956-1477C49A90AB}"/>
              </a:ext>
            </a:extLst>
          </p:cNvPr>
          <p:cNvSpPr/>
          <p:nvPr/>
        </p:nvSpPr>
        <p:spPr>
          <a:xfrm>
            <a:off x="365760" y="1093738"/>
            <a:ext cx="3749040" cy="530352"/>
          </a:xfrm>
          <a:prstGeom prst="roundRect">
            <a:avLst>
              <a:gd name="adj" fmla="val 17241"/>
            </a:avLst>
          </a:prstGeom>
          <a:solidFill>
            <a:srgbClr val="5E35B1"/>
          </a:solidFill>
          <a:ln w="12700">
            <a:solidFill>
              <a:srgbClr val="5E35B1"/>
            </a:solidFill>
            <a:prstDash val="solid"/>
          </a:ln>
        </p:spPr>
      </p:sp>
      <p:sp>
        <p:nvSpPr>
          <p:cNvPr id="12" name="Shape 7">
            <a:extLst>
              <a:ext uri="{FF2B5EF4-FFF2-40B4-BE49-F238E27FC236}">
                <a16:creationId xmlns:a16="http://schemas.microsoft.com/office/drawing/2014/main" id="{B2D0C4D5-AA6C-B249-BFF3-AF3EE4CA4CAF}"/>
              </a:ext>
            </a:extLst>
          </p:cNvPr>
          <p:cNvSpPr/>
          <p:nvPr/>
        </p:nvSpPr>
        <p:spPr>
          <a:xfrm>
            <a:off x="3108960" y="1203466"/>
            <a:ext cx="914400" cy="201168"/>
          </a:xfrm>
          <a:prstGeom prst="roundRect">
            <a:avLst>
              <a:gd name="adj" fmla="val 22727"/>
            </a:avLst>
          </a:prstGeom>
          <a:solidFill>
            <a:srgbClr val="FFFFFF"/>
          </a:solidFill>
          <a:ln w="12700">
            <a:solidFill>
              <a:srgbClr val="FFFFFF"/>
            </a:solidFill>
            <a:prstDash val="solid"/>
          </a:ln>
        </p:spPr>
      </p:sp>
      <p:sp>
        <p:nvSpPr>
          <p:cNvPr id="14" name="Text 8">
            <a:extLst>
              <a:ext uri="{FF2B5EF4-FFF2-40B4-BE49-F238E27FC236}">
                <a16:creationId xmlns:a16="http://schemas.microsoft.com/office/drawing/2014/main" id="{C97968D4-A28C-9AA8-E673-9DA946ABEAB5}"/>
              </a:ext>
            </a:extLst>
          </p:cNvPr>
          <p:cNvSpPr/>
          <p:nvPr/>
        </p:nvSpPr>
        <p:spPr>
          <a:xfrm>
            <a:off x="3106901" y="1211704"/>
            <a:ext cx="914400" cy="201168"/>
          </a:xfrm>
          <a:prstGeom prst="rect">
            <a:avLst/>
          </a:prstGeom>
          <a:noFill/>
          <a:ln/>
        </p:spPr>
        <p:txBody>
          <a:bodyPr wrap="square" lIns="0" tIns="0" rIns="0" bIns="0" rtlCol="0" anchor="ctr"/>
          <a:lstStyle/>
          <a:p>
            <a:pPr marL="0" indent="0" algn="ctr">
              <a:buNone/>
            </a:pPr>
            <a:r>
              <a:rPr lang="en-US" sz="1000" b="1">
                <a:solidFill>
                  <a:srgbClr val="5E35B1"/>
                </a:solidFill>
                <a:latin typeface="Aptos"/>
                <a:ea typeface="Calibri" pitchFamily="34" charset="-122"/>
                <a:cs typeface="Calibri" pitchFamily="34" charset="-120"/>
              </a:rPr>
              <a:t>FRONTIER</a:t>
            </a:r>
            <a:endParaRPr lang="en-US" sz="1000">
              <a:latin typeface="Aptos"/>
            </a:endParaRPr>
          </a:p>
        </p:txBody>
      </p:sp>
      <p:sp>
        <p:nvSpPr>
          <p:cNvPr id="16" name="Text 9">
            <a:extLst>
              <a:ext uri="{FF2B5EF4-FFF2-40B4-BE49-F238E27FC236}">
                <a16:creationId xmlns:a16="http://schemas.microsoft.com/office/drawing/2014/main" id="{3A0F7B4E-09E3-4C30-8099-9C9F373DBFDB}"/>
              </a:ext>
            </a:extLst>
          </p:cNvPr>
          <p:cNvSpPr/>
          <p:nvPr/>
        </p:nvSpPr>
        <p:spPr>
          <a:xfrm>
            <a:off x="493776" y="1166890"/>
            <a:ext cx="2560320" cy="237744"/>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Claude Opus 4</a:t>
            </a:r>
            <a:endParaRPr lang="en-US" sz="1350"/>
          </a:p>
        </p:txBody>
      </p:sp>
      <p:sp>
        <p:nvSpPr>
          <p:cNvPr id="18" name="Text 10">
            <a:extLst>
              <a:ext uri="{FF2B5EF4-FFF2-40B4-BE49-F238E27FC236}">
                <a16:creationId xmlns:a16="http://schemas.microsoft.com/office/drawing/2014/main" id="{601FF464-93E2-2E21-CA7F-06FBEACA0673}"/>
              </a:ext>
            </a:extLst>
          </p:cNvPr>
          <p:cNvSpPr/>
          <p:nvPr/>
        </p:nvSpPr>
        <p:spPr>
          <a:xfrm>
            <a:off x="493776" y="1404634"/>
            <a:ext cx="2560320" cy="182880"/>
          </a:xfrm>
          <a:prstGeom prst="rect">
            <a:avLst/>
          </a:prstGeom>
          <a:noFill/>
          <a:ln/>
        </p:spPr>
        <p:txBody>
          <a:bodyPr wrap="square" lIns="0" tIns="0" rIns="0" bIns="0" rtlCol="0" anchor="ctr"/>
          <a:lstStyle/>
          <a:p>
            <a:pPr marL="0" indent="0">
              <a:buNone/>
            </a:pPr>
            <a:r>
              <a:rPr lang="en-US" sz="1100">
                <a:solidFill>
                  <a:srgbClr val="DDEEFF"/>
                </a:solidFill>
                <a:latin typeface="Aptos"/>
                <a:ea typeface="Calibri" pitchFamily="34" charset="-122"/>
                <a:cs typeface="Calibri" pitchFamily="34" charset="-120"/>
              </a:rPr>
              <a:t>Most Capable</a:t>
            </a:r>
            <a:endParaRPr lang="en-US" sz="1100">
              <a:latin typeface="Aptos"/>
            </a:endParaRPr>
          </a:p>
        </p:txBody>
      </p:sp>
      <p:sp>
        <p:nvSpPr>
          <p:cNvPr id="20" name="Shape 11">
            <a:extLst>
              <a:ext uri="{FF2B5EF4-FFF2-40B4-BE49-F238E27FC236}">
                <a16:creationId xmlns:a16="http://schemas.microsoft.com/office/drawing/2014/main" id="{BCE536A1-E7A9-DC74-5D55-5603FF232962}"/>
              </a:ext>
            </a:extLst>
          </p:cNvPr>
          <p:cNvSpPr/>
          <p:nvPr/>
        </p:nvSpPr>
        <p:spPr>
          <a:xfrm>
            <a:off x="530352" y="1770394"/>
            <a:ext cx="91440" cy="91440"/>
          </a:xfrm>
          <a:prstGeom prst="ellipse">
            <a:avLst/>
          </a:prstGeom>
          <a:solidFill>
            <a:srgbClr val="5E35B1"/>
          </a:solidFill>
          <a:ln w="12700">
            <a:solidFill>
              <a:srgbClr val="5E35B1"/>
            </a:solidFill>
            <a:prstDash val="solid"/>
          </a:ln>
        </p:spPr>
      </p:sp>
      <p:sp>
        <p:nvSpPr>
          <p:cNvPr id="22" name="Text 12">
            <a:extLst>
              <a:ext uri="{FF2B5EF4-FFF2-40B4-BE49-F238E27FC236}">
                <a16:creationId xmlns:a16="http://schemas.microsoft.com/office/drawing/2014/main" id="{360DC83F-23E2-774F-38EC-C60ED6B22088}"/>
              </a:ext>
            </a:extLst>
          </p:cNvPr>
          <p:cNvSpPr/>
          <p:nvPr/>
        </p:nvSpPr>
        <p:spPr>
          <a:xfrm>
            <a:off x="694944" y="1715530"/>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Complex multi-step reasoning</a:t>
            </a:r>
            <a:endParaRPr lang="en-US" sz="1200">
              <a:latin typeface="Aptos"/>
            </a:endParaRPr>
          </a:p>
        </p:txBody>
      </p:sp>
      <p:sp>
        <p:nvSpPr>
          <p:cNvPr id="24" name="Shape 13">
            <a:extLst>
              <a:ext uri="{FF2B5EF4-FFF2-40B4-BE49-F238E27FC236}">
                <a16:creationId xmlns:a16="http://schemas.microsoft.com/office/drawing/2014/main" id="{3E706621-88D8-3A53-F7C9-6772DD66AE0A}"/>
              </a:ext>
            </a:extLst>
          </p:cNvPr>
          <p:cNvSpPr/>
          <p:nvPr/>
        </p:nvSpPr>
        <p:spPr>
          <a:xfrm>
            <a:off x="530352" y="2154442"/>
            <a:ext cx="91440" cy="91440"/>
          </a:xfrm>
          <a:prstGeom prst="ellipse">
            <a:avLst/>
          </a:prstGeom>
          <a:solidFill>
            <a:srgbClr val="5E35B1"/>
          </a:solidFill>
          <a:ln w="12700">
            <a:solidFill>
              <a:srgbClr val="5E35B1"/>
            </a:solidFill>
            <a:prstDash val="solid"/>
          </a:ln>
        </p:spPr>
      </p:sp>
      <p:sp>
        <p:nvSpPr>
          <p:cNvPr id="26" name="Text 14">
            <a:extLst>
              <a:ext uri="{FF2B5EF4-FFF2-40B4-BE49-F238E27FC236}">
                <a16:creationId xmlns:a16="http://schemas.microsoft.com/office/drawing/2014/main" id="{235667D1-999B-FAE1-6A49-E8DE78E37F02}"/>
              </a:ext>
            </a:extLst>
          </p:cNvPr>
          <p:cNvSpPr/>
          <p:nvPr/>
        </p:nvSpPr>
        <p:spPr>
          <a:xfrm>
            <a:off x="694944" y="2099578"/>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Deep analysis &amp; synthesis</a:t>
            </a:r>
            <a:endParaRPr lang="en-US" sz="1200">
              <a:latin typeface="Aptos"/>
            </a:endParaRPr>
          </a:p>
        </p:txBody>
      </p:sp>
      <p:sp>
        <p:nvSpPr>
          <p:cNvPr id="28" name="Shape 15">
            <a:extLst>
              <a:ext uri="{FF2B5EF4-FFF2-40B4-BE49-F238E27FC236}">
                <a16:creationId xmlns:a16="http://schemas.microsoft.com/office/drawing/2014/main" id="{B2E24463-36FD-E5EF-F8AA-621DA4172DF8}"/>
              </a:ext>
            </a:extLst>
          </p:cNvPr>
          <p:cNvSpPr/>
          <p:nvPr/>
        </p:nvSpPr>
        <p:spPr>
          <a:xfrm>
            <a:off x="530352" y="2538490"/>
            <a:ext cx="91440" cy="91440"/>
          </a:xfrm>
          <a:prstGeom prst="ellipse">
            <a:avLst/>
          </a:prstGeom>
          <a:solidFill>
            <a:srgbClr val="5E35B1"/>
          </a:solidFill>
          <a:ln w="12700">
            <a:solidFill>
              <a:srgbClr val="5E35B1"/>
            </a:solidFill>
            <a:prstDash val="solid"/>
          </a:ln>
        </p:spPr>
      </p:sp>
      <p:sp>
        <p:nvSpPr>
          <p:cNvPr id="30" name="Text 16">
            <a:extLst>
              <a:ext uri="{FF2B5EF4-FFF2-40B4-BE49-F238E27FC236}">
                <a16:creationId xmlns:a16="http://schemas.microsoft.com/office/drawing/2014/main" id="{17A5AE22-E29D-C791-B6D5-74430CA114B6}"/>
              </a:ext>
            </a:extLst>
          </p:cNvPr>
          <p:cNvSpPr/>
          <p:nvPr/>
        </p:nvSpPr>
        <p:spPr>
          <a:xfrm>
            <a:off x="694944" y="2483626"/>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Agentic tasks requiring judgment</a:t>
            </a:r>
            <a:endParaRPr lang="en-US" sz="1200">
              <a:latin typeface="Aptos"/>
            </a:endParaRPr>
          </a:p>
        </p:txBody>
      </p:sp>
      <p:sp>
        <p:nvSpPr>
          <p:cNvPr id="32" name="Shape 17">
            <a:extLst>
              <a:ext uri="{FF2B5EF4-FFF2-40B4-BE49-F238E27FC236}">
                <a16:creationId xmlns:a16="http://schemas.microsoft.com/office/drawing/2014/main" id="{790CFCCB-3EA8-59DF-3787-42FB298956F8}"/>
              </a:ext>
            </a:extLst>
          </p:cNvPr>
          <p:cNvSpPr/>
          <p:nvPr/>
        </p:nvSpPr>
        <p:spPr>
          <a:xfrm>
            <a:off x="493776" y="4138690"/>
            <a:ext cx="3493008" cy="18288"/>
          </a:xfrm>
          <a:prstGeom prst="rect">
            <a:avLst/>
          </a:prstGeom>
          <a:solidFill>
            <a:srgbClr val="5E35B1"/>
          </a:solidFill>
          <a:ln w="12700">
            <a:solidFill>
              <a:srgbClr val="5E35B1"/>
            </a:solidFill>
            <a:prstDash val="solid"/>
          </a:ln>
        </p:spPr>
      </p:sp>
      <p:sp>
        <p:nvSpPr>
          <p:cNvPr id="34" name="Text 18">
            <a:extLst>
              <a:ext uri="{FF2B5EF4-FFF2-40B4-BE49-F238E27FC236}">
                <a16:creationId xmlns:a16="http://schemas.microsoft.com/office/drawing/2014/main" id="{E657F15C-0FCF-B624-F4B2-7188EB88EA96}"/>
              </a:ext>
            </a:extLst>
          </p:cNvPr>
          <p:cNvSpPr/>
          <p:nvPr/>
        </p:nvSpPr>
        <p:spPr>
          <a:xfrm>
            <a:off x="493776" y="4175266"/>
            <a:ext cx="3493008" cy="530352"/>
          </a:xfrm>
          <a:prstGeom prst="rect">
            <a:avLst/>
          </a:prstGeom>
          <a:noFill/>
          <a:ln/>
        </p:spPr>
        <p:txBody>
          <a:bodyPr wrap="square" lIns="0" tIns="0" rIns="0" bIns="0" rtlCol="0" anchor="ctr"/>
          <a:lstStyle/>
          <a:p>
            <a:pPr marL="0" indent="0">
              <a:lnSpc>
                <a:spcPct val="130000"/>
              </a:lnSpc>
              <a:buNone/>
            </a:pPr>
            <a:r>
              <a:rPr lang="en-US" sz="1050" i="1">
                <a:solidFill>
                  <a:srgbClr val="546E7A"/>
                </a:solidFill>
                <a:latin typeface="Aptos"/>
                <a:ea typeface="Calibri" pitchFamily="34" charset="-122"/>
                <a:cs typeface="Calibri" pitchFamily="34" charset="-120"/>
              </a:rPr>
              <a:t>Highest intelligence · Largest context window · Best for high-stakes decisions</a:t>
            </a:r>
            <a:endParaRPr lang="en-US" sz="1050">
              <a:latin typeface="Aptos"/>
            </a:endParaRPr>
          </a:p>
        </p:txBody>
      </p:sp>
      <p:sp>
        <p:nvSpPr>
          <p:cNvPr id="36" name="Shape 19">
            <a:extLst>
              <a:ext uri="{FF2B5EF4-FFF2-40B4-BE49-F238E27FC236}">
                <a16:creationId xmlns:a16="http://schemas.microsoft.com/office/drawing/2014/main" id="{6C8AA959-EBE2-8933-9E47-D6ADC4E1C6EE}"/>
              </a:ext>
            </a:extLst>
          </p:cNvPr>
          <p:cNvSpPr/>
          <p:nvPr/>
        </p:nvSpPr>
        <p:spPr>
          <a:xfrm>
            <a:off x="4251960" y="1093738"/>
            <a:ext cx="3749040" cy="3703320"/>
          </a:xfrm>
          <a:prstGeom prst="roundRect">
            <a:avLst>
              <a:gd name="adj" fmla="val 2469"/>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38" name="Shape 20">
            <a:extLst>
              <a:ext uri="{FF2B5EF4-FFF2-40B4-BE49-F238E27FC236}">
                <a16:creationId xmlns:a16="http://schemas.microsoft.com/office/drawing/2014/main" id="{AA1688B2-3859-6BEC-89C0-78794E014606}"/>
              </a:ext>
            </a:extLst>
          </p:cNvPr>
          <p:cNvSpPr/>
          <p:nvPr/>
        </p:nvSpPr>
        <p:spPr>
          <a:xfrm>
            <a:off x="4251960" y="1093738"/>
            <a:ext cx="3749040" cy="530352"/>
          </a:xfrm>
          <a:prstGeom prst="roundRect">
            <a:avLst>
              <a:gd name="adj" fmla="val 17241"/>
            </a:avLst>
          </a:prstGeom>
          <a:solidFill>
            <a:srgbClr val="1565C0"/>
          </a:solidFill>
          <a:ln w="12700">
            <a:solidFill>
              <a:srgbClr val="1565C0"/>
            </a:solidFill>
            <a:prstDash val="solid"/>
          </a:ln>
        </p:spPr>
      </p:sp>
      <p:sp>
        <p:nvSpPr>
          <p:cNvPr id="40" name="Shape 21">
            <a:extLst>
              <a:ext uri="{FF2B5EF4-FFF2-40B4-BE49-F238E27FC236}">
                <a16:creationId xmlns:a16="http://schemas.microsoft.com/office/drawing/2014/main" id="{A3C7B175-1D35-166A-C630-009E6B00AF2B}"/>
              </a:ext>
            </a:extLst>
          </p:cNvPr>
          <p:cNvSpPr/>
          <p:nvPr/>
        </p:nvSpPr>
        <p:spPr>
          <a:xfrm>
            <a:off x="6995160" y="1203466"/>
            <a:ext cx="914400" cy="201168"/>
          </a:xfrm>
          <a:prstGeom prst="roundRect">
            <a:avLst>
              <a:gd name="adj" fmla="val 22727"/>
            </a:avLst>
          </a:prstGeom>
          <a:solidFill>
            <a:srgbClr val="FFFFFF"/>
          </a:solidFill>
          <a:ln w="12700">
            <a:solidFill>
              <a:srgbClr val="FFFFFF"/>
            </a:solidFill>
            <a:prstDash val="solid"/>
          </a:ln>
        </p:spPr>
      </p:sp>
      <p:sp>
        <p:nvSpPr>
          <p:cNvPr id="42" name="Text 22">
            <a:extLst>
              <a:ext uri="{FF2B5EF4-FFF2-40B4-BE49-F238E27FC236}">
                <a16:creationId xmlns:a16="http://schemas.microsoft.com/office/drawing/2014/main" id="{9297D82B-D804-A2F6-D0CB-F41B8A9C1573}"/>
              </a:ext>
            </a:extLst>
          </p:cNvPr>
          <p:cNvSpPr/>
          <p:nvPr/>
        </p:nvSpPr>
        <p:spPr>
          <a:xfrm>
            <a:off x="6993101" y="1211704"/>
            <a:ext cx="914400" cy="201168"/>
          </a:xfrm>
          <a:prstGeom prst="rect">
            <a:avLst/>
          </a:prstGeom>
          <a:noFill/>
          <a:ln/>
        </p:spPr>
        <p:txBody>
          <a:bodyPr wrap="square" lIns="0" tIns="0" rIns="0" bIns="0" rtlCol="0" anchor="ctr"/>
          <a:lstStyle/>
          <a:p>
            <a:pPr marL="0" indent="0" algn="ctr">
              <a:buNone/>
            </a:pPr>
            <a:r>
              <a:rPr lang="en-US" sz="1000" b="1">
                <a:solidFill>
                  <a:srgbClr val="1565C0"/>
                </a:solidFill>
                <a:latin typeface="Aptos"/>
                <a:ea typeface="Calibri" pitchFamily="34" charset="-122"/>
                <a:cs typeface="Calibri" pitchFamily="34" charset="-120"/>
              </a:rPr>
              <a:t>BALANCED</a:t>
            </a:r>
            <a:endParaRPr lang="en-US" sz="1000">
              <a:latin typeface="Aptos"/>
            </a:endParaRPr>
          </a:p>
        </p:txBody>
      </p:sp>
      <p:sp>
        <p:nvSpPr>
          <p:cNvPr id="44" name="Text 23">
            <a:extLst>
              <a:ext uri="{FF2B5EF4-FFF2-40B4-BE49-F238E27FC236}">
                <a16:creationId xmlns:a16="http://schemas.microsoft.com/office/drawing/2014/main" id="{EDF3FBD9-E809-7A55-DD56-2905B3E33C25}"/>
              </a:ext>
            </a:extLst>
          </p:cNvPr>
          <p:cNvSpPr/>
          <p:nvPr/>
        </p:nvSpPr>
        <p:spPr>
          <a:xfrm>
            <a:off x="4379976" y="1166890"/>
            <a:ext cx="2560320" cy="237744"/>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Claude Sonnet 4</a:t>
            </a:r>
            <a:endParaRPr lang="en-US" sz="1350"/>
          </a:p>
        </p:txBody>
      </p:sp>
      <p:sp>
        <p:nvSpPr>
          <p:cNvPr id="46" name="Text 24">
            <a:extLst>
              <a:ext uri="{FF2B5EF4-FFF2-40B4-BE49-F238E27FC236}">
                <a16:creationId xmlns:a16="http://schemas.microsoft.com/office/drawing/2014/main" id="{D5EBFF39-FA7C-BE1A-5E89-AB5C187B3AC9}"/>
              </a:ext>
            </a:extLst>
          </p:cNvPr>
          <p:cNvSpPr/>
          <p:nvPr/>
        </p:nvSpPr>
        <p:spPr>
          <a:xfrm>
            <a:off x="4379976" y="1404634"/>
            <a:ext cx="2560320" cy="182880"/>
          </a:xfrm>
          <a:prstGeom prst="rect">
            <a:avLst/>
          </a:prstGeom>
          <a:noFill/>
          <a:ln/>
        </p:spPr>
        <p:txBody>
          <a:bodyPr wrap="square" lIns="0" tIns="0" rIns="0" bIns="0" rtlCol="0" anchor="ctr"/>
          <a:lstStyle/>
          <a:p>
            <a:pPr marL="0" indent="0">
              <a:buNone/>
            </a:pPr>
            <a:r>
              <a:rPr lang="en-US" sz="1100">
                <a:solidFill>
                  <a:srgbClr val="DDEEFF"/>
                </a:solidFill>
                <a:latin typeface="Aptos"/>
                <a:ea typeface="Calibri" pitchFamily="34" charset="-122"/>
                <a:cs typeface="Calibri" pitchFamily="34" charset="-120"/>
              </a:rPr>
              <a:t>Balanced</a:t>
            </a:r>
            <a:endParaRPr lang="en-US" sz="1100">
              <a:latin typeface="Aptos"/>
            </a:endParaRPr>
          </a:p>
        </p:txBody>
      </p:sp>
      <p:sp>
        <p:nvSpPr>
          <p:cNvPr id="48" name="Shape 25">
            <a:extLst>
              <a:ext uri="{FF2B5EF4-FFF2-40B4-BE49-F238E27FC236}">
                <a16:creationId xmlns:a16="http://schemas.microsoft.com/office/drawing/2014/main" id="{C0AB73B4-F841-3B38-3C99-BBB5DF000C3F}"/>
              </a:ext>
            </a:extLst>
          </p:cNvPr>
          <p:cNvSpPr/>
          <p:nvPr/>
        </p:nvSpPr>
        <p:spPr>
          <a:xfrm>
            <a:off x="4416552" y="1770394"/>
            <a:ext cx="91440" cy="91440"/>
          </a:xfrm>
          <a:prstGeom prst="ellipse">
            <a:avLst/>
          </a:prstGeom>
          <a:solidFill>
            <a:srgbClr val="1565C0"/>
          </a:solidFill>
          <a:ln w="12700">
            <a:solidFill>
              <a:srgbClr val="1565C0"/>
            </a:solidFill>
            <a:prstDash val="solid"/>
          </a:ln>
        </p:spPr>
      </p:sp>
      <p:sp>
        <p:nvSpPr>
          <p:cNvPr id="50" name="Text 26">
            <a:extLst>
              <a:ext uri="{FF2B5EF4-FFF2-40B4-BE49-F238E27FC236}">
                <a16:creationId xmlns:a16="http://schemas.microsoft.com/office/drawing/2014/main" id="{F8A86D05-DD43-3E22-D0B1-7E55045582A5}"/>
              </a:ext>
            </a:extLst>
          </p:cNvPr>
          <p:cNvSpPr/>
          <p:nvPr/>
        </p:nvSpPr>
        <p:spPr>
          <a:xfrm>
            <a:off x="4581144" y="1715530"/>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Everyday tasks &amp; automation</a:t>
            </a:r>
            <a:endParaRPr lang="en-US" sz="1200">
              <a:latin typeface="Aptos"/>
            </a:endParaRPr>
          </a:p>
        </p:txBody>
      </p:sp>
      <p:sp>
        <p:nvSpPr>
          <p:cNvPr id="52" name="Shape 27">
            <a:extLst>
              <a:ext uri="{FF2B5EF4-FFF2-40B4-BE49-F238E27FC236}">
                <a16:creationId xmlns:a16="http://schemas.microsoft.com/office/drawing/2014/main" id="{F4950770-52CE-171C-557D-94BAF428170D}"/>
              </a:ext>
            </a:extLst>
          </p:cNvPr>
          <p:cNvSpPr/>
          <p:nvPr/>
        </p:nvSpPr>
        <p:spPr>
          <a:xfrm>
            <a:off x="4416552" y="2154442"/>
            <a:ext cx="91440" cy="91440"/>
          </a:xfrm>
          <a:prstGeom prst="ellipse">
            <a:avLst/>
          </a:prstGeom>
          <a:solidFill>
            <a:srgbClr val="1565C0"/>
          </a:solidFill>
          <a:ln w="12700">
            <a:solidFill>
              <a:srgbClr val="1565C0"/>
            </a:solidFill>
            <a:prstDash val="solid"/>
          </a:ln>
        </p:spPr>
      </p:sp>
      <p:sp>
        <p:nvSpPr>
          <p:cNvPr id="54" name="Text 28">
            <a:extLst>
              <a:ext uri="{FF2B5EF4-FFF2-40B4-BE49-F238E27FC236}">
                <a16:creationId xmlns:a16="http://schemas.microsoft.com/office/drawing/2014/main" id="{6750AC45-2744-4A13-D645-8F961E7BB4F5}"/>
              </a:ext>
            </a:extLst>
          </p:cNvPr>
          <p:cNvSpPr/>
          <p:nvPr/>
        </p:nvSpPr>
        <p:spPr>
          <a:xfrm>
            <a:off x="4581144" y="2099578"/>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Code generation &amp; review</a:t>
            </a:r>
            <a:endParaRPr lang="en-US" sz="1200">
              <a:latin typeface="Aptos"/>
            </a:endParaRPr>
          </a:p>
        </p:txBody>
      </p:sp>
      <p:sp>
        <p:nvSpPr>
          <p:cNvPr id="56" name="Shape 29">
            <a:extLst>
              <a:ext uri="{FF2B5EF4-FFF2-40B4-BE49-F238E27FC236}">
                <a16:creationId xmlns:a16="http://schemas.microsoft.com/office/drawing/2014/main" id="{6A74C6AF-09BF-0DDD-BF42-50826052B7EB}"/>
              </a:ext>
            </a:extLst>
          </p:cNvPr>
          <p:cNvSpPr/>
          <p:nvPr/>
        </p:nvSpPr>
        <p:spPr>
          <a:xfrm>
            <a:off x="4416552" y="2538490"/>
            <a:ext cx="91440" cy="91440"/>
          </a:xfrm>
          <a:prstGeom prst="ellipse">
            <a:avLst/>
          </a:prstGeom>
          <a:solidFill>
            <a:srgbClr val="1565C0"/>
          </a:solidFill>
          <a:ln w="12700">
            <a:solidFill>
              <a:srgbClr val="1565C0"/>
            </a:solidFill>
            <a:prstDash val="solid"/>
          </a:ln>
        </p:spPr>
      </p:sp>
      <p:sp>
        <p:nvSpPr>
          <p:cNvPr id="58" name="Text 30">
            <a:extLst>
              <a:ext uri="{FF2B5EF4-FFF2-40B4-BE49-F238E27FC236}">
                <a16:creationId xmlns:a16="http://schemas.microsoft.com/office/drawing/2014/main" id="{7D1007A2-A72E-1F83-E562-17614EDBB8EF}"/>
              </a:ext>
            </a:extLst>
          </p:cNvPr>
          <p:cNvSpPr/>
          <p:nvPr/>
        </p:nvSpPr>
        <p:spPr>
          <a:xfrm>
            <a:off x="4581144" y="2483626"/>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Content creation &amp; summarisation</a:t>
            </a:r>
            <a:endParaRPr lang="en-US" sz="1200">
              <a:latin typeface="Aptos"/>
            </a:endParaRPr>
          </a:p>
        </p:txBody>
      </p:sp>
      <p:sp>
        <p:nvSpPr>
          <p:cNvPr id="60" name="Shape 31">
            <a:extLst>
              <a:ext uri="{FF2B5EF4-FFF2-40B4-BE49-F238E27FC236}">
                <a16:creationId xmlns:a16="http://schemas.microsoft.com/office/drawing/2014/main" id="{E025137C-9531-BC32-2E17-90A0D3CE13AC}"/>
              </a:ext>
            </a:extLst>
          </p:cNvPr>
          <p:cNvSpPr/>
          <p:nvPr/>
        </p:nvSpPr>
        <p:spPr>
          <a:xfrm>
            <a:off x="4379976" y="4138690"/>
            <a:ext cx="3493008" cy="18288"/>
          </a:xfrm>
          <a:prstGeom prst="rect">
            <a:avLst/>
          </a:prstGeom>
          <a:solidFill>
            <a:srgbClr val="1565C0"/>
          </a:solidFill>
          <a:ln w="12700">
            <a:solidFill>
              <a:srgbClr val="1565C0"/>
            </a:solidFill>
            <a:prstDash val="solid"/>
          </a:ln>
        </p:spPr>
      </p:sp>
      <p:sp>
        <p:nvSpPr>
          <p:cNvPr id="62" name="Text 32">
            <a:extLst>
              <a:ext uri="{FF2B5EF4-FFF2-40B4-BE49-F238E27FC236}">
                <a16:creationId xmlns:a16="http://schemas.microsoft.com/office/drawing/2014/main" id="{907CC960-5161-C486-5027-5D561EFD46D0}"/>
              </a:ext>
            </a:extLst>
          </p:cNvPr>
          <p:cNvSpPr/>
          <p:nvPr/>
        </p:nvSpPr>
        <p:spPr>
          <a:xfrm>
            <a:off x="4379976" y="4175266"/>
            <a:ext cx="3493008" cy="530352"/>
          </a:xfrm>
          <a:prstGeom prst="rect">
            <a:avLst/>
          </a:prstGeom>
          <a:noFill/>
          <a:ln/>
        </p:spPr>
        <p:txBody>
          <a:bodyPr wrap="square" lIns="0" tIns="0" rIns="0" bIns="0" rtlCol="0" anchor="ctr"/>
          <a:lstStyle/>
          <a:p>
            <a:pPr marL="0" indent="0">
              <a:lnSpc>
                <a:spcPct val="130000"/>
              </a:lnSpc>
              <a:buNone/>
            </a:pPr>
            <a:r>
              <a:rPr lang="en-US" sz="1050" i="1">
                <a:solidFill>
                  <a:srgbClr val="546E7A"/>
                </a:solidFill>
                <a:latin typeface="Aptos"/>
                <a:ea typeface="Calibri" pitchFamily="34" charset="-122"/>
                <a:cs typeface="Calibri" pitchFamily="34" charset="-120"/>
              </a:rPr>
              <a:t>Best price-performance ratio · Recommended default for most production use</a:t>
            </a:r>
            <a:endParaRPr lang="en-US" sz="1050">
              <a:latin typeface="Aptos"/>
            </a:endParaRPr>
          </a:p>
        </p:txBody>
      </p:sp>
      <p:sp>
        <p:nvSpPr>
          <p:cNvPr id="64" name="Shape 33">
            <a:extLst>
              <a:ext uri="{FF2B5EF4-FFF2-40B4-BE49-F238E27FC236}">
                <a16:creationId xmlns:a16="http://schemas.microsoft.com/office/drawing/2014/main" id="{F5CC49FE-96B8-2F32-07D6-38EB96EF80D1}"/>
              </a:ext>
            </a:extLst>
          </p:cNvPr>
          <p:cNvSpPr/>
          <p:nvPr/>
        </p:nvSpPr>
        <p:spPr>
          <a:xfrm>
            <a:off x="8138160" y="1093738"/>
            <a:ext cx="3749040" cy="3703320"/>
          </a:xfrm>
          <a:prstGeom prst="roundRect">
            <a:avLst>
              <a:gd name="adj" fmla="val 2469"/>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66" name="Shape 34">
            <a:extLst>
              <a:ext uri="{FF2B5EF4-FFF2-40B4-BE49-F238E27FC236}">
                <a16:creationId xmlns:a16="http://schemas.microsoft.com/office/drawing/2014/main" id="{D337C88C-21FA-FB2B-DFF1-D59B8DF3BA36}"/>
              </a:ext>
            </a:extLst>
          </p:cNvPr>
          <p:cNvSpPr/>
          <p:nvPr/>
        </p:nvSpPr>
        <p:spPr>
          <a:xfrm>
            <a:off x="8138160" y="1093738"/>
            <a:ext cx="3749040" cy="530352"/>
          </a:xfrm>
          <a:prstGeom prst="roundRect">
            <a:avLst>
              <a:gd name="adj" fmla="val 17241"/>
            </a:avLst>
          </a:prstGeom>
          <a:solidFill>
            <a:srgbClr val="00897B"/>
          </a:solidFill>
          <a:ln w="12700">
            <a:solidFill>
              <a:srgbClr val="00897B"/>
            </a:solidFill>
            <a:prstDash val="solid"/>
          </a:ln>
        </p:spPr>
      </p:sp>
      <p:sp>
        <p:nvSpPr>
          <p:cNvPr id="69" name="Shape 35">
            <a:extLst>
              <a:ext uri="{FF2B5EF4-FFF2-40B4-BE49-F238E27FC236}">
                <a16:creationId xmlns:a16="http://schemas.microsoft.com/office/drawing/2014/main" id="{9D9015DE-0D8C-65E3-0ABD-5A9379F41BD5}"/>
              </a:ext>
            </a:extLst>
          </p:cNvPr>
          <p:cNvSpPr/>
          <p:nvPr/>
        </p:nvSpPr>
        <p:spPr>
          <a:xfrm>
            <a:off x="10881360" y="1203466"/>
            <a:ext cx="914400" cy="201168"/>
          </a:xfrm>
          <a:prstGeom prst="roundRect">
            <a:avLst>
              <a:gd name="adj" fmla="val 22727"/>
            </a:avLst>
          </a:prstGeom>
          <a:solidFill>
            <a:srgbClr val="FFFFFF"/>
          </a:solidFill>
          <a:ln w="12700">
            <a:solidFill>
              <a:srgbClr val="FFFFFF"/>
            </a:solidFill>
            <a:prstDash val="solid"/>
          </a:ln>
        </p:spPr>
      </p:sp>
      <p:sp>
        <p:nvSpPr>
          <p:cNvPr id="71" name="Text 36">
            <a:extLst>
              <a:ext uri="{FF2B5EF4-FFF2-40B4-BE49-F238E27FC236}">
                <a16:creationId xmlns:a16="http://schemas.microsoft.com/office/drawing/2014/main" id="{9EB8D33C-F992-0B06-86F8-73FF01F56D93}"/>
              </a:ext>
            </a:extLst>
          </p:cNvPr>
          <p:cNvSpPr/>
          <p:nvPr/>
        </p:nvSpPr>
        <p:spPr>
          <a:xfrm>
            <a:off x="10879301" y="1201407"/>
            <a:ext cx="914400" cy="201168"/>
          </a:xfrm>
          <a:prstGeom prst="rect">
            <a:avLst/>
          </a:prstGeom>
          <a:noFill/>
          <a:ln/>
        </p:spPr>
        <p:txBody>
          <a:bodyPr wrap="square" lIns="0" tIns="0" rIns="0" bIns="0" rtlCol="0" anchor="ctr"/>
          <a:lstStyle/>
          <a:p>
            <a:pPr marL="0" indent="0" algn="ctr">
              <a:buNone/>
            </a:pPr>
            <a:r>
              <a:rPr lang="en-US" sz="1000" b="1">
                <a:solidFill>
                  <a:srgbClr val="00897B"/>
                </a:solidFill>
                <a:latin typeface="Aptos"/>
                <a:ea typeface="Calibri" pitchFamily="34" charset="-122"/>
                <a:cs typeface="Calibri" pitchFamily="34" charset="-120"/>
              </a:rPr>
              <a:t>SPEED</a:t>
            </a:r>
            <a:endParaRPr lang="en-US" sz="1000">
              <a:latin typeface="Aptos"/>
            </a:endParaRPr>
          </a:p>
        </p:txBody>
      </p:sp>
      <p:sp>
        <p:nvSpPr>
          <p:cNvPr id="73" name="Text 37">
            <a:extLst>
              <a:ext uri="{FF2B5EF4-FFF2-40B4-BE49-F238E27FC236}">
                <a16:creationId xmlns:a16="http://schemas.microsoft.com/office/drawing/2014/main" id="{A1551C3C-9555-2822-1A24-DFF3FAF57039}"/>
              </a:ext>
            </a:extLst>
          </p:cNvPr>
          <p:cNvSpPr/>
          <p:nvPr/>
        </p:nvSpPr>
        <p:spPr>
          <a:xfrm>
            <a:off x="8266176" y="1166890"/>
            <a:ext cx="2560320" cy="237744"/>
          </a:xfrm>
          <a:prstGeom prst="rect">
            <a:avLst/>
          </a:prstGeom>
          <a:noFill/>
          <a:ln/>
        </p:spPr>
        <p:txBody>
          <a:bodyPr wrap="square" lIns="0" tIns="0" rIns="0" bIns="0" rtlCol="0" anchor="ctr"/>
          <a:lstStyle/>
          <a:p>
            <a:pPr marL="0" indent="0">
              <a:buNone/>
            </a:pPr>
            <a:r>
              <a:rPr lang="en-US" sz="1350" b="1">
                <a:solidFill>
                  <a:srgbClr val="FFFFFF"/>
                </a:solidFill>
                <a:latin typeface="Calibri" pitchFamily="34" charset="0"/>
                <a:ea typeface="Calibri" pitchFamily="34" charset="-122"/>
                <a:cs typeface="Calibri" pitchFamily="34" charset="-120"/>
              </a:rPr>
              <a:t>Claude Haiku 4.5</a:t>
            </a:r>
            <a:endParaRPr lang="en-US" sz="1350"/>
          </a:p>
        </p:txBody>
      </p:sp>
      <p:sp>
        <p:nvSpPr>
          <p:cNvPr id="75" name="Text 38">
            <a:extLst>
              <a:ext uri="{FF2B5EF4-FFF2-40B4-BE49-F238E27FC236}">
                <a16:creationId xmlns:a16="http://schemas.microsoft.com/office/drawing/2014/main" id="{15C407C6-F91C-F8D2-218A-BF90B488411A}"/>
              </a:ext>
            </a:extLst>
          </p:cNvPr>
          <p:cNvSpPr/>
          <p:nvPr/>
        </p:nvSpPr>
        <p:spPr>
          <a:xfrm>
            <a:off x="8266176" y="1404634"/>
            <a:ext cx="2560320" cy="182880"/>
          </a:xfrm>
          <a:prstGeom prst="rect">
            <a:avLst/>
          </a:prstGeom>
          <a:noFill/>
          <a:ln/>
        </p:spPr>
        <p:txBody>
          <a:bodyPr wrap="square" lIns="0" tIns="0" rIns="0" bIns="0" rtlCol="0" anchor="ctr"/>
          <a:lstStyle/>
          <a:p>
            <a:pPr marL="0" indent="0">
              <a:buNone/>
            </a:pPr>
            <a:r>
              <a:rPr lang="en-US" sz="1100">
                <a:solidFill>
                  <a:srgbClr val="DDEEFF"/>
                </a:solidFill>
                <a:latin typeface="Aptos"/>
                <a:ea typeface="Calibri" pitchFamily="34" charset="-122"/>
                <a:cs typeface="Calibri" pitchFamily="34" charset="-120"/>
              </a:rPr>
              <a:t>Fast &amp; Efficient</a:t>
            </a:r>
            <a:endParaRPr lang="en-US" sz="1100">
              <a:latin typeface="Aptos"/>
            </a:endParaRPr>
          </a:p>
        </p:txBody>
      </p:sp>
      <p:sp>
        <p:nvSpPr>
          <p:cNvPr id="77" name="Shape 39">
            <a:extLst>
              <a:ext uri="{FF2B5EF4-FFF2-40B4-BE49-F238E27FC236}">
                <a16:creationId xmlns:a16="http://schemas.microsoft.com/office/drawing/2014/main" id="{6B22B778-7D6D-1DBC-787D-DC27B1DE4728}"/>
              </a:ext>
            </a:extLst>
          </p:cNvPr>
          <p:cNvSpPr/>
          <p:nvPr/>
        </p:nvSpPr>
        <p:spPr>
          <a:xfrm>
            <a:off x="8302752" y="1770394"/>
            <a:ext cx="91440" cy="91440"/>
          </a:xfrm>
          <a:prstGeom prst="ellipse">
            <a:avLst/>
          </a:prstGeom>
          <a:solidFill>
            <a:srgbClr val="00897B"/>
          </a:solidFill>
          <a:ln w="12700">
            <a:solidFill>
              <a:srgbClr val="00897B"/>
            </a:solidFill>
            <a:prstDash val="solid"/>
          </a:ln>
        </p:spPr>
      </p:sp>
      <p:sp>
        <p:nvSpPr>
          <p:cNvPr id="79" name="Text 40">
            <a:extLst>
              <a:ext uri="{FF2B5EF4-FFF2-40B4-BE49-F238E27FC236}">
                <a16:creationId xmlns:a16="http://schemas.microsoft.com/office/drawing/2014/main" id="{B657BB08-D214-049E-1832-8EB0C2450EFD}"/>
              </a:ext>
            </a:extLst>
          </p:cNvPr>
          <p:cNvSpPr/>
          <p:nvPr/>
        </p:nvSpPr>
        <p:spPr>
          <a:xfrm>
            <a:off x="8467344" y="1715530"/>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High-volume classification</a:t>
            </a:r>
            <a:endParaRPr lang="en-US" sz="1200">
              <a:latin typeface="Aptos"/>
            </a:endParaRPr>
          </a:p>
        </p:txBody>
      </p:sp>
      <p:sp>
        <p:nvSpPr>
          <p:cNvPr id="81" name="Shape 41">
            <a:extLst>
              <a:ext uri="{FF2B5EF4-FFF2-40B4-BE49-F238E27FC236}">
                <a16:creationId xmlns:a16="http://schemas.microsoft.com/office/drawing/2014/main" id="{15ED52C4-BA4C-60C8-2C94-194C019055FE}"/>
              </a:ext>
            </a:extLst>
          </p:cNvPr>
          <p:cNvSpPr/>
          <p:nvPr/>
        </p:nvSpPr>
        <p:spPr>
          <a:xfrm>
            <a:off x="8302752" y="2154442"/>
            <a:ext cx="91440" cy="91440"/>
          </a:xfrm>
          <a:prstGeom prst="ellipse">
            <a:avLst/>
          </a:prstGeom>
          <a:solidFill>
            <a:srgbClr val="00897B"/>
          </a:solidFill>
          <a:ln w="12700">
            <a:solidFill>
              <a:srgbClr val="00897B"/>
            </a:solidFill>
            <a:prstDash val="solid"/>
          </a:ln>
        </p:spPr>
      </p:sp>
      <p:sp>
        <p:nvSpPr>
          <p:cNvPr id="83" name="Text 42">
            <a:extLst>
              <a:ext uri="{FF2B5EF4-FFF2-40B4-BE49-F238E27FC236}">
                <a16:creationId xmlns:a16="http://schemas.microsoft.com/office/drawing/2014/main" id="{B6893373-BA09-C72D-4722-1113981457E4}"/>
              </a:ext>
            </a:extLst>
          </p:cNvPr>
          <p:cNvSpPr/>
          <p:nvPr/>
        </p:nvSpPr>
        <p:spPr>
          <a:xfrm>
            <a:off x="8467344" y="2099578"/>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Real-time chat responses</a:t>
            </a:r>
            <a:endParaRPr lang="en-US" sz="1200">
              <a:latin typeface="Aptos"/>
            </a:endParaRPr>
          </a:p>
        </p:txBody>
      </p:sp>
      <p:sp>
        <p:nvSpPr>
          <p:cNvPr id="85" name="Shape 43">
            <a:extLst>
              <a:ext uri="{FF2B5EF4-FFF2-40B4-BE49-F238E27FC236}">
                <a16:creationId xmlns:a16="http://schemas.microsoft.com/office/drawing/2014/main" id="{339D0E70-92D3-1D0B-F987-45E00E7736C4}"/>
              </a:ext>
            </a:extLst>
          </p:cNvPr>
          <p:cNvSpPr/>
          <p:nvPr/>
        </p:nvSpPr>
        <p:spPr>
          <a:xfrm>
            <a:off x="8302752" y="2538490"/>
            <a:ext cx="91440" cy="91440"/>
          </a:xfrm>
          <a:prstGeom prst="ellipse">
            <a:avLst/>
          </a:prstGeom>
          <a:solidFill>
            <a:srgbClr val="00897B"/>
          </a:solidFill>
          <a:ln w="12700">
            <a:solidFill>
              <a:srgbClr val="00897B"/>
            </a:solidFill>
            <a:prstDash val="solid"/>
          </a:ln>
        </p:spPr>
      </p:sp>
      <p:sp>
        <p:nvSpPr>
          <p:cNvPr id="87" name="Text 44">
            <a:extLst>
              <a:ext uri="{FF2B5EF4-FFF2-40B4-BE49-F238E27FC236}">
                <a16:creationId xmlns:a16="http://schemas.microsoft.com/office/drawing/2014/main" id="{DAC0B629-E23B-62C4-3168-CF276DC612E9}"/>
              </a:ext>
            </a:extLst>
          </p:cNvPr>
          <p:cNvSpPr/>
          <p:nvPr/>
        </p:nvSpPr>
        <p:spPr>
          <a:xfrm>
            <a:off x="8467344" y="2483626"/>
            <a:ext cx="3291840" cy="329184"/>
          </a:xfrm>
          <a:prstGeom prst="rect">
            <a:avLst/>
          </a:prstGeom>
          <a:noFill/>
          <a:ln/>
        </p:spPr>
        <p:txBody>
          <a:bodyPr wrap="square" lIns="0" tIns="0" rIns="0" bIns="0" rtlCol="0" anchor="ctr"/>
          <a:lstStyle/>
          <a:p>
            <a:pPr marL="0" indent="0">
              <a:buNone/>
            </a:pPr>
            <a:r>
              <a:rPr lang="en-US" sz="1200">
                <a:solidFill>
                  <a:srgbClr val="1A2B4C"/>
                </a:solidFill>
                <a:latin typeface="Aptos"/>
                <a:ea typeface="Calibri" pitchFamily="34" charset="-122"/>
                <a:cs typeface="Calibri" pitchFamily="34" charset="-120"/>
              </a:rPr>
              <a:t>Low-latency pipelines</a:t>
            </a:r>
            <a:endParaRPr lang="en-US" sz="1200">
              <a:latin typeface="Aptos"/>
            </a:endParaRPr>
          </a:p>
        </p:txBody>
      </p:sp>
      <p:sp>
        <p:nvSpPr>
          <p:cNvPr id="89" name="Shape 45">
            <a:extLst>
              <a:ext uri="{FF2B5EF4-FFF2-40B4-BE49-F238E27FC236}">
                <a16:creationId xmlns:a16="http://schemas.microsoft.com/office/drawing/2014/main" id="{70140F72-E69B-8549-127F-BA4191E056F2}"/>
              </a:ext>
            </a:extLst>
          </p:cNvPr>
          <p:cNvSpPr/>
          <p:nvPr/>
        </p:nvSpPr>
        <p:spPr>
          <a:xfrm>
            <a:off x="8266176" y="4138690"/>
            <a:ext cx="3493008" cy="18288"/>
          </a:xfrm>
          <a:prstGeom prst="rect">
            <a:avLst/>
          </a:prstGeom>
          <a:solidFill>
            <a:srgbClr val="00897B"/>
          </a:solidFill>
          <a:ln w="12700">
            <a:solidFill>
              <a:srgbClr val="00897B"/>
            </a:solidFill>
            <a:prstDash val="solid"/>
          </a:ln>
        </p:spPr>
      </p:sp>
      <p:sp>
        <p:nvSpPr>
          <p:cNvPr id="91" name="Text 46">
            <a:extLst>
              <a:ext uri="{FF2B5EF4-FFF2-40B4-BE49-F238E27FC236}">
                <a16:creationId xmlns:a16="http://schemas.microsoft.com/office/drawing/2014/main" id="{5B10F3AF-DE99-4C47-94EB-F6306BC9CD79}"/>
              </a:ext>
            </a:extLst>
          </p:cNvPr>
          <p:cNvSpPr/>
          <p:nvPr/>
        </p:nvSpPr>
        <p:spPr>
          <a:xfrm>
            <a:off x="8266176" y="4175266"/>
            <a:ext cx="3493008" cy="530352"/>
          </a:xfrm>
          <a:prstGeom prst="rect">
            <a:avLst/>
          </a:prstGeom>
          <a:noFill/>
          <a:ln/>
        </p:spPr>
        <p:txBody>
          <a:bodyPr wrap="square" lIns="0" tIns="0" rIns="0" bIns="0" rtlCol="0" anchor="ctr"/>
          <a:lstStyle/>
          <a:p>
            <a:pPr marL="0" indent="0">
              <a:lnSpc>
                <a:spcPct val="130000"/>
              </a:lnSpc>
              <a:buNone/>
            </a:pPr>
            <a:r>
              <a:rPr lang="en-US" sz="1050" i="1">
                <a:solidFill>
                  <a:srgbClr val="546E7A"/>
                </a:solidFill>
                <a:latin typeface="Aptos"/>
                <a:ea typeface="Calibri" pitchFamily="34" charset="-122"/>
                <a:cs typeface="Calibri" pitchFamily="34" charset="-120"/>
              </a:rPr>
              <a:t>Fastest latency · Lowest cost per token · Ideal for high-throughput workloads</a:t>
            </a:r>
            <a:endParaRPr lang="en-US" sz="1050">
              <a:latin typeface="Aptos"/>
            </a:endParaRPr>
          </a:p>
        </p:txBody>
      </p:sp>
      <p:sp>
        <p:nvSpPr>
          <p:cNvPr id="93" name="Shape 47">
            <a:extLst>
              <a:ext uri="{FF2B5EF4-FFF2-40B4-BE49-F238E27FC236}">
                <a16:creationId xmlns:a16="http://schemas.microsoft.com/office/drawing/2014/main" id="{B9955C05-169D-01E9-3606-B41E59F81FE6}"/>
              </a:ext>
            </a:extLst>
          </p:cNvPr>
          <p:cNvSpPr/>
          <p:nvPr/>
        </p:nvSpPr>
        <p:spPr>
          <a:xfrm>
            <a:off x="365760" y="5047488"/>
            <a:ext cx="11457432" cy="786384"/>
          </a:xfrm>
          <a:prstGeom prst="roundRect">
            <a:avLst>
              <a:gd name="adj" fmla="val 11628"/>
            </a:avLst>
          </a:prstGeom>
          <a:solidFill>
            <a:srgbClr val="F8FBFF"/>
          </a:solidFill>
          <a:ln w="12700">
            <a:solidFill>
              <a:srgbClr val="C5D8F0"/>
            </a:solidFill>
            <a:prstDash val="solid"/>
          </a:ln>
          <a:effectLst>
            <a:outerShdw blurRad="101600" dist="25400" dir="8100000" algn="bl" rotWithShape="0">
              <a:srgbClr val="0070CD">
                <a:alpha val="8000"/>
              </a:srgbClr>
            </a:outerShdw>
          </a:effectLst>
        </p:spPr>
      </p:sp>
      <p:sp>
        <p:nvSpPr>
          <p:cNvPr id="95" name="Text 48">
            <a:extLst>
              <a:ext uri="{FF2B5EF4-FFF2-40B4-BE49-F238E27FC236}">
                <a16:creationId xmlns:a16="http://schemas.microsoft.com/office/drawing/2014/main" id="{9A38ABA9-4483-B08F-C97B-7CD8AA7FEB7C}"/>
              </a:ext>
            </a:extLst>
          </p:cNvPr>
          <p:cNvSpPr/>
          <p:nvPr/>
        </p:nvSpPr>
        <p:spPr>
          <a:xfrm>
            <a:off x="548640" y="5138928"/>
            <a:ext cx="1097280" cy="237744"/>
          </a:xfrm>
          <a:prstGeom prst="rect">
            <a:avLst/>
          </a:prstGeom>
          <a:noFill/>
          <a:ln/>
        </p:spPr>
        <p:txBody>
          <a:bodyPr wrap="square" lIns="0" tIns="0" rIns="0" bIns="0" rtlCol="0" anchor="ctr"/>
          <a:lstStyle/>
          <a:p>
            <a:pPr marL="0" indent="0">
              <a:buNone/>
            </a:pPr>
            <a:r>
              <a:rPr lang="en-US" sz="950" b="1">
                <a:solidFill>
                  <a:srgbClr val="0D1B3E"/>
                </a:solidFill>
                <a:latin typeface="Calibri" pitchFamily="34" charset="0"/>
                <a:ea typeface="Calibri" pitchFamily="34" charset="-122"/>
                <a:cs typeface="Calibri" pitchFamily="34" charset="-120"/>
              </a:rPr>
              <a:t>API Access:</a:t>
            </a:r>
            <a:endParaRPr lang="en-US" sz="950"/>
          </a:p>
        </p:txBody>
      </p:sp>
      <p:sp>
        <p:nvSpPr>
          <p:cNvPr id="97" name="Shape 49">
            <a:extLst>
              <a:ext uri="{FF2B5EF4-FFF2-40B4-BE49-F238E27FC236}">
                <a16:creationId xmlns:a16="http://schemas.microsoft.com/office/drawing/2014/main" id="{99104BE6-6F49-BA73-5129-8B0B676B6CE5}"/>
              </a:ext>
            </a:extLst>
          </p:cNvPr>
          <p:cNvSpPr/>
          <p:nvPr/>
        </p:nvSpPr>
        <p:spPr>
          <a:xfrm>
            <a:off x="1719072" y="5138928"/>
            <a:ext cx="1522476" cy="237744"/>
          </a:xfrm>
          <a:prstGeom prst="roundRect">
            <a:avLst>
              <a:gd name="adj" fmla="val 19231"/>
            </a:avLst>
          </a:prstGeom>
          <a:ln/>
        </p:spPr>
        <p:style>
          <a:lnRef idx="2">
            <a:schemeClr val="dk1"/>
          </a:lnRef>
          <a:fillRef idx="1">
            <a:schemeClr val="lt1"/>
          </a:fillRef>
          <a:effectRef idx="0">
            <a:schemeClr val="dk1"/>
          </a:effectRef>
          <a:fontRef idx="minor">
            <a:schemeClr val="dk1"/>
          </a:fontRef>
        </p:style>
      </p:sp>
      <p:sp>
        <p:nvSpPr>
          <p:cNvPr id="99" name="Text 50">
            <a:extLst>
              <a:ext uri="{FF2B5EF4-FFF2-40B4-BE49-F238E27FC236}">
                <a16:creationId xmlns:a16="http://schemas.microsoft.com/office/drawing/2014/main" id="{D3846B49-6AD1-D19B-5ED6-659DD7363695}"/>
              </a:ext>
            </a:extLst>
          </p:cNvPr>
          <p:cNvSpPr/>
          <p:nvPr/>
        </p:nvSpPr>
        <p:spPr>
          <a:xfrm>
            <a:off x="1717012" y="5136869"/>
            <a:ext cx="1522476" cy="237744"/>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050" b="1">
                <a:solidFill>
                  <a:srgbClr val="215E99"/>
                </a:solidFill>
                <a:latin typeface="Consolas" pitchFamily="34" charset="0"/>
                <a:ea typeface="Consolas" pitchFamily="34" charset="-122"/>
                <a:cs typeface="Consolas" pitchFamily="34" charset="-120"/>
              </a:rPr>
              <a:t>POST /v1/messages</a:t>
            </a:r>
            <a:endParaRPr lang="en-US" sz="1050" b="1">
              <a:solidFill>
                <a:srgbClr val="215E99"/>
              </a:solidFill>
            </a:endParaRPr>
          </a:p>
        </p:txBody>
      </p:sp>
      <p:sp>
        <p:nvSpPr>
          <p:cNvPr id="101" name="Shape 51">
            <a:extLst>
              <a:ext uri="{FF2B5EF4-FFF2-40B4-BE49-F238E27FC236}">
                <a16:creationId xmlns:a16="http://schemas.microsoft.com/office/drawing/2014/main" id="{206EDCAF-B02C-B112-C046-5645EC2FFFEB}"/>
              </a:ext>
            </a:extLst>
          </p:cNvPr>
          <p:cNvSpPr/>
          <p:nvPr/>
        </p:nvSpPr>
        <p:spPr>
          <a:xfrm>
            <a:off x="3406140" y="5138928"/>
            <a:ext cx="2221992" cy="237744"/>
          </a:xfrm>
          <a:prstGeom prst="roundRect">
            <a:avLst>
              <a:gd name="adj" fmla="val 19231"/>
            </a:avLst>
          </a:prstGeom>
          <a:ln/>
        </p:spPr>
        <p:style>
          <a:lnRef idx="2">
            <a:schemeClr val="dk1"/>
          </a:lnRef>
          <a:fillRef idx="1">
            <a:schemeClr val="lt1"/>
          </a:fillRef>
          <a:effectRef idx="0">
            <a:schemeClr val="dk1"/>
          </a:effectRef>
          <a:fontRef idx="minor">
            <a:schemeClr val="dk1"/>
          </a:fontRef>
        </p:style>
      </p:sp>
      <p:sp>
        <p:nvSpPr>
          <p:cNvPr id="103" name="Text 52">
            <a:extLst>
              <a:ext uri="{FF2B5EF4-FFF2-40B4-BE49-F238E27FC236}">
                <a16:creationId xmlns:a16="http://schemas.microsoft.com/office/drawing/2014/main" id="{6FB4C6BC-7421-0A10-C803-2C137F01B2F6}"/>
              </a:ext>
            </a:extLst>
          </p:cNvPr>
          <p:cNvSpPr/>
          <p:nvPr/>
        </p:nvSpPr>
        <p:spPr>
          <a:xfrm>
            <a:off x="3404081" y="5136869"/>
            <a:ext cx="2221992" cy="237744"/>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050" b="1">
                <a:solidFill>
                  <a:srgbClr val="215E99"/>
                </a:solidFill>
                <a:latin typeface="Consolas" pitchFamily="34" charset="0"/>
                <a:ea typeface="Consolas" pitchFamily="34" charset="-122"/>
                <a:cs typeface="Consolas" pitchFamily="34" charset="-120"/>
              </a:rPr>
              <a:t>"model": "claude-opus-4-6"</a:t>
            </a:r>
            <a:endParaRPr lang="en-US" sz="1050" b="1">
              <a:solidFill>
                <a:srgbClr val="215E99"/>
              </a:solidFill>
            </a:endParaRPr>
          </a:p>
        </p:txBody>
      </p:sp>
      <p:sp>
        <p:nvSpPr>
          <p:cNvPr id="105" name="Shape 53">
            <a:extLst>
              <a:ext uri="{FF2B5EF4-FFF2-40B4-BE49-F238E27FC236}">
                <a16:creationId xmlns:a16="http://schemas.microsoft.com/office/drawing/2014/main" id="{1DDCCBC4-A0B8-293D-1942-0EF5E45A2C92}"/>
              </a:ext>
            </a:extLst>
          </p:cNvPr>
          <p:cNvSpPr/>
          <p:nvPr/>
        </p:nvSpPr>
        <p:spPr>
          <a:xfrm>
            <a:off x="5792724" y="5138928"/>
            <a:ext cx="1600200" cy="237744"/>
          </a:xfrm>
          <a:prstGeom prst="roundRect">
            <a:avLst>
              <a:gd name="adj" fmla="val 19231"/>
            </a:avLst>
          </a:prstGeom>
          <a:ln/>
        </p:spPr>
        <p:style>
          <a:lnRef idx="2">
            <a:schemeClr val="dk1"/>
          </a:lnRef>
          <a:fillRef idx="1">
            <a:schemeClr val="lt1"/>
          </a:fillRef>
          <a:effectRef idx="0">
            <a:schemeClr val="dk1"/>
          </a:effectRef>
          <a:fontRef idx="minor">
            <a:schemeClr val="dk1"/>
          </a:fontRef>
        </p:style>
      </p:sp>
      <p:sp>
        <p:nvSpPr>
          <p:cNvPr id="107" name="Text 54">
            <a:extLst>
              <a:ext uri="{FF2B5EF4-FFF2-40B4-BE49-F238E27FC236}">
                <a16:creationId xmlns:a16="http://schemas.microsoft.com/office/drawing/2014/main" id="{9D14AF0D-A631-87AC-0DA0-AC771A9E4089}"/>
              </a:ext>
            </a:extLst>
          </p:cNvPr>
          <p:cNvSpPr/>
          <p:nvPr/>
        </p:nvSpPr>
        <p:spPr>
          <a:xfrm>
            <a:off x="5780367" y="5136869"/>
            <a:ext cx="1600200" cy="237744"/>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050" b="1">
                <a:solidFill>
                  <a:srgbClr val="215E99"/>
                </a:solidFill>
                <a:latin typeface="Consolas" pitchFamily="34" charset="0"/>
                <a:ea typeface="Consolas" pitchFamily="34" charset="-122"/>
                <a:cs typeface="Consolas" pitchFamily="34" charset="-120"/>
              </a:rPr>
              <a:t>"max_tokens": 1024</a:t>
            </a:r>
            <a:endParaRPr lang="en-US" sz="1050" b="1">
              <a:solidFill>
                <a:srgbClr val="215E99"/>
              </a:solidFill>
            </a:endParaRPr>
          </a:p>
        </p:txBody>
      </p:sp>
      <p:sp>
        <p:nvSpPr>
          <p:cNvPr id="109" name="Shape 55">
            <a:extLst>
              <a:ext uri="{FF2B5EF4-FFF2-40B4-BE49-F238E27FC236}">
                <a16:creationId xmlns:a16="http://schemas.microsoft.com/office/drawing/2014/main" id="{55EAC0A3-C0C4-B28D-F3DC-6396986F1305}"/>
              </a:ext>
            </a:extLst>
          </p:cNvPr>
          <p:cNvSpPr/>
          <p:nvPr/>
        </p:nvSpPr>
        <p:spPr>
          <a:xfrm>
            <a:off x="7557516" y="5138928"/>
            <a:ext cx="2921508" cy="237744"/>
          </a:xfrm>
          <a:prstGeom prst="roundRect">
            <a:avLst>
              <a:gd name="adj" fmla="val 19231"/>
            </a:avLst>
          </a:prstGeom>
          <a:ln/>
        </p:spPr>
        <p:style>
          <a:lnRef idx="2">
            <a:schemeClr val="dk1"/>
          </a:lnRef>
          <a:fillRef idx="1">
            <a:schemeClr val="lt1"/>
          </a:fillRef>
          <a:effectRef idx="0">
            <a:schemeClr val="dk1"/>
          </a:effectRef>
          <a:fontRef idx="minor">
            <a:schemeClr val="dk1"/>
          </a:fontRef>
        </p:style>
      </p:sp>
      <p:sp>
        <p:nvSpPr>
          <p:cNvPr id="111" name="Text 56">
            <a:extLst>
              <a:ext uri="{FF2B5EF4-FFF2-40B4-BE49-F238E27FC236}">
                <a16:creationId xmlns:a16="http://schemas.microsoft.com/office/drawing/2014/main" id="{6A841E6B-DB63-D159-728B-97F325301A27}"/>
              </a:ext>
            </a:extLst>
          </p:cNvPr>
          <p:cNvSpPr/>
          <p:nvPr/>
        </p:nvSpPr>
        <p:spPr>
          <a:xfrm>
            <a:off x="7555457" y="5136869"/>
            <a:ext cx="2921508" cy="237744"/>
          </a:xfrm>
          <a:prstGeom prst="rect">
            <a:avLst/>
          </a:prstGeom>
          <a:ln/>
        </p:spPr>
        <p:style>
          <a:lnRef idx="2">
            <a:schemeClr val="dk1"/>
          </a:lnRef>
          <a:fillRef idx="1">
            <a:schemeClr val="lt1"/>
          </a:fillRef>
          <a:effectRef idx="0">
            <a:schemeClr val="dk1"/>
          </a:effectRef>
          <a:fontRef idx="minor">
            <a:schemeClr val="dk1"/>
          </a:fontRef>
        </p:style>
        <p:txBody>
          <a:bodyPr wrap="square" lIns="0" tIns="0" rIns="0" bIns="0" rtlCol="0" anchor="ctr"/>
          <a:lstStyle/>
          <a:p>
            <a:pPr marL="0" indent="0" algn="ctr">
              <a:buNone/>
            </a:pPr>
            <a:r>
              <a:rPr lang="en-US" sz="1050" b="1">
                <a:solidFill>
                  <a:srgbClr val="215E99"/>
                </a:solidFill>
                <a:latin typeface="Consolas" pitchFamily="34" charset="0"/>
                <a:ea typeface="Consolas" pitchFamily="34" charset="-122"/>
                <a:cs typeface="Consolas" pitchFamily="34" charset="-120"/>
              </a:rPr>
              <a:t>"messages": [{"role": "user", ...}]</a:t>
            </a:r>
            <a:endParaRPr lang="en-US" sz="1050" b="1">
              <a:solidFill>
                <a:srgbClr val="215E99"/>
              </a:solidFill>
            </a:endParaRPr>
          </a:p>
        </p:txBody>
      </p:sp>
      <p:sp>
        <p:nvSpPr>
          <p:cNvPr id="113" name="Text 57">
            <a:extLst>
              <a:ext uri="{FF2B5EF4-FFF2-40B4-BE49-F238E27FC236}">
                <a16:creationId xmlns:a16="http://schemas.microsoft.com/office/drawing/2014/main" id="{D21577F9-7ED1-0CA9-4454-64F0F7BFCE89}"/>
              </a:ext>
            </a:extLst>
          </p:cNvPr>
          <p:cNvSpPr/>
          <p:nvPr/>
        </p:nvSpPr>
        <p:spPr>
          <a:xfrm>
            <a:off x="651613" y="5528825"/>
            <a:ext cx="11155680" cy="310896"/>
          </a:xfrm>
          <a:prstGeom prst="rect">
            <a:avLst/>
          </a:prstGeom>
          <a:noFill/>
          <a:ln/>
        </p:spPr>
        <p:txBody>
          <a:bodyPr wrap="square" lIns="0" tIns="0" rIns="0" bIns="0" rtlCol="0" anchor="ctr"/>
          <a:lstStyle/>
          <a:p>
            <a:pPr marL="0" indent="0">
              <a:buNone/>
            </a:pPr>
            <a:r>
              <a:rPr lang="en-US" sz="900">
                <a:solidFill>
                  <a:srgbClr val="546E7A"/>
                </a:solidFill>
                <a:latin typeface="Calibri" pitchFamily="34" charset="0"/>
                <a:ea typeface="Calibri" pitchFamily="34" charset="-122"/>
                <a:cs typeface="Calibri" pitchFamily="34" charset="-120"/>
              </a:rPr>
              <a:t>All Claude models share the same /v1/messages endpoint. Switch models by changing the model string — no other code changes required.</a:t>
            </a:r>
            <a:endParaRPr lang="en-US" sz="900"/>
          </a:p>
        </p:txBody>
      </p:sp>
    </p:spTree>
    <p:extLst>
      <p:ext uri="{BB962C8B-B14F-4D97-AF65-F5344CB8AC3E}">
        <p14:creationId xmlns:p14="http://schemas.microsoft.com/office/powerpoint/2010/main" val="2947208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C7FD3-A441-0632-6366-C76AF92F3066}"/>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48FDC08-29BB-E606-453D-BF3F4311DD22}"/>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A5ABECC6-3185-C049-3E43-5427831EA3D4}"/>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219B430E-7504-55CA-DC63-910209B5053A}"/>
              </a:ext>
            </a:extLst>
          </p:cNvPr>
          <p:cNvSpPr/>
          <p:nvPr/>
        </p:nvSpPr>
        <p:spPr>
          <a:xfrm>
            <a:off x="356263" y="216717"/>
            <a:ext cx="9875520" cy="658368"/>
          </a:xfrm>
          <a:prstGeom prst="rect">
            <a:avLst/>
          </a:prstGeom>
          <a:noFill/>
          <a:ln/>
        </p:spPr>
        <p:txBody>
          <a:bodyPr wrap="square" lIns="0" tIns="0" rIns="0" bIns="0" rtlCol="0" anchor="ctr"/>
          <a:lstStyle/>
          <a:p>
            <a:pPr marL="0" indent="0">
              <a:buNone/>
            </a:pPr>
            <a:r>
              <a:rPr lang="en-US" sz="2800" b="1">
                <a:solidFill>
                  <a:schemeClr val="tx2">
                    <a:lumMod val="76000"/>
                    <a:lumOff val="24000"/>
                  </a:schemeClr>
                </a:solidFill>
                <a:latin typeface="Calibri"/>
                <a:ea typeface="Calibri"/>
                <a:cs typeface="Calibri"/>
              </a:rPr>
              <a:t>Prompt Engineering — Writing Prompts That Work</a:t>
            </a:r>
            <a:endParaRPr lang="en-US" sz="2800">
              <a:solidFill>
                <a:schemeClr val="tx2">
                  <a:lumMod val="76000"/>
                  <a:lumOff val="24000"/>
                </a:schemeClr>
              </a:solidFill>
              <a:latin typeface="Calibri"/>
              <a:ea typeface="Calibri"/>
              <a:cs typeface="Calibri"/>
            </a:endParaRPr>
          </a:p>
        </p:txBody>
      </p:sp>
      <p:sp>
        <p:nvSpPr>
          <p:cNvPr id="6" name="Text 3">
            <a:extLst>
              <a:ext uri="{FF2B5EF4-FFF2-40B4-BE49-F238E27FC236}">
                <a16:creationId xmlns:a16="http://schemas.microsoft.com/office/drawing/2014/main" id="{7B50C157-3DA2-75AE-28BA-69C2902F4FCE}"/>
              </a:ext>
            </a:extLst>
          </p:cNvPr>
          <p:cNvSpPr/>
          <p:nvPr/>
        </p:nvSpPr>
        <p:spPr>
          <a:xfrm>
            <a:off x="356263" y="655299"/>
            <a:ext cx="9144000" cy="292608"/>
          </a:xfrm>
          <a:prstGeom prst="rect">
            <a:avLst/>
          </a:prstGeom>
          <a:noFill/>
          <a:ln/>
        </p:spPr>
        <p:txBody>
          <a:bodyPr wrap="square" lIns="0" tIns="0" rIns="0" bIns="0" rtlCol="0" anchor="ctr"/>
          <a:lstStyle/>
          <a:p>
            <a:pPr marL="0" indent="0">
              <a:buNone/>
            </a:pPr>
            <a:r>
              <a:rPr lang="en-US" sz="1050" i="1">
                <a:solidFill>
                  <a:srgbClr val="2D4A6B"/>
                </a:solidFill>
                <a:latin typeface="Calibri" pitchFamily="34" charset="0"/>
                <a:ea typeface="Calibri" pitchFamily="34" charset="-122"/>
                <a:cs typeface="Calibri" pitchFamily="34" charset="-120"/>
              </a:rPr>
              <a:t>Techniques to get precise, consistent, high-quality outputs from Claude</a:t>
            </a:r>
            <a:endParaRPr lang="en-US" sz="1050"/>
          </a:p>
        </p:txBody>
      </p:sp>
      <p:sp>
        <p:nvSpPr>
          <p:cNvPr id="8" name="Shape 5">
            <a:extLst>
              <a:ext uri="{FF2B5EF4-FFF2-40B4-BE49-F238E27FC236}">
                <a16:creationId xmlns:a16="http://schemas.microsoft.com/office/drawing/2014/main" id="{A5B74693-33D0-1733-1491-7DA6926BF7CA}"/>
              </a:ext>
            </a:extLst>
          </p:cNvPr>
          <p:cNvSpPr/>
          <p:nvPr/>
        </p:nvSpPr>
        <p:spPr>
          <a:xfrm>
            <a:off x="365760" y="1188720"/>
            <a:ext cx="3749040" cy="2176272"/>
          </a:xfrm>
          <a:prstGeom prst="roundRect">
            <a:avLst>
              <a:gd name="adj" fmla="val 4202"/>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10" name="Shape 6">
            <a:extLst>
              <a:ext uri="{FF2B5EF4-FFF2-40B4-BE49-F238E27FC236}">
                <a16:creationId xmlns:a16="http://schemas.microsoft.com/office/drawing/2014/main" id="{C09BA6BD-A54A-287F-30F1-E9D620C9B653}"/>
              </a:ext>
            </a:extLst>
          </p:cNvPr>
          <p:cNvSpPr/>
          <p:nvPr/>
        </p:nvSpPr>
        <p:spPr>
          <a:xfrm>
            <a:off x="365760" y="1188720"/>
            <a:ext cx="3749040" cy="475488"/>
          </a:xfrm>
          <a:prstGeom prst="roundRect">
            <a:avLst>
              <a:gd name="adj" fmla="val 19231"/>
            </a:avLst>
          </a:prstGeom>
          <a:solidFill>
            <a:srgbClr val="1565C0"/>
          </a:solidFill>
          <a:ln w="12700">
            <a:solidFill>
              <a:srgbClr val="1565C0"/>
            </a:solidFill>
            <a:prstDash val="solid"/>
          </a:ln>
        </p:spPr>
      </p:sp>
      <p:sp>
        <p:nvSpPr>
          <p:cNvPr id="12" name="Text 7">
            <a:extLst>
              <a:ext uri="{FF2B5EF4-FFF2-40B4-BE49-F238E27FC236}">
                <a16:creationId xmlns:a16="http://schemas.microsoft.com/office/drawing/2014/main" id="{ECDDC48D-B6B5-3B6B-0DAB-FBB65FF70FFC}"/>
              </a:ext>
            </a:extLst>
          </p:cNvPr>
          <p:cNvSpPr/>
          <p:nvPr/>
        </p:nvSpPr>
        <p:spPr>
          <a:xfrm>
            <a:off x="475488" y="1261872"/>
            <a:ext cx="356616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Be Specific &amp; Contextual</a:t>
            </a:r>
            <a:endParaRPr lang="en-US" sz="1100"/>
          </a:p>
        </p:txBody>
      </p:sp>
      <p:sp>
        <p:nvSpPr>
          <p:cNvPr id="14" name="Text 8">
            <a:extLst>
              <a:ext uri="{FF2B5EF4-FFF2-40B4-BE49-F238E27FC236}">
                <a16:creationId xmlns:a16="http://schemas.microsoft.com/office/drawing/2014/main" id="{413D08F5-7EBE-959B-92CB-5366A3B65AE2}"/>
              </a:ext>
            </a:extLst>
          </p:cNvPr>
          <p:cNvSpPr/>
          <p:nvPr/>
        </p:nvSpPr>
        <p:spPr>
          <a:xfrm>
            <a:off x="493776" y="1719072"/>
            <a:ext cx="3511296" cy="1024128"/>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Tell Claude exactly what you need, who it's for, and what format to use. Vague prompts produce vague answers. Include relevant context even if it seems obvious.</a:t>
            </a:r>
            <a:endParaRPr lang="en-US" sz="950"/>
          </a:p>
        </p:txBody>
      </p:sp>
      <p:sp>
        <p:nvSpPr>
          <p:cNvPr id="16" name="Text 10">
            <a:extLst>
              <a:ext uri="{FF2B5EF4-FFF2-40B4-BE49-F238E27FC236}">
                <a16:creationId xmlns:a16="http://schemas.microsoft.com/office/drawing/2014/main" id="{3516E078-33AC-D2F3-4434-51E152229937}"/>
              </a:ext>
            </a:extLst>
          </p:cNvPr>
          <p:cNvSpPr/>
          <p:nvPr/>
        </p:nvSpPr>
        <p:spPr>
          <a:xfrm>
            <a:off x="476560" y="2777469"/>
            <a:ext cx="3419856" cy="457200"/>
          </a:xfrm>
          <a:prstGeom prst="rect">
            <a:avLst/>
          </a:prstGeom>
          <a:noFill/>
          <a:ln>
            <a:solidFill>
              <a:schemeClr val="tx2">
                <a:lumMod val="50000"/>
                <a:lumOff val="50000"/>
              </a:schemeClr>
            </a:solidFill>
          </a:ln>
        </p:spPr>
        <p:style>
          <a:lnRef idx="1">
            <a:schemeClr val="accent4"/>
          </a:lnRef>
          <a:fillRef idx="2">
            <a:schemeClr val="accent4"/>
          </a:fillRef>
          <a:effectRef idx="1">
            <a:schemeClr val="accent4"/>
          </a:effectRef>
          <a:fontRef idx="minor">
            <a:schemeClr val="dk1"/>
          </a:fontRef>
        </p:style>
        <p:txBody>
          <a:bodyPr wrap="square" lIns="0" tIns="0" rIns="0" bIns="0" rtlCol="0" anchor="ctr"/>
          <a:lstStyle/>
          <a:p>
            <a:pPr marL="0" indent="0">
              <a:lnSpc>
                <a:spcPct val="120000"/>
              </a:lnSpc>
              <a:buNone/>
            </a:pPr>
            <a:r>
              <a:rPr lang="en-US" sz="900" b="1">
                <a:solidFill>
                  <a:srgbClr val="215E99"/>
                </a:solidFill>
                <a:latin typeface="Consolas"/>
                <a:ea typeface="Consolas" pitchFamily="34" charset="-122"/>
                <a:cs typeface="Consolas" pitchFamily="34" charset="-120"/>
              </a:rPr>
              <a:t>"Summarize this legal clause in 2 sentences for a non-lawyer audience"</a:t>
            </a:r>
            <a:endParaRPr lang="en-US" sz="900" b="1">
              <a:solidFill>
                <a:srgbClr val="215E99"/>
              </a:solidFill>
              <a:latin typeface="Consolas"/>
            </a:endParaRPr>
          </a:p>
        </p:txBody>
      </p:sp>
      <p:sp>
        <p:nvSpPr>
          <p:cNvPr id="18" name="Shape 11">
            <a:extLst>
              <a:ext uri="{FF2B5EF4-FFF2-40B4-BE49-F238E27FC236}">
                <a16:creationId xmlns:a16="http://schemas.microsoft.com/office/drawing/2014/main" id="{1335B1BD-EBF5-6F83-389A-0E1D593F899F}"/>
              </a:ext>
            </a:extLst>
          </p:cNvPr>
          <p:cNvSpPr/>
          <p:nvPr/>
        </p:nvSpPr>
        <p:spPr>
          <a:xfrm>
            <a:off x="4224528" y="1188720"/>
            <a:ext cx="3749040" cy="2176272"/>
          </a:xfrm>
          <a:prstGeom prst="roundRect">
            <a:avLst>
              <a:gd name="adj" fmla="val 4202"/>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20" name="Shape 12">
            <a:extLst>
              <a:ext uri="{FF2B5EF4-FFF2-40B4-BE49-F238E27FC236}">
                <a16:creationId xmlns:a16="http://schemas.microsoft.com/office/drawing/2014/main" id="{DA7F70AD-8885-59A5-2B03-0123479BA011}"/>
              </a:ext>
            </a:extLst>
          </p:cNvPr>
          <p:cNvSpPr/>
          <p:nvPr/>
        </p:nvSpPr>
        <p:spPr>
          <a:xfrm>
            <a:off x="4224528" y="1188720"/>
            <a:ext cx="3749040" cy="475488"/>
          </a:xfrm>
          <a:prstGeom prst="roundRect">
            <a:avLst>
              <a:gd name="adj" fmla="val 19231"/>
            </a:avLst>
          </a:prstGeom>
          <a:solidFill>
            <a:srgbClr val="00897B"/>
          </a:solidFill>
          <a:ln w="12700">
            <a:solidFill>
              <a:srgbClr val="00897B"/>
            </a:solidFill>
            <a:prstDash val="solid"/>
          </a:ln>
        </p:spPr>
      </p:sp>
      <p:sp>
        <p:nvSpPr>
          <p:cNvPr id="22" name="Text 13">
            <a:extLst>
              <a:ext uri="{FF2B5EF4-FFF2-40B4-BE49-F238E27FC236}">
                <a16:creationId xmlns:a16="http://schemas.microsoft.com/office/drawing/2014/main" id="{E73BCCC5-9487-7C4F-86F4-8886BE80D905}"/>
              </a:ext>
            </a:extLst>
          </p:cNvPr>
          <p:cNvSpPr/>
          <p:nvPr/>
        </p:nvSpPr>
        <p:spPr>
          <a:xfrm>
            <a:off x="4334256" y="1261872"/>
            <a:ext cx="356616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Use XML Tags for Structure</a:t>
            </a:r>
            <a:endParaRPr lang="en-US" sz="1100"/>
          </a:p>
        </p:txBody>
      </p:sp>
      <p:sp>
        <p:nvSpPr>
          <p:cNvPr id="24" name="Text 14">
            <a:extLst>
              <a:ext uri="{FF2B5EF4-FFF2-40B4-BE49-F238E27FC236}">
                <a16:creationId xmlns:a16="http://schemas.microsoft.com/office/drawing/2014/main" id="{1D6543E5-B6BB-97A4-B827-659249B7E3C4}"/>
              </a:ext>
            </a:extLst>
          </p:cNvPr>
          <p:cNvSpPr/>
          <p:nvPr/>
        </p:nvSpPr>
        <p:spPr>
          <a:xfrm>
            <a:off x="4352544" y="1719072"/>
            <a:ext cx="3511296" cy="1024128"/>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Claude is trained on XML-heavy data. Wrapping instructions and content in tags like &lt;document&gt;, &lt;task&gt;, &lt;output&gt; dramatically improves parsing accuracy.</a:t>
            </a:r>
            <a:endParaRPr lang="en-US" sz="950"/>
          </a:p>
        </p:txBody>
      </p:sp>
      <p:sp>
        <p:nvSpPr>
          <p:cNvPr id="26" name="Text 16">
            <a:extLst>
              <a:ext uri="{FF2B5EF4-FFF2-40B4-BE49-F238E27FC236}">
                <a16:creationId xmlns:a16="http://schemas.microsoft.com/office/drawing/2014/main" id="{38D7B8FA-3DE8-BDE2-2168-7E29054AF19F}"/>
              </a:ext>
            </a:extLst>
          </p:cNvPr>
          <p:cNvSpPr/>
          <p:nvPr/>
        </p:nvSpPr>
        <p:spPr>
          <a:xfrm>
            <a:off x="4386813" y="2736281"/>
            <a:ext cx="3419856" cy="457200"/>
          </a:xfrm>
          <a:prstGeom prst="rect">
            <a:avLst/>
          </a:prstGeom>
          <a:noFill/>
          <a:ln>
            <a:solidFill>
              <a:schemeClr val="tx2">
                <a:lumMod val="25000"/>
                <a:lumOff val="75000"/>
              </a:schemeClr>
            </a:solidFill>
          </a:ln>
        </p:spPr>
        <p:style>
          <a:lnRef idx="2">
            <a:schemeClr val="accent3"/>
          </a:lnRef>
          <a:fillRef idx="1">
            <a:schemeClr val="lt1"/>
          </a:fillRef>
          <a:effectRef idx="0">
            <a:schemeClr val="accent3"/>
          </a:effectRef>
          <a:fontRef idx="minor">
            <a:schemeClr val="dk1"/>
          </a:fontRef>
        </p:style>
        <p:txBody>
          <a:bodyPr wrap="square" lIns="0" tIns="0" rIns="0" bIns="0" rtlCol="0" anchor="ctr"/>
          <a:lstStyle/>
          <a:p>
            <a:pPr marL="0" indent="0">
              <a:lnSpc>
                <a:spcPct val="120000"/>
              </a:lnSpc>
              <a:buNone/>
            </a:pPr>
            <a:r>
              <a:rPr lang="en-US" sz="900" b="1">
                <a:solidFill>
                  <a:srgbClr val="215E99"/>
                </a:solidFill>
                <a:latin typeface="Consolas" pitchFamily="34" charset="0"/>
                <a:ea typeface="Consolas" pitchFamily="34" charset="-122"/>
                <a:cs typeface="Consolas" pitchFamily="34" charset="-120"/>
              </a:rPr>
              <a:t>"&lt;document&gt;...&lt;/document&gt;\n&lt;task&gt;Extract all dates&lt;/task&gt;"</a:t>
            </a:r>
            <a:endParaRPr lang="en-US" sz="900" b="1">
              <a:solidFill>
                <a:srgbClr val="215E99"/>
              </a:solidFill>
            </a:endParaRPr>
          </a:p>
        </p:txBody>
      </p:sp>
      <p:sp>
        <p:nvSpPr>
          <p:cNvPr id="28" name="Shape 17">
            <a:extLst>
              <a:ext uri="{FF2B5EF4-FFF2-40B4-BE49-F238E27FC236}">
                <a16:creationId xmlns:a16="http://schemas.microsoft.com/office/drawing/2014/main" id="{406813C5-B2CA-CADF-702C-E6CA3CD5C1BE}"/>
              </a:ext>
            </a:extLst>
          </p:cNvPr>
          <p:cNvSpPr/>
          <p:nvPr/>
        </p:nvSpPr>
        <p:spPr>
          <a:xfrm>
            <a:off x="8083296" y="1188720"/>
            <a:ext cx="3749040" cy="2176272"/>
          </a:xfrm>
          <a:prstGeom prst="roundRect">
            <a:avLst>
              <a:gd name="adj" fmla="val 4202"/>
            </a:avLst>
          </a:prstGeom>
          <a:solidFill>
            <a:srgbClr val="EDE7F6"/>
          </a:solidFill>
          <a:ln w="12700">
            <a:solidFill>
              <a:srgbClr val="5E35B1"/>
            </a:solidFill>
            <a:prstDash val="solid"/>
          </a:ln>
          <a:effectLst>
            <a:outerShdw blurRad="101600" dist="25400" dir="8100000" algn="bl" rotWithShape="0">
              <a:srgbClr val="0070CD">
                <a:alpha val="8000"/>
              </a:srgbClr>
            </a:outerShdw>
          </a:effectLst>
        </p:spPr>
      </p:sp>
      <p:sp>
        <p:nvSpPr>
          <p:cNvPr id="30" name="Shape 18">
            <a:extLst>
              <a:ext uri="{FF2B5EF4-FFF2-40B4-BE49-F238E27FC236}">
                <a16:creationId xmlns:a16="http://schemas.microsoft.com/office/drawing/2014/main" id="{2E45DBC3-956D-DA41-E591-1B9A0A93384C}"/>
              </a:ext>
            </a:extLst>
          </p:cNvPr>
          <p:cNvSpPr/>
          <p:nvPr/>
        </p:nvSpPr>
        <p:spPr>
          <a:xfrm>
            <a:off x="8083296" y="1188720"/>
            <a:ext cx="3749040" cy="475488"/>
          </a:xfrm>
          <a:prstGeom prst="roundRect">
            <a:avLst>
              <a:gd name="adj" fmla="val 19231"/>
            </a:avLst>
          </a:prstGeom>
          <a:solidFill>
            <a:srgbClr val="5E35B1"/>
          </a:solidFill>
          <a:ln w="12700">
            <a:solidFill>
              <a:srgbClr val="5E35B1"/>
            </a:solidFill>
            <a:prstDash val="solid"/>
          </a:ln>
        </p:spPr>
      </p:sp>
      <p:sp>
        <p:nvSpPr>
          <p:cNvPr id="32" name="Text 19">
            <a:extLst>
              <a:ext uri="{FF2B5EF4-FFF2-40B4-BE49-F238E27FC236}">
                <a16:creationId xmlns:a16="http://schemas.microsoft.com/office/drawing/2014/main" id="{4C1BF12C-3346-753E-21F3-7AD4D808891F}"/>
              </a:ext>
            </a:extLst>
          </p:cNvPr>
          <p:cNvSpPr/>
          <p:nvPr/>
        </p:nvSpPr>
        <p:spPr>
          <a:xfrm>
            <a:off x="8193024" y="1261872"/>
            <a:ext cx="356616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Chain-of-Thought Reasoning</a:t>
            </a:r>
            <a:endParaRPr lang="en-US" sz="1100"/>
          </a:p>
        </p:txBody>
      </p:sp>
      <p:sp>
        <p:nvSpPr>
          <p:cNvPr id="34" name="Text 20">
            <a:extLst>
              <a:ext uri="{FF2B5EF4-FFF2-40B4-BE49-F238E27FC236}">
                <a16:creationId xmlns:a16="http://schemas.microsoft.com/office/drawing/2014/main" id="{D9A62A1A-1ECE-39F6-585E-765E1B1592BA}"/>
              </a:ext>
            </a:extLst>
          </p:cNvPr>
          <p:cNvSpPr/>
          <p:nvPr/>
        </p:nvSpPr>
        <p:spPr>
          <a:xfrm>
            <a:off x="8211312" y="1719072"/>
            <a:ext cx="3511296" cy="1024128"/>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Asking Claude to "think step by step" or "reason before answering" activates deeper deliberation, reducing errors on math, logic, and multi-step tasks.</a:t>
            </a:r>
            <a:endParaRPr lang="en-US" sz="950"/>
          </a:p>
        </p:txBody>
      </p:sp>
      <p:sp>
        <p:nvSpPr>
          <p:cNvPr id="36" name="Text 22">
            <a:extLst>
              <a:ext uri="{FF2B5EF4-FFF2-40B4-BE49-F238E27FC236}">
                <a16:creationId xmlns:a16="http://schemas.microsoft.com/office/drawing/2014/main" id="{52116375-16D1-9FE2-8A76-75B9773D08C4}"/>
              </a:ext>
            </a:extLst>
          </p:cNvPr>
          <p:cNvSpPr/>
          <p:nvPr/>
        </p:nvSpPr>
        <p:spPr>
          <a:xfrm>
            <a:off x="8245581" y="2736281"/>
            <a:ext cx="3419856" cy="457200"/>
          </a:xfrm>
          <a:prstGeom prst="rect">
            <a:avLst/>
          </a:prstGeom>
          <a:noFill/>
          <a:ln>
            <a:solidFill>
              <a:schemeClr val="tx2">
                <a:lumMod val="25000"/>
                <a:lumOff val="75000"/>
              </a:schemeClr>
            </a:solidFill>
          </a:ln>
        </p:spPr>
        <p:style>
          <a:lnRef idx="2">
            <a:schemeClr val="accent3"/>
          </a:lnRef>
          <a:fillRef idx="1">
            <a:schemeClr val="lt1"/>
          </a:fillRef>
          <a:effectRef idx="0">
            <a:schemeClr val="accent3"/>
          </a:effectRef>
          <a:fontRef idx="minor">
            <a:schemeClr val="dk1"/>
          </a:fontRef>
        </p:style>
        <p:txBody>
          <a:bodyPr wrap="square" lIns="0" tIns="0" rIns="0" bIns="0" rtlCol="0" anchor="ctr"/>
          <a:lstStyle/>
          <a:p>
            <a:pPr marL="0" indent="0">
              <a:lnSpc>
                <a:spcPct val="120000"/>
              </a:lnSpc>
              <a:buNone/>
            </a:pPr>
            <a:r>
              <a:rPr lang="en-US" sz="900" b="1">
                <a:solidFill>
                  <a:srgbClr val="215E99"/>
                </a:solidFill>
                <a:latin typeface="Consolas" pitchFamily="34" charset="0"/>
                <a:ea typeface="Consolas" pitchFamily="34" charset="-122"/>
                <a:cs typeface="Consolas" pitchFamily="34" charset="-120"/>
              </a:rPr>
              <a:t>"Before answering, reason through each step inside &lt;thinking&gt; tags"</a:t>
            </a:r>
            <a:endParaRPr lang="en-US" sz="900" b="1">
              <a:solidFill>
                <a:srgbClr val="215E99"/>
              </a:solidFill>
            </a:endParaRPr>
          </a:p>
        </p:txBody>
      </p:sp>
      <p:sp>
        <p:nvSpPr>
          <p:cNvPr id="38" name="Shape 23">
            <a:extLst>
              <a:ext uri="{FF2B5EF4-FFF2-40B4-BE49-F238E27FC236}">
                <a16:creationId xmlns:a16="http://schemas.microsoft.com/office/drawing/2014/main" id="{1C3CD309-ACF6-16D4-02FF-2A9274539DD5}"/>
              </a:ext>
            </a:extLst>
          </p:cNvPr>
          <p:cNvSpPr/>
          <p:nvPr/>
        </p:nvSpPr>
        <p:spPr>
          <a:xfrm>
            <a:off x="365760" y="3456432"/>
            <a:ext cx="3749040" cy="2176272"/>
          </a:xfrm>
          <a:prstGeom prst="roundRect">
            <a:avLst>
              <a:gd name="adj" fmla="val 4202"/>
            </a:avLst>
          </a:prstGeom>
          <a:solidFill>
            <a:srgbClr val="FFF8E1"/>
          </a:solidFill>
          <a:ln w="12700">
            <a:solidFill>
              <a:srgbClr val="F57F17"/>
            </a:solidFill>
            <a:prstDash val="solid"/>
          </a:ln>
          <a:effectLst>
            <a:outerShdw blurRad="101600" dist="25400" dir="8100000" algn="bl" rotWithShape="0">
              <a:srgbClr val="0070CD">
                <a:alpha val="8000"/>
              </a:srgbClr>
            </a:outerShdw>
          </a:effectLst>
        </p:spPr>
      </p:sp>
      <p:sp>
        <p:nvSpPr>
          <p:cNvPr id="40" name="Shape 24">
            <a:extLst>
              <a:ext uri="{FF2B5EF4-FFF2-40B4-BE49-F238E27FC236}">
                <a16:creationId xmlns:a16="http://schemas.microsoft.com/office/drawing/2014/main" id="{B84040AD-302D-8739-8AB3-87FAB22775BC}"/>
              </a:ext>
            </a:extLst>
          </p:cNvPr>
          <p:cNvSpPr/>
          <p:nvPr/>
        </p:nvSpPr>
        <p:spPr>
          <a:xfrm>
            <a:off x="365760" y="3456432"/>
            <a:ext cx="3749040" cy="475488"/>
          </a:xfrm>
          <a:prstGeom prst="roundRect">
            <a:avLst>
              <a:gd name="adj" fmla="val 19231"/>
            </a:avLst>
          </a:prstGeom>
          <a:solidFill>
            <a:srgbClr val="F57F17"/>
          </a:solidFill>
          <a:ln w="12700">
            <a:solidFill>
              <a:srgbClr val="F57F17"/>
            </a:solidFill>
            <a:prstDash val="solid"/>
          </a:ln>
        </p:spPr>
      </p:sp>
      <p:sp>
        <p:nvSpPr>
          <p:cNvPr id="42" name="Text 25">
            <a:extLst>
              <a:ext uri="{FF2B5EF4-FFF2-40B4-BE49-F238E27FC236}">
                <a16:creationId xmlns:a16="http://schemas.microsoft.com/office/drawing/2014/main" id="{F67852C2-82A3-9B3B-698D-A0ECCD045F7D}"/>
              </a:ext>
            </a:extLst>
          </p:cNvPr>
          <p:cNvSpPr/>
          <p:nvPr/>
        </p:nvSpPr>
        <p:spPr>
          <a:xfrm>
            <a:off x="475488" y="3529584"/>
            <a:ext cx="356616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Positive + Negative Examples</a:t>
            </a:r>
            <a:endParaRPr lang="en-US" sz="1100"/>
          </a:p>
        </p:txBody>
      </p:sp>
      <p:sp>
        <p:nvSpPr>
          <p:cNvPr id="44" name="Text 26">
            <a:extLst>
              <a:ext uri="{FF2B5EF4-FFF2-40B4-BE49-F238E27FC236}">
                <a16:creationId xmlns:a16="http://schemas.microsoft.com/office/drawing/2014/main" id="{A208423B-A6C7-02A6-3770-27E4BC1F0833}"/>
              </a:ext>
            </a:extLst>
          </p:cNvPr>
          <p:cNvSpPr/>
          <p:nvPr/>
        </p:nvSpPr>
        <p:spPr>
          <a:xfrm>
            <a:off x="493776" y="3986784"/>
            <a:ext cx="3511296" cy="1024128"/>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Show Claude what good output looks like AND what to avoid. Few-shot examples (2–5) are more effective than lengthy instructions for format and tone.</a:t>
            </a:r>
            <a:endParaRPr lang="en-US" sz="950"/>
          </a:p>
        </p:txBody>
      </p:sp>
      <p:sp>
        <p:nvSpPr>
          <p:cNvPr id="46" name="Text 28">
            <a:extLst>
              <a:ext uri="{FF2B5EF4-FFF2-40B4-BE49-F238E27FC236}">
                <a16:creationId xmlns:a16="http://schemas.microsoft.com/office/drawing/2014/main" id="{F7A09897-6B00-AE66-4A00-E5E6A83FCA0D}"/>
              </a:ext>
            </a:extLst>
          </p:cNvPr>
          <p:cNvSpPr/>
          <p:nvPr/>
        </p:nvSpPr>
        <p:spPr>
          <a:xfrm>
            <a:off x="548640" y="5014289"/>
            <a:ext cx="3419856" cy="457200"/>
          </a:xfrm>
          <a:prstGeom prst="rect">
            <a:avLst/>
          </a:prstGeom>
          <a:noFill/>
          <a:ln>
            <a:solidFill>
              <a:schemeClr val="tx2">
                <a:lumMod val="25000"/>
                <a:lumOff val="75000"/>
              </a:schemeClr>
            </a:solidFill>
          </a:ln>
        </p:spPr>
        <p:style>
          <a:lnRef idx="2">
            <a:schemeClr val="accent3"/>
          </a:lnRef>
          <a:fillRef idx="1">
            <a:schemeClr val="lt1"/>
          </a:fillRef>
          <a:effectRef idx="0">
            <a:schemeClr val="accent3"/>
          </a:effectRef>
          <a:fontRef idx="minor">
            <a:schemeClr val="dk1"/>
          </a:fontRef>
        </p:style>
        <p:txBody>
          <a:bodyPr wrap="square" lIns="0" tIns="0" rIns="0" bIns="0" rtlCol="0" anchor="ctr"/>
          <a:lstStyle/>
          <a:p>
            <a:pPr marL="0" indent="0">
              <a:lnSpc>
                <a:spcPct val="120000"/>
              </a:lnSpc>
              <a:buNone/>
            </a:pPr>
            <a:r>
              <a:rPr lang="en-US" sz="900" b="1">
                <a:solidFill>
                  <a:srgbClr val="215E99"/>
                </a:solidFill>
                <a:latin typeface="Consolas" pitchFamily="34" charset="0"/>
                <a:ea typeface="Consolas" pitchFamily="34" charset="-122"/>
                <a:cs typeface="Consolas" pitchFamily="34" charset="-120"/>
              </a:rPr>
              <a:t>"Good example: X. Bad example: Y. Now write one like the good example."</a:t>
            </a:r>
            <a:endParaRPr lang="en-US" sz="900" b="1">
              <a:solidFill>
                <a:srgbClr val="215E99"/>
              </a:solidFill>
            </a:endParaRPr>
          </a:p>
        </p:txBody>
      </p:sp>
      <p:sp>
        <p:nvSpPr>
          <p:cNvPr id="48" name="Shape 29">
            <a:extLst>
              <a:ext uri="{FF2B5EF4-FFF2-40B4-BE49-F238E27FC236}">
                <a16:creationId xmlns:a16="http://schemas.microsoft.com/office/drawing/2014/main" id="{E3AE0092-68FC-E6DD-AB88-FC71CDF6D819}"/>
              </a:ext>
            </a:extLst>
          </p:cNvPr>
          <p:cNvSpPr/>
          <p:nvPr/>
        </p:nvSpPr>
        <p:spPr>
          <a:xfrm>
            <a:off x="4224528" y="3456432"/>
            <a:ext cx="3749040" cy="2176272"/>
          </a:xfrm>
          <a:prstGeom prst="roundRect">
            <a:avLst>
              <a:gd name="adj" fmla="val 4202"/>
            </a:avLst>
          </a:prstGeom>
          <a:solidFill>
            <a:srgbClr val="E8F5E9"/>
          </a:solidFill>
          <a:ln w="12700">
            <a:solidFill>
              <a:srgbClr val="2E7D32"/>
            </a:solidFill>
            <a:prstDash val="solid"/>
          </a:ln>
          <a:effectLst>
            <a:outerShdw blurRad="101600" dist="25400" dir="8100000" algn="bl" rotWithShape="0">
              <a:srgbClr val="0070CD">
                <a:alpha val="8000"/>
              </a:srgbClr>
            </a:outerShdw>
          </a:effectLst>
        </p:spPr>
      </p:sp>
      <p:sp>
        <p:nvSpPr>
          <p:cNvPr id="50" name="Shape 30">
            <a:extLst>
              <a:ext uri="{FF2B5EF4-FFF2-40B4-BE49-F238E27FC236}">
                <a16:creationId xmlns:a16="http://schemas.microsoft.com/office/drawing/2014/main" id="{DF0E00E3-BF61-0D35-011D-E58189E97C3F}"/>
              </a:ext>
            </a:extLst>
          </p:cNvPr>
          <p:cNvSpPr/>
          <p:nvPr/>
        </p:nvSpPr>
        <p:spPr>
          <a:xfrm>
            <a:off x="4224528" y="3456432"/>
            <a:ext cx="3749040" cy="475488"/>
          </a:xfrm>
          <a:prstGeom prst="roundRect">
            <a:avLst>
              <a:gd name="adj" fmla="val 19231"/>
            </a:avLst>
          </a:prstGeom>
          <a:solidFill>
            <a:srgbClr val="2E7D32"/>
          </a:solidFill>
          <a:ln w="12700">
            <a:solidFill>
              <a:srgbClr val="2E7D32"/>
            </a:solidFill>
            <a:prstDash val="solid"/>
          </a:ln>
        </p:spPr>
      </p:sp>
      <p:sp>
        <p:nvSpPr>
          <p:cNvPr id="52" name="Text 31">
            <a:extLst>
              <a:ext uri="{FF2B5EF4-FFF2-40B4-BE49-F238E27FC236}">
                <a16:creationId xmlns:a16="http://schemas.microsoft.com/office/drawing/2014/main" id="{00904C50-A5D0-86D1-023F-C434167ED046}"/>
              </a:ext>
            </a:extLst>
          </p:cNvPr>
          <p:cNvSpPr/>
          <p:nvPr/>
        </p:nvSpPr>
        <p:spPr>
          <a:xfrm>
            <a:off x="4334256" y="3529584"/>
            <a:ext cx="356616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Role &amp; Persona Assignment</a:t>
            </a:r>
            <a:endParaRPr lang="en-US" sz="1100"/>
          </a:p>
        </p:txBody>
      </p:sp>
      <p:sp>
        <p:nvSpPr>
          <p:cNvPr id="54" name="Text 32">
            <a:extLst>
              <a:ext uri="{FF2B5EF4-FFF2-40B4-BE49-F238E27FC236}">
                <a16:creationId xmlns:a16="http://schemas.microsoft.com/office/drawing/2014/main" id="{5775A6B5-181D-C0A6-6041-AB25F4F72584}"/>
              </a:ext>
            </a:extLst>
          </p:cNvPr>
          <p:cNvSpPr/>
          <p:nvPr/>
        </p:nvSpPr>
        <p:spPr>
          <a:xfrm>
            <a:off x="4352544" y="3986784"/>
            <a:ext cx="3511296" cy="1024128"/>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Claude responds differently when given a clear role. "You are a senior data engineer" shifts vocabulary, assumptions, and code style compared to a generic prompt.</a:t>
            </a:r>
            <a:endParaRPr lang="en-US" sz="950"/>
          </a:p>
        </p:txBody>
      </p:sp>
      <p:sp>
        <p:nvSpPr>
          <p:cNvPr id="56" name="Text 34">
            <a:extLst>
              <a:ext uri="{FF2B5EF4-FFF2-40B4-BE49-F238E27FC236}">
                <a16:creationId xmlns:a16="http://schemas.microsoft.com/office/drawing/2014/main" id="{2BE4B6BF-8F95-6014-1FE2-D5776CC50CDE}"/>
              </a:ext>
            </a:extLst>
          </p:cNvPr>
          <p:cNvSpPr/>
          <p:nvPr/>
        </p:nvSpPr>
        <p:spPr>
          <a:xfrm>
            <a:off x="4355922" y="5045181"/>
            <a:ext cx="3419856" cy="457200"/>
          </a:xfrm>
          <a:prstGeom prst="rect">
            <a:avLst/>
          </a:prstGeom>
          <a:ln>
            <a:solidFill>
              <a:schemeClr val="tx2">
                <a:lumMod val="25000"/>
                <a:lumOff val="75000"/>
              </a:schemeClr>
            </a:solidFill>
          </a:ln>
        </p:spPr>
        <p:style>
          <a:lnRef idx="2">
            <a:schemeClr val="accent3"/>
          </a:lnRef>
          <a:fillRef idx="1">
            <a:schemeClr val="lt1"/>
          </a:fillRef>
          <a:effectRef idx="0">
            <a:schemeClr val="accent3"/>
          </a:effectRef>
          <a:fontRef idx="minor">
            <a:schemeClr val="dk1"/>
          </a:fontRef>
        </p:style>
        <p:txBody>
          <a:bodyPr wrap="square" lIns="0" tIns="0" rIns="0" bIns="0" rtlCol="0" anchor="ctr"/>
          <a:lstStyle/>
          <a:p>
            <a:pPr marL="0" indent="0">
              <a:lnSpc>
                <a:spcPct val="120000"/>
              </a:lnSpc>
              <a:buNone/>
            </a:pPr>
            <a:r>
              <a:rPr lang="en-US" sz="900" b="1">
                <a:solidFill>
                  <a:srgbClr val="215E99"/>
                </a:solidFill>
                <a:latin typeface="Consolas" pitchFamily="34" charset="0"/>
                <a:ea typeface="Consolas" pitchFamily="34" charset="-122"/>
                <a:cs typeface="Consolas" pitchFamily="34" charset="-120"/>
              </a:rPr>
              <a:t>"You are a clinical documentation specialist. Review this note for ICD-10 accuracy."</a:t>
            </a:r>
            <a:endParaRPr lang="en-US" sz="900" b="1">
              <a:solidFill>
                <a:srgbClr val="215E99"/>
              </a:solidFill>
            </a:endParaRPr>
          </a:p>
        </p:txBody>
      </p:sp>
      <p:sp>
        <p:nvSpPr>
          <p:cNvPr id="58" name="Shape 35">
            <a:extLst>
              <a:ext uri="{FF2B5EF4-FFF2-40B4-BE49-F238E27FC236}">
                <a16:creationId xmlns:a16="http://schemas.microsoft.com/office/drawing/2014/main" id="{E82AE5EB-7367-3C44-6B05-6AAFDC2D9C85}"/>
              </a:ext>
            </a:extLst>
          </p:cNvPr>
          <p:cNvSpPr/>
          <p:nvPr/>
        </p:nvSpPr>
        <p:spPr>
          <a:xfrm>
            <a:off x="8083296" y="3456432"/>
            <a:ext cx="3749040" cy="2176272"/>
          </a:xfrm>
          <a:prstGeom prst="roundRect">
            <a:avLst>
              <a:gd name="adj" fmla="val 4202"/>
            </a:avLst>
          </a:prstGeom>
          <a:solidFill>
            <a:srgbClr val="FFEBEE"/>
          </a:solidFill>
          <a:ln w="12700">
            <a:solidFill>
              <a:srgbClr val="C62828"/>
            </a:solidFill>
            <a:prstDash val="solid"/>
          </a:ln>
          <a:effectLst>
            <a:outerShdw blurRad="101600" dist="25400" dir="8100000" algn="bl" rotWithShape="0">
              <a:srgbClr val="0070CD">
                <a:alpha val="8000"/>
              </a:srgbClr>
            </a:outerShdw>
          </a:effectLst>
        </p:spPr>
      </p:sp>
      <p:sp>
        <p:nvSpPr>
          <p:cNvPr id="60" name="Shape 36">
            <a:extLst>
              <a:ext uri="{FF2B5EF4-FFF2-40B4-BE49-F238E27FC236}">
                <a16:creationId xmlns:a16="http://schemas.microsoft.com/office/drawing/2014/main" id="{088A7857-15A0-D3E7-25FA-29DA0E61F540}"/>
              </a:ext>
            </a:extLst>
          </p:cNvPr>
          <p:cNvSpPr/>
          <p:nvPr/>
        </p:nvSpPr>
        <p:spPr>
          <a:xfrm>
            <a:off x="8083296" y="3456432"/>
            <a:ext cx="3749040" cy="475488"/>
          </a:xfrm>
          <a:prstGeom prst="roundRect">
            <a:avLst>
              <a:gd name="adj" fmla="val 19231"/>
            </a:avLst>
          </a:prstGeom>
          <a:solidFill>
            <a:srgbClr val="C62828"/>
          </a:solidFill>
          <a:ln w="12700">
            <a:solidFill>
              <a:srgbClr val="C62828"/>
            </a:solidFill>
            <a:prstDash val="solid"/>
          </a:ln>
        </p:spPr>
      </p:sp>
      <p:sp>
        <p:nvSpPr>
          <p:cNvPr id="62" name="Text 37">
            <a:extLst>
              <a:ext uri="{FF2B5EF4-FFF2-40B4-BE49-F238E27FC236}">
                <a16:creationId xmlns:a16="http://schemas.microsoft.com/office/drawing/2014/main" id="{1AB4BEFD-986A-AA17-2707-AB5971D097CD}"/>
              </a:ext>
            </a:extLst>
          </p:cNvPr>
          <p:cNvSpPr/>
          <p:nvPr/>
        </p:nvSpPr>
        <p:spPr>
          <a:xfrm>
            <a:off x="8193024" y="3529584"/>
            <a:ext cx="3566160" cy="329184"/>
          </a:xfrm>
          <a:prstGeom prst="rect">
            <a:avLst/>
          </a:prstGeom>
          <a:noFill/>
          <a:ln/>
        </p:spPr>
        <p:txBody>
          <a:bodyPr wrap="square" lIns="0" tIns="0" rIns="0" bIns="0" rtlCol="0" anchor="ctr"/>
          <a:lstStyle/>
          <a:p>
            <a:pPr marL="0" indent="0">
              <a:buNone/>
            </a:pPr>
            <a:r>
              <a:rPr lang="en-US" sz="1100" b="1">
                <a:solidFill>
                  <a:srgbClr val="FFFFFF"/>
                </a:solidFill>
                <a:latin typeface="Calibri" pitchFamily="34" charset="0"/>
                <a:ea typeface="Calibri" pitchFamily="34" charset="-122"/>
                <a:cs typeface="Calibri" pitchFamily="34" charset="-120"/>
              </a:rPr>
              <a:t>📦  Output Format Specification</a:t>
            </a:r>
            <a:endParaRPr lang="en-US" sz="1100"/>
          </a:p>
        </p:txBody>
      </p:sp>
      <p:sp>
        <p:nvSpPr>
          <p:cNvPr id="64" name="Text 38">
            <a:extLst>
              <a:ext uri="{FF2B5EF4-FFF2-40B4-BE49-F238E27FC236}">
                <a16:creationId xmlns:a16="http://schemas.microsoft.com/office/drawing/2014/main" id="{2A7D49DD-A2E8-18FB-AC9B-A7724145D01F}"/>
              </a:ext>
            </a:extLst>
          </p:cNvPr>
          <p:cNvSpPr/>
          <p:nvPr/>
        </p:nvSpPr>
        <p:spPr>
          <a:xfrm>
            <a:off x="8211312" y="3986784"/>
            <a:ext cx="3511296" cy="1024128"/>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Specify JSON, Markdown, a table, or numbered list explicitly. For structured output, provide the exact schema. Use stop_sequences to enforce format termination.</a:t>
            </a:r>
            <a:endParaRPr lang="en-US" sz="950"/>
          </a:p>
        </p:txBody>
      </p:sp>
      <p:sp>
        <p:nvSpPr>
          <p:cNvPr id="66" name="Text 40">
            <a:extLst>
              <a:ext uri="{FF2B5EF4-FFF2-40B4-BE49-F238E27FC236}">
                <a16:creationId xmlns:a16="http://schemas.microsoft.com/office/drawing/2014/main" id="{FADA2EA0-34D9-F5BF-4956-D43A2CEA89AC}"/>
              </a:ext>
            </a:extLst>
          </p:cNvPr>
          <p:cNvSpPr/>
          <p:nvPr/>
        </p:nvSpPr>
        <p:spPr>
          <a:xfrm>
            <a:off x="8307365" y="5014289"/>
            <a:ext cx="3419856" cy="457200"/>
          </a:xfrm>
          <a:prstGeom prst="rect">
            <a:avLst/>
          </a:prstGeom>
          <a:ln>
            <a:solidFill>
              <a:schemeClr val="tx2">
                <a:lumMod val="25000"/>
                <a:lumOff val="75000"/>
              </a:schemeClr>
            </a:solidFill>
          </a:ln>
        </p:spPr>
        <p:style>
          <a:lnRef idx="2">
            <a:schemeClr val="accent3"/>
          </a:lnRef>
          <a:fillRef idx="1">
            <a:schemeClr val="lt1"/>
          </a:fillRef>
          <a:effectRef idx="0">
            <a:schemeClr val="accent3"/>
          </a:effectRef>
          <a:fontRef idx="minor">
            <a:schemeClr val="dk1"/>
          </a:fontRef>
        </p:style>
        <p:txBody>
          <a:bodyPr wrap="square" lIns="0" tIns="0" rIns="0" bIns="0" rtlCol="0" anchor="ctr"/>
          <a:lstStyle/>
          <a:p>
            <a:pPr marL="0" indent="0">
              <a:lnSpc>
                <a:spcPct val="120000"/>
              </a:lnSpc>
              <a:buNone/>
            </a:pPr>
            <a:r>
              <a:rPr lang="en-US" sz="900" b="1">
                <a:solidFill>
                  <a:srgbClr val="215E99"/>
                </a:solidFill>
                <a:latin typeface="Consolas" pitchFamily="34" charset="0"/>
                <a:ea typeface="Consolas" pitchFamily="34" charset="-122"/>
                <a:cs typeface="Consolas" pitchFamily="34" charset="-120"/>
              </a:rPr>
              <a:t>"Respond ONLY with a JSON object: {decision, confidence, rationale}"</a:t>
            </a:r>
            <a:endParaRPr lang="en-US" sz="900" b="1">
              <a:solidFill>
                <a:srgbClr val="215E99"/>
              </a:solidFill>
            </a:endParaRPr>
          </a:p>
        </p:txBody>
      </p:sp>
    </p:spTree>
    <p:extLst>
      <p:ext uri="{BB962C8B-B14F-4D97-AF65-F5344CB8AC3E}">
        <p14:creationId xmlns:p14="http://schemas.microsoft.com/office/powerpoint/2010/main" val="2208003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F270D-172F-D948-9627-BF9B6FEEF626}"/>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7412F15-3C1C-645F-D887-54F8B7D5E7E9}"/>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1DA2BC4D-1FD8-9F6F-BAC8-C4A0DC7E6BC6}"/>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287C2008-0BFB-9C82-7405-4B4006C8E3A7}"/>
              </a:ext>
            </a:extLst>
          </p:cNvPr>
          <p:cNvSpPr/>
          <p:nvPr/>
        </p:nvSpPr>
        <p:spPr>
          <a:xfrm>
            <a:off x="411480" y="73152"/>
            <a:ext cx="9875520" cy="658368"/>
          </a:xfrm>
          <a:prstGeom prst="rect">
            <a:avLst/>
          </a:prstGeom>
          <a:noFill/>
          <a:ln/>
        </p:spPr>
        <p:txBody>
          <a:bodyPr wrap="square" lIns="0" tIns="0" rIns="0" bIns="0" rtlCol="0" anchor="ctr"/>
          <a:lstStyle/>
          <a:p>
            <a:pPr marL="0" indent="0">
              <a:buNone/>
            </a:pPr>
            <a:r>
              <a:rPr lang="en-US" sz="2200" b="1">
                <a:solidFill>
                  <a:schemeClr val="tx2">
                    <a:lumMod val="76000"/>
                    <a:lumOff val="24000"/>
                  </a:schemeClr>
                </a:solidFill>
                <a:latin typeface="Calibri"/>
                <a:ea typeface="Calibri"/>
                <a:cs typeface="Calibri"/>
              </a:rPr>
              <a:t>Context Window &amp; Token Management</a:t>
            </a:r>
            <a:endParaRPr lang="en-US" sz="2200">
              <a:solidFill>
                <a:schemeClr val="tx2">
                  <a:lumMod val="76000"/>
                  <a:lumOff val="24000"/>
                </a:schemeClr>
              </a:solidFill>
              <a:latin typeface="Calibri"/>
              <a:ea typeface="Calibri"/>
              <a:cs typeface="Calibri"/>
            </a:endParaRPr>
          </a:p>
        </p:txBody>
      </p:sp>
      <p:sp>
        <p:nvSpPr>
          <p:cNvPr id="6" name="Text 3">
            <a:extLst>
              <a:ext uri="{FF2B5EF4-FFF2-40B4-BE49-F238E27FC236}">
                <a16:creationId xmlns:a16="http://schemas.microsoft.com/office/drawing/2014/main" id="{EF04B7B4-01DC-A331-3851-BA98CD3DE053}"/>
              </a:ext>
            </a:extLst>
          </p:cNvPr>
          <p:cNvSpPr/>
          <p:nvPr/>
        </p:nvSpPr>
        <p:spPr>
          <a:xfrm>
            <a:off x="411480" y="511734"/>
            <a:ext cx="9144000" cy="292608"/>
          </a:xfrm>
          <a:prstGeom prst="rect">
            <a:avLst/>
          </a:prstGeom>
          <a:noFill/>
          <a:ln/>
        </p:spPr>
        <p:txBody>
          <a:bodyPr wrap="square" lIns="0" tIns="0" rIns="0" bIns="0" rtlCol="0" anchor="ctr"/>
          <a:lstStyle/>
          <a:p>
            <a:pPr marL="0" indent="0">
              <a:buNone/>
            </a:pPr>
            <a:r>
              <a:rPr lang="en-US" sz="1050" i="1">
                <a:solidFill>
                  <a:srgbClr val="2D4A6B"/>
                </a:solidFill>
                <a:latin typeface="Calibri" pitchFamily="34" charset="0"/>
                <a:ea typeface="Calibri" pitchFamily="34" charset="-122"/>
                <a:cs typeface="Calibri" pitchFamily="34" charset="-120"/>
              </a:rPr>
              <a:t>Understanding how Claude reads, counts, and forgets — and how to design around it</a:t>
            </a:r>
            <a:endParaRPr lang="en-US" sz="1050"/>
          </a:p>
        </p:txBody>
      </p:sp>
      <p:sp>
        <p:nvSpPr>
          <p:cNvPr id="8" name="Shape 8">
            <a:extLst>
              <a:ext uri="{FF2B5EF4-FFF2-40B4-BE49-F238E27FC236}">
                <a16:creationId xmlns:a16="http://schemas.microsoft.com/office/drawing/2014/main" id="{AC41FA7E-A50B-1FE6-5821-85A5F46872A0}"/>
              </a:ext>
            </a:extLst>
          </p:cNvPr>
          <p:cNvSpPr/>
          <p:nvPr/>
        </p:nvSpPr>
        <p:spPr>
          <a:xfrm>
            <a:off x="100717" y="960606"/>
            <a:ext cx="5303520" cy="5230368"/>
          </a:xfrm>
          <a:prstGeom prst="roundRect">
            <a:avLst>
              <a:gd name="adj" fmla="val 1748"/>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10" name="Text 9">
            <a:extLst>
              <a:ext uri="{FF2B5EF4-FFF2-40B4-BE49-F238E27FC236}">
                <a16:creationId xmlns:a16="http://schemas.microsoft.com/office/drawing/2014/main" id="{158783DC-F10A-4BC0-E20A-0A2C35B8A450}"/>
              </a:ext>
            </a:extLst>
          </p:cNvPr>
          <p:cNvSpPr/>
          <p:nvPr/>
        </p:nvSpPr>
        <p:spPr>
          <a:xfrm>
            <a:off x="283597" y="1088622"/>
            <a:ext cx="4983480" cy="292608"/>
          </a:xfrm>
          <a:prstGeom prst="rect">
            <a:avLst/>
          </a:prstGeom>
          <a:noFill/>
          <a:ln/>
        </p:spPr>
        <p:txBody>
          <a:bodyPr wrap="square" lIns="0" tIns="0" rIns="0" bIns="0" rtlCol="0" anchor="ctr"/>
          <a:lstStyle/>
          <a:p>
            <a:pPr marL="0" indent="0">
              <a:buNone/>
            </a:pPr>
            <a:r>
              <a:rPr lang="en-US" sz="1300" b="1">
                <a:solidFill>
                  <a:srgbClr val="0D1B3E"/>
                </a:solidFill>
                <a:latin typeface="Calibri" pitchFamily="34" charset="0"/>
                <a:ea typeface="Calibri" pitchFamily="34" charset="-122"/>
                <a:cs typeface="Calibri" pitchFamily="34" charset="-120"/>
              </a:rPr>
              <a:t>Inside a Context Window</a:t>
            </a:r>
            <a:endParaRPr lang="en-US" sz="1300"/>
          </a:p>
        </p:txBody>
      </p:sp>
      <p:sp>
        <p:nvSpPr>
          <p:cNvPr id="12" name="Shape 10">
            <a:extLst>
              <a:ext uri="{FF2B5EF4-FFF2-40B4-BE49-F238E27FC236}">
                <a16:creationId xmlns:a16="http://schemas.microsoft.com/office/drawing/2014/main" id="{E2FFE99B-E353-DFCD-7E64-72A92417B598}"/>
              </a:ext>
            </a:extLst>
          </p:cNvPr>
          <p:cNvSpPr/>
          <p:nvPr/>
        </p:nvSpPr>
        <p:spPr>
          <a:xfrm>
            <a:off x="283597" y="1454382"/>
            <a:ext cx="4956048" cy="548640"/>
          </a:xfrm>
          <a:prstGeom prst="rect">
            <a:avLst/>
          </a:prstGeom>
          <a:solidFill>
            <a:srgbClr val="C8DEFF"/>
          </a:solidFill>
          <a:ln w="19050">
            <a:solidFill>
              <a:srgbClr val="FFFFFF"/>
            </a:solidFill>
            <a:prstDash val="solid"/>
          </a:ln>
        </p:spPr>
      </p:sp>
      <p:sp>
        <p:nvSpPr>
          <p:cNvPr id="14" name="Shape 11">
            <a:extLst>
              <a:ext uri="{FF2B5EF4-FFF2-40B4-BE49-F238E27FC236}">
                <a16:creationId xmlns:a16="http://schemas.microsoft.com/office/drawing/2014/main" id="{F19460EE-041F-7BD0-206E-526705BC16F9}"/>
              </a:ext>
            </a:extLst>
          </p:cNvPr>
          <p:cNvSpPr/>
          <p:nvPr/>
        </p:nvSpPr>
        <p:spPr>
          <a:xfrm>
            <a:off x="283597" y="1454382"/>
            <a:ext cx="54864" cy="548640"/>
          </a:xfrm>
          <a:prstGeom prst="rect">
            <a:avLst/>
          </a:prstGeom>
          <a:solidFill>
            <a:srgbClr val="1565C0"/>
          </a:solidFill>
          <a:ln w="12700">
            <a:solidFill>
              <a:srgbClr val="1565C0"/>
            </a:solidFill>
            <a:prstDash val="solid"/>
          </a:ln>
        </p:spPr>
      </p:sp>
      <p:sp>
        <p:nvSpPr>
          <p:cNvPr id="16" name="Text 12">
            <a:extLst>
              <a:ext uri="{FF2B5EF4-FFF2-40B4-BE49-F238E27FC236}">
                <a16:creationId xmlns:a16="http://schemas.microsoft.com/office/drawing/2014/main" id="{FC8FB9B1-747E-0D2F-1F7A-75779CF48766}"/>
              </a:ext>
            </a:extLst>
          </p:cNvPr>
          <p:cNvSpPr/>
          <p:nvPr/>
        </p:nvSpPr>
        <p:spPr>
          <a:xfrm>
            <a:off x="411613" y="1490958"/>
            <a:ext cx="2286000" cy="274320"/>
          </a:xfrm>
          <a:prstGeom prst="rect">
            <a:avLst/>
          </a:prstGeom>
          <a:noFill/>
          <a:ln/>
        </p:spPr>
        <p:txBody>
          <a:bodyPr wrap="square" lIns="0" tIns="0" rIns="0" bIns="0" rtlCol="0" anchor="ctr"/>
          <a:lstStyle/>
          <a:p>
            <a:pPr marL="0" indent="0">
              <a:buNone/>
            </a:pPr>
            <a:r>
              <a:rPr lang="en-US" sz="1050" b="1">
                <a:solidFill>
                  <a:srgbClr val="1A3F7A"/>
                </a:solidFill>
                <a:latin typeface="Calibri" pitchFamily="34" charset="0"/>
                <a:ea typeface="Calibri" pitchFamily="34" charset="-122"/>
                <a:cs typeface="Calibri" pitchFamily="34" charset="-120"/>
              </a:rPr>
              <a:t>System Prompt</a:t>
            </a:r>
            <a:endParaRPr lang="en-US" sz="1050"/>
          </a:p>
        </p:txBody>
      </p:sp>
      <p:sp>
        <p:nvSpPr>
          <p:cNvPr id="18" name="Text 13">
            <a:extLst>
              <a:ext uri="{FF2B5EF4-FFF2-40B4-BE49-F238E27FC236}">
                <a16:creationId xmlns:a16="http://schemas.microsoft.com/office/drawing/2014/main" id="{9153E1AE-619C-D741-82F5-54DD6FDB0586}"/>
              </a:ext>
            </a:extLst>
          </p:cNvPr>
          <p:cNvSpPr/>
          <p:nvPr/>
        </p:nvSpPr>
        <p:spPr>
          <a:xfrm>
            <a:off x="411613" y="1739675"/>
            <a:ext cx="4663440" cy="241402"/>
          </a:xfrm>
          <a:prstGeom prst="rect">
            <a:avLst/>
          </a:prstGeom>
          <a:noFill/>
          <a:ln/>
        </p:spPr>
        <p:txBody>
          <a:bodyPr wrap="square" lIns="0" tIns="0" rIns="0" bIns="0" rtlCol="0" anchor="ctr"/>
          <a:lstStyle/>
          <a:p>
            <a:pPr marL="0" indent="0">
              <a:buNone/>
            </a:pPr>
            <a:r>
              <a:rPr lang="en-US" sz="900" i="1">
                <a:solidFill>
                  <a:srgbClr val="1A3F7A"/>
                </a:solidFill>
                <a:latin typeface="Calibri" pitchFamily="34" charset="0"/>
                <a:ea typeface="Calibri" pitchFamily="34" charset="-122"/>
                <a:cs typeface="Calibri" pitchFamily="34" charset="-120"/>
              </a:rPr>
              <a:t>Persona, rules, context</a:t>
            </a:r>
            <a:endParaRPr lang="en-US" sz="900"/>
          </a:p>
        </p:txBody>
      </p:sp>
      <p:sp>
        <p:nvSpPr>
          <p:cNvPr id="20" name="Shape 14">
            <a:extLst>
              <a:ext uri="{FF2B5EF4-FFF2-40B4-BE49-F238E27FC236}">
                <a16:creationId xmlns:a16="http://schemas.microsoft.com/office/drawing/2014/main" id="{70A83B96-1CE7-9875-0768-EF8A20035DCA}"/>
              </a:ext>
            </a:extLst>
          </p:cNvPr>
          <p:cNvSpPr/>
          <p:nvPr/>
        </p:nvSpPr>
        <p:spPr>
          <a:xfrm>
            <a:off x="283597" y="2003022"/>
            <a:ext cx="4956048" cy="548640"/>
          </a:xfrm>
          <a:prstGeom prst="rect">
            <a:avLst/>
          </a:prstGeom>
          <a:solidFill>
            <a:srgbClr val="B2EBE0"/>
          </a:solidFill>
          <a:ln w="19050">
            <a:solidFill>
              <a:srgbClr val="FFFFFF"/>
            </a:solidFill>
            <a:prstDash val="solid"/>
          </a:ln>
        </p:spPr>
      </p:sp>
      <p:sp>
        <p:nvSpPr>
          <p:cNvPr id="22" name="Shape 15">
            <a:extLst>
              <a:ext uri="{FF2B5EF4-FFF2-40B4-BE49-F238E27FC236}">
                <a16:creationId xmlns:a16="http://schemas.microsoft.com/office/drawing/2014/main" id="{49061563-4702-7989-6A8D-5041C19B2963}"/>
              </a:ext>
            </a:extLst>
          </p:cNvPr>
          <p:cNvSpPr/>
          <p:nvPr/>
        </p:nvSpPr>
        <p:spPr>
          <a:xfrm>
            <a:off x="283597" y="2003022"/>
            <a:ext cx="54864" cy="548640"/>
          </a:xfrm>
          <a:prstGeom prst="rect">
            <a:avLst/>
          </a:prstGeom>
          <a:solidFill>
            <a:srgbClr val="00897B"/>
          </a:solidFill>
          <a:ln w="12700">
            <a:solidFill>
              <a:srgbClr val="00897B"/>
            </a:solidFill>
            <a:prstDash val="solid"/>
          </a:ln>
        </p:spPr>
      </p:sp>
      <p:sp>
        <p:nvSpPr>
          <p:cNvPr id="24" name="Text 16">
            <a:extLst>
              <a:ext uri="{FF2B5EF4-FFF2-40B4-BE49-F238E27FC236}">
                <a16:creationId xmlns:a16="http://schemas.microsoft.com/office/drawing/2014/main" id="{6024DD0D-9F31-9AE9-6DAE-7B209E8331DE}"/>
              </a:ext>
            </a:extLst>
          </p:cNvPr>
          <p:cNvSpPr/>
          <p:nvPr/>
        </p:nvSpPr>
        <p:spPr>
          <a:xfrm>
            <a:off x="411613" y="2039598"/>
            <a:ext cx="2286000" cy="274320"/>
          </a:xfrm>
          <a:prstGeom prst="rect">
            <a:avLst/>
          </a:prstGeom>
          <a:noFill/>
          <a:ln/>
        </p:spPr>
        <p:txBody>
          <a:bodyPr wrap="square" lIns="0" tIns="0" rIns="0" bIns="0" rtlCol="0" anchor="ctr"/>
          <a:lstStyle/>
          <a:p>
            <a:pPr marL="0" indent="0">
              <a:buNone/>
            </a:pPr>
            <a:r>
              <a:rPr lang="en-US" sz="1050" b="1">
                <a:solidFill>
                  <a:srgbClr val="005C4B"/>
                </a:solidFill>
                <a:latin typeface="Calibri" pitchFamily="34" charset="0"/>
                <a:ea typeface="Calibri" pitchFamily="34" charset="-122"/>
                <a:cs typeface="Calibri" pitchFamily="34" charset="-120"/>
              </a:rPr>
              <a:t>Few-shot Examples</a:t>
            </a:r>
            <a:endParaRPr lang="en-US" sz="1050"/>
          </a:p>
        </p:txBody>
      </p:sp>
      <p:sp>
        <p:nvSpPr>
          <p:cNvPr id="26" name="Text 17">
            <a:extLst>
              <a:ext uri="{FF2B5EF4-FFF2-40B4-BE49-F238E27FC236}">
                <a16:creationId xmlns:a16="http://schemas.microsoft.com/office/drawing/2014/main" id="{588486DE-BDC0-612B-F8A1-F9ACD2A29394}"/>
              </a:ext>
            </a:extLst>
          </p:cNvPr>
          <p:cNvSpPr/>
          <p:nvPr/>
        </p:nvSpPr>
        <p:spPr>
          <a:xfrm>
            <a:off x="411613" y="2288315"/>
            <a:ext cx="4663440" cy="241402"/>
          </a:xfrm>
          <a:prstGeom prst="rect">
            <a:avLst/>
          </a:prstGeom>
          <a:noFill/>
          <a:ln/>
        </p:spPr>
        <p:txBody>
          <a:bodyPr wrap="square" lIns="0" tIns="0" rIns="0" bIns="0" rtlCol="0" anchor="ctr"/>
          <a:lstStyle/>
          <a:p>
            <a:pPr marL="0" indent="0">
              <a:buNone/>
            </a:pPr>
            <a:r>
              <a:rPr lang="en-US" sz="900" i="1">
                <a:solidFill>
                  <a:srgbClr val="005C4B"/>
                </a:solidFill>
                <a:latin typeface="Calibri" pitchFamily="34" charset="0"/>
                <a:ea typeface="Calibri" pitchFamily="34" charset="-122"/>
                <a:cs typeface="Calibri" pitchFamily="34" charset="-120"/>
              </a:rPr>
              <a:t>Input/output examples</a:t>
            </a:r>
            <a:endParaRPr lang="en-US" sz="900"/>
          </a:p>
        </p:txBody>
      </p:sp>
      <p:sp>
        <p:nvSpPr>
          <p:cNvPr id="28" name="Shape 18">
            <a:extLst>
              <a:ext uri="{FF2B5EF4-FFF2-40B4-BE49-F238E27FC236}">
                <a16:creationId xmlns:a16="http://schemas.microsoft.com/office/drawing/2014/main" id="{1E46BFEE-C55F-13DF-9C6D-776440733887}"/>
              </a:ext>
            </a:extLst>
          </p:cNvPr>
          <p:cNvSpPr/>
          <p:nvPr/>
        </p:nvSpPr>
        <p:spPr>
          <a:xfrm>
            <a:off x="283597" y="2551662"/>
            <a:ext cx="4956048" cy="457200"/>
          </a:xfrm>
          <a:prstGeom prst="rect">
            <a:avLst/>
          </a:prstGeom>
          <a:solidFill>
            <a:srgbClr val="A8DCCC"/>
          </a:solidFill>
          <a:ln w="19050">
            <a:solidFill>
              <a:srgbClr val="FFFFFF"/>
            </a:solidFill>
            <a:prstDash val="solid"/>
          </a:ln>
        </p:spPr>
      </p:sp>
      <p:sp>
        <p:nvSpPr>
          <p:cNvPr id="30" name="Shape 19">
            <a:extLst>
              <a:ext uri="{FF2B5EF4-FFF2-40B4-BE49-F238E27FC236}">
                <a16:creationId xmlns:a16="http://schemas.microsoft.com/office/drawing/2014/main" id="{D358AE2A-2DEF-2155-C776-E8A7ABADC27D}"/>
              </a:ext>
            </a:extLst>
          </p:cNvPr>
          <p:cNvSpPr/>
          <p:nvPr/>
        </p:nvSpPr>
        <p:spPr>
          <a:xfrm>
            <a:off x="283597" y="2551662"/>
            <a:ext cx="54864" cy="457200"/>
          </a:xfrm>
          <a:prstGeom prst="rect">
            <a:avLst/>
          </a:prstGeom>
          <a:solidFill>
            <a:srgbClr val="006B5A"/>
          </a:solidFill>
          <a:ln w="12700">
            <a:solidFill>
              <a:srgbClr val="006B5A"/>
            </a:solidFill>
            <a:prstDash val="solid"/>
          </a:ln>
        </p:spPr>
      </p:sp>
      <p:sp>
        <p:nvSpPr>
          <p:cNvPr id="32" name="Text 20">
            <a:extLst>
              <a:ext uri="{FF2B5EF4-FFF2-40B4-BE49-F238E27FC236}">
                <a16:creationId xmlns:a16="http://schemas.microsoft.com/office/drawing/2014/main" id="{F1AC826F-B6E2-447D-EEE0-0390CE896B7F}"/>
              </a:ext>
            </a:extLst>
          </p:cNvPr>
          <p:cNvSpPr/>
          <p:nvPr/>
        </p:nvSpPr>
        <p:spPr>
          <a:xfrm>
            <a:off x="411613" y="2588238"/>
            <a:ext cx="2286000" cy="228600"/>
          </a:xfrm>
          <a:prstGeom prst="rect">
            <a:avLst/>
          </a:prstGeom>
          <a:noFill/>
          <a:ln/>
        </p:spPr>
        <p:txBody>
          <a:bodyPr wrap="square" lIns="0" tIns="0" rIns="0" bIns="0" rtlCol="0" anchor="ctr"/>
          <a:lstStyle/>
          <a:p>
            <a:pPr marL="0" indent="0">
              <a:buNone/>
            </a:pPr>
            <a:r>
              <a:rPr lang="en-US" sz="1050" b="1">
                <a:solidFill>
                  <a:srgbClr val="00574A"/>
                </a:solidFill>
                <a:latin typeface="Calibri" pitchFamily="34" charset="0"/>
                <a:ea typeface="Calibri" pitchFamily="34" charset="-122"/>
                <a:cs typeface="Calibri" pitchFamily="34" charset="-120"/>
              </a:rPr>
              <a:t>Tool Definitions</a:t>
            </a:r>
            <a:endParaRPr lang="en-US" sz="1050"/>
          </a:p>
        </p:txBody>
      </p:sp>
      <p:sp>
        <p:nvSpPr>
          <p:cNvPr id="34" name="Text 21">
            <a:extLst>
              <a:ext uri="{FF2B5EF4-FFF2-40B4-BE49-F238E27FC236}">
                <a16:creationId xmlns:a16="http://schemas.microsoft.com/office/drawing/2014/main" id="{00B46D3F-66E5-2056-E037-813C3D3FA432}"/>
              </a:ext>
            </a:extLst>
          </p:cNvPr>
          <p:cNvSpPr/>
          <p:nvPr/>
        </p:nvSpPr>
        <p:spPr>
          <a:xfrm>
            <a:off x="411613" y="2789406"/>
            <a:ext cx="4663440" cy="201168"/>
          </a:xfrm>
          <a:prstGeom prst="rect">
            <a:avLst/>
          </a:prstGeom>
          <a:noFill/>
          <a:ln/>
        </p:spPr>
        <p:txBody>
          <a:bodyPr wrap="square" lIns="0" tIns="0" rIns="0" bIns="0" rtlCol="0" anchor="ctr"/>
          <a:lstStyle/>
          <a:p>
            <a:pPr marL="0" indent="0">
              <a:buNone/>
            </a:pPr>
            <a:r>
              <a:rPr lang="en-US" sz="850" i="1">
                <a:solidFill>
                  <a:srgbClr val="00574A"/>
                </a:solidFill>
                <a:latin typeface="Calibri" pitchFamily="34" charset="0"/>
                <a:ea typeface="Calibri" pitchFamily="34" charset="-122"/>
                <a:cs typeface="Calibri" pitchFamily="34" charset="-120"/>
              </a:rPr>
              <a:t>MCP / function schemas</a:t>
            </a:r>
            <a:endParaRPr lang="en-US" sz="850"/>
          </a:p>
        </p:txBody>
      </p:sp>
      <p:sp>
        <p:nvSpPr>
          <p:cNvPr id="36" name="Shape 22">
            <a:extLst>
              <a:ext uri="{FF2B5EF4-FFF2-40B4-BE49-F238E27FC236}">
                <a16:creationId xmlns:a16="http://schemas.microsoft.com/office/drawing/2014/main" id="{746BA3B9-0BCE-04AB-F509-6925408A6CF7}"/>
              </a:ext>
            </a:extLst>
          </p:cNvPr>
          <p:cNvSpPr/>
          <p:nvPr/>
        </p:nvSpPr>
        <p:spPr>
          <a:xfrm>
            <a:off x="283597" y="3008862"/>
            <a:ext cx="4956048" cy="1143000"/>
          </a:xfrm>
          <a:prstGeom prst="rect">
            <a:avLst/>
          </a:prstGeom>
          <a:solidFill>
            <a:srgbClr val="B3D9F7"/>
          </a:solidFill>
          <a:ln w="19050">
            <a:solidFill>
              <a:srgbClr val="FFFFFF"/>
            </a:solidFill>
            <a:prstDash val="solid"/>
          </a:ln>
        </p:spPr>
      </p:sp>
      <p:sp>
        <p:nvSpPr>
          <p:cNvPr id="38" name="Shape 23">
            <a:extLst>
              <a:ext uri="{FF2B5EF4-FFF2-40B4-BE49-F238E27FC236}">
                <a16:creationId xmlns:a16="http://schemas.microsoft.com/office/drawing/2014/main" id="{448F69BE-EF7C-4628-C5E3-9746A576F39B}"/>
              </a:ext>
            </a:extLst>
          </p:cNvPr>
          <p:cNvSpPr/>
          <p:nvPr/>
        </p:nvSpPr>
        <p:spPr>
          <a:xfrm>
            <a:off x="283597" y="3008862"/>
            <a:ext cx="54864" cy="1143000"/>
          </a:xfrm>
          <a:prstGeom prst="rect">
            <a:avLst/>
          </a:prstGeom>
          <a:solidFill>
            <a:srgbClr val="0070CD"/>
          </a:solidFill>
          <a:ln w="12700">
            <a:solidFill>
              <a:srgbClr val="0070CD"/>
            </a:solidFill>
            <a:prstDash val="solid"/>
          </a:ln>
        </p:spPr>
      </p:sp>
      <p:sp>
        <p:nvSpPr>
          <p:cNvPr id="40" name="Text 24">
            <a:extLst>
              <a:ext uri="{FF2B5EF4-FFF2-40B4-BE49-F238E27FC236}">
                <a16:creationId xmlns:a16="http://schemas.microsoft.com/office/drawing/2014/main" id="{7317609A-22AD-2E06-5D8B-61BCFCA1C6FA}"/>
              </a:ext>
            </a:extLst>
          </p:cNvPr>
          <p:cNvSpPr/>
          <p:nvPr/>
        </p:nvSpPr>
        <p:spPr>
          <a:xfrm>
            <a:off x="411613" y="3045438"/>
            <a:ext cx="2286000" cy="571500"/>
          </a:xfrm>
          <a:prstGeom prst="rect">
            <a:avLst/>
          </a:prstGeom>
          <a:noFill/>
          <a:ln/>
        </p:spPr>
        <p:txBody>
          <a:bodyPr wrap="square" lIns="0" tIns="0" rIns="0" bIns="0" rtlCol="0" anchor="ctr"/>
          <a:lstStyle/>
          <a:p>
            <a:pPr marL="0" indent="0">
              <a:buNone/>
            </a:pPr>
            <a:r>
              <a:rPr lang="en-US" sz="1050" b="1">
                <a:solidFill>
                  <a:srgbClr val="0D4A7A"/>
                </a:solidFill>
                <a:latin typeface="Calibri" pitchFamily="34" charset="0"/>
                <a:ea typeface="Calibri" pitchFamily="34" charset="-122"/>
                <a:cs typeface="Calibri" pitchFamily="34" charset="-120"/>
              </a:rPr>
              <a:t>Conversation History</a:t>
            </a:r>
            <a:endParaRPr lang="en-US" sz="1050"/>
          </a:p>
        </p:txBody>
      </p:sp>
      <p:sp>
        <p:nvSpPr>
          <p:cNvPr id="42" name="Text 25">
            <a:extLst>
              <a:ext uri="{FF2B5EF4-FFF2-40B4-BE49-F238E27FC236}">
                <a16:creationId xmlns:a16="http://schemas.microsoft.com/office/drawing/2014/main" id="{2E227DBC-48E7-B754-5A4E-6A6BC514BF9B}"/>
              </a:ext>
            </a:extLst>
          </p:cNvPr>
          <p:cNvSpPr/>
          <p:nvPr/>
        </p:nvSpPr>
        <p:spPr>
          <a:xfrm>
            <a:off x="411613" y="3603222"/>
            <a:ext cx="4663440" cy="502920"/>
          </a:xfrm>
          <a:prstGeom prst="rect">
            <a:avLst/>
          </a:prstGeom>
          <a:noFill/>
          <a:ln/>
        </p:spPr>
        <p:txBody>
          <a:bodyPr wrap="square" lIns="0" tIns="0" rIns="0" bIns="0" rtlCol="0" anchor="ctr"/>
          <a:lstStyle/>
          <a:p>
            <a:pPr marL="0" indent="0">
              <a:buNone/>
            </a:pPr>
            <a:r>
              <a:rPr lang="en-US" sz="900" i="1">
                <a:solidFill>
                  <a:srgbClr val="0D4A7A"/>
                </a:solidFill>
                <a:latin typeface="Calibri" pitchFamily="34" charset="0"/>
                <a:ea typeface="Calibri" pitchFamily="34" charset="-122"/>
                <a:cs typeface="Calibri" pitchFamily="34" charset="-120"/>
              </a:rPr>
              <a:t>Prior turns accumulate</a:t>
            </a:r>
            <a:endParaRPr lang="en-US" sz="900"/>
          </a:p>
        </p:txBody>
      </p:sp>
      <p:sp>
        <p:nvSpPr>
          <p:cNvPr id="44" name="Shape 26">
            <a:extLst>
              <a:ext uri="{FF2B5EF4-FFF2-40B4-BE49-F238E27FC236}">
                <a16:creationId xmlns:a16="http://schemas.microsoft.com/office/drawing/2014/main" id="{7ACD07F4-4DCE-58A7-7287-F2B04F29C426}"/>
              </a:ext>
            </a:extLst>
          </p:cNvPr>
          <p:cNvSpPr/>
          <p:nvPr/>
        </p:nvSpPr>
        <p:spPr>
          <a:xfrm>
            <a:off x="283597" y="4151862"/>
            <a:ext cx="4956048" cy="777240"/>
          </a:xfrm>
          <a:prstGeom prst="rect">
            <a:avLst/>
          </a:prstGeom>
          <a:solidFill>
            <a:srgbClr val="C5E8C5"/>
          </a:solidFill>
          <a:ln w="19050">
            <a:solidFill>
              <a:srgbClr val="FFFFFF"/>
            </a:solidFill>
            <a:prstDash val="solid"/>
          </a:ln>
        </p:spPr>
      </p:sp>
      <p:sp>
        <p:nvSpPr>
          <p:cNvPr id="46" name="Shape 27">
            <a:extLst>
              <a:ext uri="{FF2B5EF4-FFF2-40B4-BE49-F238E27FC236}">
                <a16:creationId xmlns:a16="http://schemas.microsoft.com/office/drawing/2014/main" id="{59F66174-6509-F580-4C20-6CFD8120B052}"/>
              </a:ext>
            </a:extLst>
          </p:cNvPr>
          <p:cNvSpPr/>
          <p:nvPr/>
        </p:nvSpPr>
        <p:spPr>
          <a:xfrm>
            <a:off x="283597" y="4151862"/>
            <a:ext cx="54864" cy="777240"/>
          </a:xfrm>
          <a:prstGeom prst="rect">
            <a:avLst/>
          </a:prstGeom>
          <a:solidFill>
            <a:srgbClr val="2E7D32"/>
          </a:solidFill>
          <a:ln w="12700">
            <a:solidFill>
              <a:srgbClr val="2E7D32"/>
            </a:solidFill>
            <a:prstDash val="solid"/>
          </a:ln>
        </p:spPr>
      </p:sp>
      <p:sp>
        <p:nvSpPr>
          <p:cNvPr id="48" name="Text 28">
            <a:extLst>
              <a:ext uri="{FF2B5EF4-FFF2-40B4-BE49-F238E27FC236}">
                <a16:creationId xmlns:a16="http://schemas.microsoft.com/office/drawing/2014/main" id="{8244D172-71E5-CE46-FB67-9702791E1D5A}"/>
              </a:ext>
            </a:extLst>
          </p:cNvPr>
          <p:cNvSpPr/>
          <p:nvPr/>
        </p:nvSpPr>
        <p:spPr>
          <a:xfrm>
            <a:off x="411613" y="4188438"/>
            <a:ext cx="2286000" cy="388620"/>
          </a:xfrm>
          <a:prstGeom prst="rect">
            <a:avLst/>
          </a:prstGeom>
          <a:noFill/>
          <a:ln/>
        </p:spPr>
        <p:txBody>
          <a:bodyPr wrap="square" lIns="0" tIns="0" rIns="0" bIns="0" rtlCol="0" anchor="ctr"/>
          <a:lstStyle/>
          <a:p>
            <a:pPr marL="0" indent="0">
              <a:buNone/>
            </a:pPr>
            <a:r>
              <a:rPr lang="en-US" sz="1050" b="1">
                <a:solidFill>
                  <a:srgbClr val="1B5E20"/>
                </a:solidFill>
                <a:latin typeface="Calibri" pitchFamily="34" charset="0"/>
                <a:ea typeface="Calibri" pitchFamily="34" charset="-122"/>
                <a:cs typeface="Calibri" pitchFamily="34" charset="-120"/>
              </a:rPr>
              <a:t>Current User Message</a:t>
            </a:r>
            <a:endParaRPr lang="en-US" sz="1050"/>
          </a:p>
        </p:txBody>
      </p:sp>
      <p:sp>
        <p:nvSpPr>
          <p:cNvPr id="50" name="Text 29">
            <a:extLst>
              <a:ext uri="{FF2B5EF4-FFF2-40B4-BE49-F238E27FC236}">
                <a16:creationId xmlns:a16="http://schemas.microsoft.com/office/drawing/2014/main" id="{7A26E916-A903-7DA6-59B2-729E321D0C95}"/>
              </a:ext>
            </a:extLst>
          </p:cNvPr>
          <p:cNvSpPr/>
          <p:nvPr/>
        </p:nvSpPr>
        <p:spPr>
          <a:xfrm>
            <a:off x="411613" y="4556027"/>
            <a:ext cx="4663440" cy="341986"/>
          </a:xfrm>
          <a:prstGeom prst="rect">
            <a:avLst/>
          </a:prstGeom>
          <a:noFill/>
          <a:ln/>
        </p:spPr>
        <p:txBody>
          <a:bodyPr wrap="square" lIns="0" tIns="0" rIns="0" bIns="0" rtlCol="0" anchor="ctr"/>
          <a:lstStyle/>
          <a:p>
            <a:pPr marL="0" indent="0">
              <a:buNone/>
            </a:pPr>
            <a:r>
              <a:rPr lang="en-US" sz="900" i="1">
                <a:solidFill>
                  <a:srgbClr val="1B5E20"/>
                </a:solidFill>
                <a:latin typeface="Calibri" pitchFamily="34" charset="0"/>
                <a:ea typeface="Calibri" pitchFamily="34" charset="-122"/>
                <a:cs typeface="Calibri" pitchFamily="34" charset="-120"/>
              </a:rPr>
              <a:t>Your current input</a:t>
            </a:r>
            <a:endParaRPr lang="en-US" sz="900"/>
          </a:p>
        </p:txBody>
      </p:sp>
      <p:sp>
        <p:nvSpPr>
          <p:cNvPr id="52" name="Shape 30">
            <a:extLst>
              <a:ext uri="{FF2B5EF4-FFF2-40B4-BE49-F238E27FC236}">
                <a16:creationId xmlns:a16="http://schemas.microsoft.com/office/drawing/2014/main" id="{4D0156BA-71AB-474E-2DD9-8B33254A94E3}"/>
              </a:ext>
            </a:extLst>
          </p:cNvPr>
          <p:cNvSpPr/>
          <p:nvPr/>
        </p:nvSpPr>
        <p:spPr>
          <a:xfrm>
            <a:off x="283597" y="4929102"/>
            <a:ext cx="4956048" cy="777240"/>
          </a:xfrm>
          <a:prstGeom prst="rect">
            <a:avLst/>
          </a:prstGeom>
          <a:solidFill>
            <a:srgbClr val="FFE0A3"/>
          </a:solidFill>
          <a:ln w="19050">
            <a:solidFill>
              <a:srgbClr val="FFFFFF"/>
            </a:solidFill>
            <a:prstDash val="solid"/>
          </a:ln>
        </p:spPr>
      </p:sp>
      <p:sp>
        <p:nvSpPr>
          <p:cNvPr id="54" name="Shape 31">
            <a:extLst>
              <a:ext uri="{FF2B5EF4-FFF2-40B4-BE49-F238E27FC236}">
                <a16:creationId xmlns:a16="http://schemas.microsoft.com/office/drawing/2014/main" id="{1E116C0A-C1E9-5A3C-6F3E-791362639E40}"/>
              </a:ext>
            </a:extLst>
          </p:cNvPr>
          <p:cNvSpPr/>
          <p:nvPr/>
        </p:nvSpPr>
        <p:spPr>
          <a:xfrm>
            <a:off x="283597" y="4929102"/>
            <a:ext cx="54864" cy="777240"/>
          </a:xfrm>
          <a:prstGeom prst="rect">
            <a:avLst/>
          </a:prstGeom>
          <a:solidFill>
            <a:srgbClr val="F57F17"/>
          </a:solidFill>
          <a:ln w="12700">
            <a:solidFill>
              <a:srgbClr val="F57F17"/>
            </a:solidFill>
            <a:prstDash val="solid"/>
          </a:ln>
        </p:spPr>
      </p:sp>
      <p:sp>
        <p:nvSpPr>
          <p:cNvPr id="56" name="Text 32">
            <a:extLst>
              <a:ext uri="{FF2B5EF4-FFF2-40B4-BE49-F238E27FC236}">
                <a16:creationId xmlns:a16="http://schemas.microsoft.com/office/drawing/2014/main" id="{7D8C8672-FB35-A417-BF33-ADEBB6D3B46C}"/>
              </a:ext>
            </a:extLst>
          </p:cNvPr>
          <p:cNvSpPr/>
          <p:nvPr/>
        </p:nvSpPr>
        <p:spPr>
          <a:xfrm>
            <a:off x="411613" y="4965678"/>
            <a:ext cx="2286000" cy="388620"/>
          </a:xfrm>
          <a:prstGeom prst="rect">
            <a:avLst/>
          </a:prstGeom>
          <a:noFill/>
          <a:ln/>
        </p:spPr>
        <p:txBody>
          <a:bodyPr wrap="square" lIns="0" tIns="0" rIns="0" bIns="0" rtlCol="0" anchor="ctr"/>
          <a:lstStyle/>
          <a:p>
            <a:pPr marL="0" indent="0">
              <a:buNone/>
            </a:pPr>
            <a:r>
              <a:rPr lang="en-US" sz="1050" b="1">
                <a:solidFill>
                  <a:srgbClr val="7A4000"/>
                </a:solidFill>
                <a:latin typeface="Calibri" pitchFamily="34" charset="0"/>
                <a:ea typeface="Calibri" pitchFamily="34" charset="-122"/>
                <a:cs typeface="Calibri" pitchFamily="34" charset="-120"/>
              </a:rPr>
              <a:t>Assistant Response</a:t>
            </a:r>
            <a:endParaRPr lang="en-US" sz="1050"/>
          </a:p>
        </p:txBody>
      </p:sp>
      <p:sp>
        <p:nvSpPr>
          <p:cNvPr id="58" name="Text 33">
            <a:extLst>
              <a:ext uri="{FF2B5EF4-FFF2-40B4-BE49-F238E27FC236}">
                <a16:creationId xmlns:a16="http://schemas.microsoft.com/office/drawing/2014/main" id="{4D236FD1-0B1C-714D-E625-06BEB039F5EC}"/>
              </a:ext>
            </a:extLst>
          </p:cNvPr>
          <p:cNvSpPr/>
          <p:nvPr/>
        </p:nvSpPr>
        <p:spPr>
          <a:xfrm>
            <a:off x="411613" y="5333267"/>
            <a:ext cx="4663440" cy="341986"/>
          </a:xfrm>
          <a:prstGeom prst="rect">
            <a:avLst/>
          </a:prstGeom>
          <a:noFill/>
          <a:ln/>
        </p:spPr>
        <p:txBody>
          <a:bodyPr wrap="square" lIns="0" tIns="0" rIns="0" bIns="0" rtlCol="0" anchor="ctr"/>
          <a:lstStyle/>
          <a:p>
            <a:pPr marL="0" indent="0">
              <a:buNone/>
            </a:pPr>
            <a:r>
              <a:rPr lang="en-US" sz="900" i="1">
                <a:solidFill>
                  <a:srgbClr val="7A4000"/>
                </a:solidFill>
                <a:latin typeface="Calibri" pitchFamily="34" charset="0"/>
                <a:ea typeface="Calibri" pitchFamily="34" charset="-122"/>
                <a:cs typeface="Calibri" pitchFamily="34" charset="-120"/>
              </a:rPr>
              <a:t>Output tokens counted here</a:t>
            </a:r>
            <a:endParaRPr lang="en-US" sz="900"/>
          </a:p>
        </p:txBody>
      </p:sp>
      <p:sp>
        <p:nvSpPr>
          <p:cNvPr id="60" name="Shape 34">
            <a:extLst>
              <a:ext uri="{FF2B5EF4-FFF2-40B4-BE49-F238E27FC236}">
                <a16:creationId xmlns:a16="http://schemas.microsoft.com/office/drawing/2014/main" id="{02086222-9255-3332-CDE2-B13F738E473C}"/>
              </a:ext>
            </a:extLst>
          </p:cNvPr>
          <p:cNvSpPr/>
          <p:nvPr/>
        </p:nvSpPr>
        <p:spPr>
          <a:xfrm>
            <a:off x="283597" y="5706342"/>
            <a:ext cx="4956048" cy="320040"/>
          </a:xfrm>
          <a:prstGeom prst="rect">
            <a:avLst/>
          </a:prstGeom>
          <a:solidFill>
            <a:srgbClr val="D8E8F0"/>
          </a:solidFill>
          <a:ln w="19050">
            <a:solidFill>
              <a:srgbClr val="FFFFFF"/>
            </a:solidFill>
            <a:prstDash val="solid"/>
          </a:ln>
        </p:spPr>
      </p:sp>
      <p:sp>
        <p:nvSpPr>
          <p:cNvPr id="62" name="Shape 35">
            <a:extLst>
              <a:ext uri="{FF2B5EF4-FFF2-40B4-BE49-F238E27FC236}">
                <a16:creationId xmlns:a16="http://schemas.microsoft.com/office/drawing/2014/main" id="{6FDC81F3-0D28-4AA6-478F-450A093C0AEC}"/>
              </a:ext>
            </a:extLst>
          </p:cNvPr>
          <p:cNvSpPr/>
          <p:nvPr/>
        </p:nvSpPr>
        <p:spPr>
          <a:xfrm>
            <a:off x="283597" y="5706342"/>
            <a:ext cx="54864" cy="320040"/>
          </a:xfrm>
          <a:prstGeom prst="rect">
            <a:avLst/>
          </a:prstGeom>
          <a:solidFill>
            <a:srgbClr val="546E7A"/>
          </a:solidFill>
          <a:ln w="12700">
            <a:solidFill>
              <a:srgbClr val="546E7A"/>
            </a:solidFill>
            <a:prstDash val="solid"/>
          </a:ln>
        </p:spPr>
      </p:sp>
      <p:sp>
        <p:nvSpPr>
          <p:cNvPr id="64" name="Text 36">
            <a:extLst>
              <a:ext uri="{FF2B5EF4-FFF2-40B4-BE49-F238E27FC236}">
                <a16:creationId xmlns:a16="http://schemas.microsoft.com/office/drawing/2014/main" id="{61D60501-DDFB-E888-BBEA-5E42A8D54C2D}"/>
              </a:ext>
            </a:extLst>
          </p:cNvPr>
          <p:cNvSpPr/>
          <p:nvPr/>
        </p:nvSpPr>
        <p:spPr>
          <a:xfrm>
            <a:off x="411613" y="5742918"/>
            <a:ext cx="2286000" cy="160020"/>
          </a:xfrm>
          <a:prstGeom prst="rect">
            <a:avLst/>
          </a:prstGeom>
          <a:noFill/>
          <a:ln/>
        </p:spPr>
        <p:txBody>
          <a:bodyPr wrap="square" lIns="0" tIns="0" rIns="0" bIns="0" rtlCol="0" anchor="ctr"/>
          <a:lstStyle/>
          <a:p>
            <a:pPr marL="0" indent="0">
              <a:buNone/>
            </a:pPr>
            <a:r>
              <a:rPr lang="en-US" sz="735" b="1">
                <a:solidFill>
                  <a:srgbClr val="455A64"/>
                </a:solidFill>
                <a:latin typeface="Calibri" pitchFamily="34" charset="0"/>
                <a:ea typeface="Calibri" pitchFamily="34" charset="-122"/>
                <a:cs typeface="Calibri" pitchFamily="34" charset="-120"/>
              </a:rPr>
              <a:t>Available Remaining</a:t>
            </a:r>
            <a:endParaRPr lang="en-US" sz="735"/>
          </a:p>
        </p:txBody>
      </p:sp>
      <p:sp>
        <p:nvSpPr>
          <p:cNvPr id="66" name="Shape 38">
            <a:extLst>
              <a:ext uri="{FF2B5EF4-FFF2-40B4-BE49-F238E27FC236}">
                <a16:creationId xmlns:a16="http://schemas.microsoft.com/office/drawing/2014/main" id="{F5915CB7-C975-57F1-8106-9CC642C748B3}"/>
              </a:ext>
            </a:extLst>
          </p:cNvPr>
          <p:cNvSpPr/>
          <p:nvPr/>
        </p:nvSpPr>
        <p:spPr>
          <a:xfrm>
            <a:off x="5678557" y="960606"/>
            <a:ext cx="6062472" cy="1188720"/>
          </a:xfrm>
          <a:prstGeom prst="roundRect">
            <a:avLst>
              <a:gd name="adj" fmla="val 7692"/>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69" name="Shape 39">
            <a:extLst>
              <a:ext uri="{FF2B5EF4-FFF2-40B4-BE49-F238E27FC236}">
                <a16:creationId xmlns:a16="http://schemas.microsoft.com/office/drawing/2014/main" id="{7F956BD3-53AF-A5B2-905E-71E85352F8CB}"/>
              </a:ext>
            </a:extLst>
          </p:cNvPr>
          <p:cNvSpPr/>
          <p:nvPr/>
        </p:nvSpPr>
        <p:spPr>
          <a:xfrm>
            <a:off x="5678557" y="960606"/>
            <a:ext cx="475488" cy="1188720"/>
          </a:xfrm>
          <a:prstGeom prst="rect">
            <a:avLst/>
          </a:prstGeom>
          <a:solidFill>
            <a:srgbClr val="1565C0"/>
          </a:solidFill>
          <a:ln w="12700">
            <a:solidFill>
              <a:srgbClr val="1565C0"/>
            </a:solidFill>
            <a:prstDash val="solid"/>
          </a:ln>
        </p:spPr>
      </p:sp>
      <p:sp>
        <p:nvSpPr>
          <p:cNvPr id="71" name="Text 40">
            <a:extLst>
              <a:ext uri="{FF2B5EF4-FFF2-40B4-BE49-F238E27FC236}">
                <a16:creationId xmlns:a16="http://schemas.microsoft.com/office/drawing/2014/main" id="{2531B050-A2AA-B113-20AC-FE99FDD22D87}"/>
              </a:ext>
            </a:extLst>
          </p:cNvPr>
          <p:cNvSpPr/>
          <p:nvPr/>
        </p:nvSpPr>
        <p:spPr>
          <a:xfrm>
            <a:off x="5680364" y="1057287"/>
            <a:ext cx="475488" cy="1188720"/>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73" name="Text 41">
            <a:extLst>
              <a:ext uri="{FF2B5EF4-FFF2-40B4-BE49-F238E27FC236}">
                <a16:creationId xmlns:a16="http://schemas.microsoft.com/office/drawing/2014/main" id="{7E6B8611-ECA6-7F2E-130C-C7DBE486A5B6}"/>
              </a:ext>
            </a:extLst>
          </p:cNvPr>
          <p:cNvSpPr/>
          <p:nvPr/>
        </p:nvSpPr>
        <p:spPr>
          <a:xfrm>
            <a:off x="6245485" y="1052046"/>
            <a:ext cx="5367528" cy="274320"/>
          </a:xfrm>
          <a:prstGeom prst="rect">
            <a:avLst/>
          </a:prstGeom>
          <a:noFill/>
          <a:ln/>
        </p:spPr>
        <p:txBody>
          <a:bodyPr wrap="square" lIns="0" tIns="0" rIns="0" bIns="0" rtlCol="0" anchor="ctr"/>
          <a:lstStyle/>
          <a:p>
            <a:pPr marL="0" indent="0">
              <a:buNone/>
            </a:pPr>
            <a:r>
              <a:rPr lang="en-US" sz="1200" b="1">
                <a:solidFill>
                  <a:srgbClr val="1565C0"/>
                </a:solidFill>
                <a:latin typeface="Calibri" pitchFamily="34" charset="0"/>
                <a:ea typeface="Calibri" pitchFamily="34" charset="-122"/>
                <a:cs typeface="Calibri" pitchFamily="34" charset="-120"/>
              </a:rPr>
              <a:t>Token Counting</a:t>
            </a:r>
            <a:endParaRPr lang="en-US" sz="1200"/>
          </a:p>
        </p:txBody>
      </p:sp>
      <p:sp>
        <p:nvSpPr>
          <p:cNvPr id="75" name="Text 42">
            <a:extLst>
              <a:ext uri="{FF2B5EF4-FFF2-40B4-BE49-F238E27FC236}">
                <a16:creationId xmlns:a16="http://schemas.microsoft.com/office/drawing/2014/main" id="{F09C952A-35D1-A8DB-8F96-D5AA37EFFC03}"/>
              </a:ext>
            </a:extLst>
          </p:cNvPr>
          <p:cNvSpPr/>
          <p:nvPr/>
        </p:nvSpPr>
        <p:spPr>
          <a:xfrm>
            <a:off x="6245485" y="1362942"/>
            <a:ext cx="5367528" cy="694944"/>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Input tokens = system + history + tools + current message. Output tokens are priced separately. Use the tokenize endpoint to pre-count before sending.</a:t>
            </a:r>
            <a:endParaRPr lang="en-US" sz="950"/>
          </a:p>
        </p:txBody>
      </p:sp>
      <p:sp>
        <p:nvSpPr>
          <p:cNvPr id="77" name="Shape 43">
            <a:extLst>
              <a:ext uri="{FF2B5EF4-FFF2-40B4-BE49-F238E27FC236}">
                <a16:creationId xmlns:a16="http://schemas.microsoft.com/office/drawing/2014/main" id="{517A41A1-384E-D52F-B9DA-61F2717A3737}"/>
              </a:ext>
            </a:extLst>
          </p:cNvPr>
          <p:cNvSpPr/>
          <p:nvPr/>
        </p:nvSpPr>
        <p:spPr>
          <a:xfrm>
            <a:off x="5678557" y="2240766"/>
            <a:ext cx="6062472" cy="1188720"/>
          </a:xfrm>
          <a:prstGeom prst="roundRect">
            <a:avLst>
              <a:gd name="adj" fmla="val 7692"/>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79" name="Shape 44">
            <a:extLst>
              <a:ext uri="{FF2B5EF4-FFF2-40B4-BE49-F238E27FC236}">
                <a16:creationId xmlns:a16="http://schemas.microsoft.com/office/drawing/2014/main" id="{C2AC126F-0680-9570-0429-CF0797DDF4F4}"/>
              </a:ext>
            </a:extLst>
          </p:cNvPr>
          <p:cNvSpPr/>
          <p:nvPr/>
        </p:nvSpPr>
        <p:spPr>
          <a:xfrm>
            <a:off x="5678557" y="2240766"/>
            <a:ext cx="475488" cy="1188720"/>
          </a:xfrm>
          <a:prstGeom prst="rect">
            <a:avLst/>
          </a:prstGeom>
          <a:solidFill>
            <a:srgbClr val="00897B"/>
          </a:solidFill>
          <a:ln w="12700">
            <a:solidFill>
              <a:srgbClr val="00897B"/>
            </a:solidFill>
            <a:prstDash val="solid"/>
          </a:ln>
        </p:spPr>
      </p:sp>
      <p:sp>
        <p:nvSpPr>
          <p:cNvPr id="81" name="Text 45">
            <a:extLst>
              <a:ext uri="{FF2B5EF4-FFF2-40B4-BE49-F238E27FC236}">
                <a16:creationId xmlns:a16="http://schemas.microsoft.com/office/drawing/2014/main" id="{68B44CCC-4922-45DA-B842-6C4FBB2626BC}"/>
              </a:ext>
            </a:extLst>
          </p:cNvPr>
          <p:cNvSpPr/>
          <p:nvPr/>
        </p:nvSpPr>
        <p:spPr>
          <a:xfrm>
            <a:off x="5680364" y="2279719"/>
            <a:ext cx="475488" cy="1188720"/>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83" name="Text 46">
            <a:extLst>
              <a:ext uri="{FF2B5EF4-FFF2-40B4-BE49-F238E27FC236}">
                <a16:creationId xmlns:a16="http://schemas.microsoft.com/office/drawing/2014/main" id="{F97096EE-215D-9B3C-2791-18949428846A}"/>
              </a:ext>
            </a:extLst>
          </p:cNvPr>
          <p:cNvSpPr/>
          <p:nvPr/>
        </p:nvSpPr>
        <p:spPr>
          <a:xfrm>
            <a:off x="6245485" y="2332206"/>
            <a:ext cx="5367528" cy="274320"/>
          </a:xfrm>
          <a:prstGeom prst="rect">
            <a:avLst/>
          </a:prstGeom>
          <a:noFill/>
          <a:ln/>
        </p:spPr>
        <p:txBody>
          <a:bodyPr wrap="square" lIns="0" tIns="0" rIns="0" bIns="0" rtlCol="0" anchor="ctr"/>
          <a:lstStyle/>
          <a:p>
            <a:pPr marL="0" indent="0">
              <a:buNone/>
            </a:pPr>
            <a:r>
              <a:rPr lang="en-US" sz="1200" b="1">
                <a:solidFill>
                  <a:srgbClr val="00897B"/>
                </a:solidFill>
                <a:latin typeface="Calibri" pitchFamily="34" charset="0"/>
                <a:ea typeface="Calibri" pitchFamily="34" charset="-122"/>
                <a:cs typeface="Calibri" pitchFamily="34" charset="-120"/>
              </a:rPr>
              <a:t>Context Compression</a:t>
            </a:r>
            <a:endParaRPr lang="en-US" sz="1200"/>
          </a:p>
        </p:txBody>
      </p:sp>
      <p:sp>
        <p:nvSpPr>
          <p:cNvPr id="85" name="Text 47">
            <a:extLst>
              <a:ext uri="{FF2B5EF4-FFF2-40B4-BE49-F238E27FC236}">
                <a16:creationId xmlns:a16="http://schemas.microsoft.com/office/drawing/2014/main" id="{D098EA95-F775-DEBC-1669-086414FC25A0}"/>
              </a:ext>
            </a:extLst>
          </p:cNvPr>
          <p:cNvSpPr/>
          <p:nvPr/>
        </p:nvSpPr>
        <p:spPr>
          <a:xfrm>
            <a:off x="6245485" y="2643102"/>
            <a:ext cx="5367528" cy="694944"/>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For long conversations, summarize earlier turns into a compact block and replace the raw history. Preserves essential context while saving tokens.</a:t>
            </a:r>
            <a:endParaRPr lang="en-US" sz="950"/>
          </a:p>
        </p:txBody>
      </p:sp>
      <p:sp>
        <p:nvSpPr>
          <p:cNvPr id="87" name="Shape 48">
            <a:extLst>
              <a:ext uri="{FF2B5EF4-FFF2-40B4-BE49-F238E27FC236}">
                <a16:creationId xmlns:a16="http://schemas.microsoft.com/office/drawing/2014/main" id="{BCC09979-1473-8875-B87D-B1927AE368A6}"/>
              </a:ext>
            </a:extLst>
          </p:cNvPr>
          <p:cNvSpPr/>
          <p:nvPr/>
        </p:nvSpPr>
        <p:spPr>
          <a:xfrm>
            <a:off x="5678557" y="3520926"/>
            <a:ext cx="6062472" cy="1188720"/>
          </a:xfrm>
          <a:prstGeom prst="roundRect">
            <a:avLst>
              <a:gd name="adj" fmla="val 7692"/>
            </a:avLst>
          </a:prstGeom>
          <a:solidFill>
            <a:srgbClr val="EDE7F6"/>
          </a:solidFill>
          <a:ln w="12700">
            <a:solidFill>
              <a:srgbClr val="5E35B1"/>
            </a:solidFill>
            <a:prstDash val="solid"/>
          </a:ln>
          <a:effectLst>
            <a:outerShdw blurRad="101600" dist="25400" dir="8100000" algn="bl" rotWithShape="0">
              <a:srgbClr val="0070CD">
                <a:alpha val="8000"/>
              </a:srgbClr>
            </a:outerShdw>
          </a:effectLst>
        </p:spPr>
      </p:sp>
      <p:sp>
        <p:nvSpPr>
          <p:cNvPr id="89" name="Shape 49">
            <a:extLst>
              <a:ext uri="{FF2B5EF4-FFF2-40B4-BE49-F238E27FC236}">
                <a16:creationId xmlns:a16="http://schemas.microsoft.com/office/drawing/2014/main" id="{EA3F70AD-189F-5D8D-2C6A-9A08ED10B8DE}"/>
              </a:ext>
            </a:extLst>
          </p:cNvPr>
          <p:cNvSpPr/>
          <p:nvPr/>
        </p:nvSpPr>
        <p:spPr>
          <a:xfrm>
            <a:off x="5678557" y="3520926"/>
            <a:ext cx="475488" cy="1188720"/>
          </a:xfrm>
          <a:prstGeom prst="rect">
            <a:avLst/>
          </a:prstGeom>
          <a:solidFill>
            <a:srgbClr val="5E35B1"/>
          </a:solidFill>
          <a:ln w="12700">
            <a:solidFill>
              <a:srgbClr val="5E35B1"/>
            </a:solidFill>
            <a:prstDash val="solid"/>
          </a:ln>
        </p:spPr>
      </p:sp>
      <p:sp>
        <p:nvSpPr>
          <p:cNvPr id="91" name="Text 50">
            <a:extLst>
              <a:ext uri="{FF2B5EF4-FFF2-40B4-BE49-F238E27FC236}">
                <a16:creationId xmlns:a16="http://schemas.microsoft.com/office/drawing/2014/main" id="{7DE9E7BE-8CF2-E35C-702B-D36E3487BC13}"/>
              </a:ext>
            </a:extLst>
          </p:cNvPr>
          <p:cNvSpPr/>
          <p:nvPr/>
        </p:nvSpPr>
        <p:spPr>
          <a:xfrm>
            <a:off x="5680364" y="3582970"/>
            <a:ext cx="475488" cy="1188720"/>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93" name="Text 51">
            <a:extLst>
              <a:ext uri="{FF2B5EF4-FFF2-40B4-BE49-F238E27FC236}">
                <a16:creationId xmlns:a16="http://schemas.microsoft.com/office/drawing/2014/main" id="{784960F1-5438-BE49-60C5-08B567BAFB5D}"/>
              </a:ext>
            </a:extLst>
          </p:cNvPr>
          <p:cNvSpPr/>
          <p:nvPr/>
        </p:nvSpPr>
        <p:spPr>
          <a:xfrm>
            <a:off x="6245485" y="3612366"/>
            <a:ext cx="5367528" cy="274320"/>
          </a:xfrm>
          <a:prstGeom prst="rect">
            <a:avLst/>
          </a:prstGeom>
          <a:noFill/>
          <a:ln/>
        </p:spPr>
        <p:txBody>
          <a:bodyPr wrap="square" lIns="0" tIns="0" rIns="0" bIns="0" rtlCol="0" anchor="ctr"/>
          <a:lstStyle/>
          <a:p>
            <a:pPr marL="0" indent="0">
              <a:buNone/>
            </a:pPr>
            <a:r>
              <a:rPr lang="en-US" sz="1200" b="1">
                <a:solidFill>
                  <a:srgbClr val="5E35B1"/>
                </a:solidFill>
                <a:latin typeface="Calibri" pitchFamily="34" charset="0"/>
                <a:ea typeface="Calibri" pitchFamily="34" charset="-122"/>
                <a:cs typeface="Calibri" pitchFamily="34" charset="-120"/>
              </a:rPr>
              <a:t>Prompt Caching</a:t>
            </a:r>
            <a:endParaRPr lang="en-US" sz="1200"/>
          </a:p>
        </p:txBody>
      </p:sp>
      <p:sp>
        <p:nvSpPr>
          <p:cNvPr id="95" name="Text 52">
            <a:extLst>
              <a:ext uri="{FF2B5EF4-FFF2-40B4-BE49-F238E27FC236}">
                <a16:creationId xmlns:a16="http://schemas.microsoft.com/office/drawing/2014/main" id="{887B750D-9090-CF1F-4411-314E0ADB592A}"/>
              </a:ext>
            </a:extLst>
          </p:cNvPr>
          <p:cNvSpPr/>
          <p:nvPr/>
        </p:nvSpPr>
        <p:spPr>
          <a:xfrm>
            <a:off x="6245485" y="3923262"/>
            <a:ext cx="5367528" cy="694944"/>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Mark stable content (system prompts, documents, tools) with cache_control: ephemeral. Anthropic caches it for 5 minutes — up to 90% cost reduction on repeated calls.</a:t>
            </a:r>
            <a:endParaRPr lang="en-US" sz="950"/>
          </a:p>
        </p:txBody>
      </p:sp>
      <p:sp>
        <p:nvSpPr>
          <p:cNvPr id="97" name="Shape 53">
            <a:extLst>
              <a:ext uri="{FF2B5EF4-FFF2-40B4-BE49-F238E27FC236}">
                <a16:creationId xmlns:a16="http://schemas.microsoft.com/office/drawing/2014/main" id="{800EB2D4-79F5-E69B-7074-799FF1576D45}"/>
              </a:ext>
            </a:extLst>
          </p:cNvPr>
          <p:cNvSpPr/>
          <p:nvPr/>
        </p:nvSpPr>
        <p:spPr>
          <a:xfrm>
            <a:off x="5678557" y="4801086"/>
            <a:ext cx="6062472" cy="1188720"/>
          </a:xfrm>
          <a:prstGeom prst="roundRect">
            <a:avLst>
              <a:gd name="adj" fmla="val 7692"/>
            </a:avLst>
          </a:prstGeom>
          <a:solidFill>
            <a:srgbClr val="FFF8E1"/>
          </a:solidFill>
          <a:ln w="12700">
            <a:solidFill>
              <a:srgbClr val="F57F17"/>
            </a:solidFill>
            <a:prstDash val="solid"/>
          </a:ln>
          <a:effectLst>
            <a:outerShdw blurRad="101600" dist="25400" dir="8100000" algn="bl" rotWithShape="0">
              <a:srgbClr val="0070CD">
                <a:alpha val="8000"/>
              </a:srgbClr>
            </a:outerShdw>
          </a:effectLst>
        </p:spPr>
      </p:sp>
      <p:sp>
        <p:nvSpPr>
          <p:cNvPr id="99" name="Shape 54">
            <a:extLst>
              <a:ext uri="{FF2B5EF4-FFF2-40B4-BE49-F238E27FC236}">
                <a16:creationId xmlns:a16="http://schemas.microsoft.com/office/drawing/2014/main" id="{22CB07F4-EFBC-1B5D-55D5-A05A52849233}"/>
              </a:ext>
            </a:extLst>
          </p:cNvPr>
          <p:cNvSpPr/>
          <p:nvPr/>
        </p:nvSpPr>
        <p:spPr>
          <a:xfrm>
            <a:off x="5678557" y="4801086"/>
            <a:ext cx="475488" cy="1188720"/>
          </a:xfrm>
          <a:prstGeom prst="rect">
            <a:avLst/>
          </a:prstGeom>
          <a:solidFill>
            <a:srgbClr val="F57F17"/>
          </a:solidFill>
          <a:ln w="12700">
            <a:solidFill>
              <a:srgbClr val="F57F17"/>
            </a:solidFill>
            <a:prstDash val="solid"/>
          </a:ln>
        </p:spPr>
      </p:sp>
      <p:sp>
        <p:nvSpPr>
          <p:cNvPr id="101" name="Text 55">
            <a:extLst>
              <a:ext uri="{FF2B5EF4-FFF2-40B4-BE49-F238E27FC236}">
                <a16:creationId xmlns:a16="http://schemas.microsoft.com/office/drawing/2014/main" id="{DA7D49FB-6D0E-7B66-9D0F-CE20F5AA7690}"/>
              </a:ext>
            </a:extLst>
          </p:cNvPr>
          <p:cNvSpPr/>
          <p:nvPr/>
        </p:nvSpPr>
        <p:spPr>
          <a:xfrm>
            <a:off x="5680364" y="4770767"/>
            <a:ext cx="475488" cy="1188720"/>
          </a:xfrm>
          <a:prstGeom prst="rect">
            <a:avLst/>
          </a:prstGeom>
          <a:noFill/>
          <a:ln/>
        </p:spPr>
        <p:txBody>
          <a:bodyPr wrap="square" lIns="0" tIns="0" rIns="0" bIns="0" rtlCol="0" anchor="ctr"/>
          <a:lstStyle/>
          <a:p>
            <a:pPr marL="0" indent="0" algn="ctr">
              <a:buNone/>
            </a:pPr>
            <a:r>
              <a:rPr lang="en-US" sz="2200">
                <a:solidFill>
                  <a:srgbClr val="000000"/>
                </a:solidFill>
              </a:rPr>
              <a:t>📏</a:t>
            </a:r>
            <a:endParaRPr lang="en-US" sz="2200"/>
          </a:p>
        </p:txBody>
      </p:sp>
      <p:sp>
        <p:nvSpPr>
          <p:cNvPr id="103" name="Text 56">
            <a:extLst>
              <a:ext uri="{FF2B5EF4-FFF2-40B4-BE49-F238E27FC236}">
                <a16:creationId xmlns:a16="http://schemas.microsoft.com/office/drawing/2014/main" id="{5855CA8D-51E6-1C41-6E16-851C32562F97}"/>
              </a:ext>
            </a:extLst>
          </p:cNvPr>
          <p:cNvSpPr/>
          <p:nvPr/>
        </p:nvSpPr>
        <p:spPr>
          <a:xfrm>
            <a:off x="6245485" y="4892526"/>
            <a:ext cx="5367528" cy="274320"/>
          </a:xfrm>
          <a:prstGeom prst="rect">
            <a:avLst/>
          </a:prstGeom>
          <a:noFill/>
          <a:ln/>
        </p:spPr>
        <p:txBody>
          <a:bodyPr wrap="square" lIns="0" tIns="0" rIns="0" bIns="0" rtlCol="0" anchor="ctr"/>
          <a:lstStyle/>
          <a:p>
            <a:pPr marL="0" indent="0">
              <a:buNone/>
            </a:pPr>
            <a:r>
              <a:rPr lang="en-US" sz="1200" b="1">
                <a:solidFill>
                  <a:srgbClr val="F57F17"/>
                </a:solidFill>
                <a:latin typeface="Calibri" pitchFamily="34" charset="0"/>
                <a:ea typeface="Calibri" pitchFamily="34" charset="-122"/>
                <a:cs typeface="Calibri" pitchFamily="34" charset="-120"/>
              </a:rPr>
              <a:t>Model Context Limits</a:t>
            </a:r>
            <a:endParaRPr lang="en-US" sz="1200"/>
          </a:p>
        </p:txBody>
      </p:sp>
      <p:sp>
        <p:nvSpPr>
          <p:cNvPr id="105" name="Text 57">
            <a:extLst>
              <a:ext uri="{FF2B5EF4-FFF2-40B4-BE49-F238E27FC236}">
                <a16:creationId xmlns:a16="http://schemas.microsoft.com/office/drawing/2014/main" id="{F8C92C09-A3CD-AD57-D543-8F2C042436A5}"/>
              </a:ext>
            </a:extLst>
          </p:cNvPr>
          <p:cNvSpPr/>
          <p:nvPr/>
        </p:nvSpPr>
        <p:spPr>
          <a:xfrm>
            <a:off x="6245485" y="5203422"/>
            <a:ext cx="5367528" cy="694944"/>
          </a:xfrm>
          <a:prstGeom prst="rect">
            <a:avLst/>
          </a:prstGeom>
          <a:noFill/>
          <a:ln/>
        </p:spPr>
        <p:txBody>
          <a:bodyPr wrap="square" lIns="0" tIns="0" rIns="0" bIns="0" rtlCol="0" anchor="ctr"/>
          <a:lstStyle/>
          <a:p>
            <a:pPr marL="0" indent="0">
              <a:lnSpc>
                <a:spcPct val="132000"/>
              </a:lnSpc>
              <a:buNone/>
            </a:pPr>
            <a:r>
              <a:rPr lang="en-US" sz="950">
                <a:solidFill>
                  <a:srgbClr val="1A2B4C"/>
                </a:solidFill>
                <a:latin typeface="Calibri" pitchFamily="34" charset="0"/>
                <a:ea typeface="Calibri" pitchFamily="34" charset="-122"/>
                <a:cs typeface="Calibri" pitchFamily="34" charset="-120"/>
              </a:rPr>
              <a:t>Claude Opus 4 and Sonnet 4 support 200K token contexts. Haiku 4.5 is also 200K. 1 token ≈ 0.75 words in English. 200K tokens ≈ a 150,000-word novel.</a:t>
            </a:r>
            <a:endParaRPr lang="en-US" sz="950"/>
          </a:p>
        </p:txBody>
      </p:sp>
    </p:spTree>
    <p:extLst>
      <p:ext uri="{BB962C8B-B14F-4D97-AF65-F5344CB8AC3E}">
        <p14:creationId xmlns:p14="http://schemas.microsoft.com/office/powerpoint/2010/main" val="3487478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E7C96-BFDC-7CCB-0AC8-6271A69DB7AB}"/>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37BA1CA-7E17-D715-CD8E-27A15F217739}"/>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5406B616-85DD-D084-DA18-1A8B3D4361C6}"/>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FA67E6B9-411F-647B-B8E7-C1ADB7244E52}"/>
              </a:ext>
            </a:extLst>
          </p:cNvPr>
          <p:cNvSpPr/>
          <p:nvPr/>
        </p:nvSpPr>
        <p:spPr>
          <a:xfrm>
            <a:off x="411480" y="73152"/>
            <a:ext cx="9875520" cy="658368"/>
          </a:xfrm>
          <a:prstGeom prst="rect">
            <a:avLst/>
          </a:prstGeom>
          <a:noFill/>
          <a:ln/>
        </p:spPr>
        <p:txBody>
          <a:bodyPr wrap="square" lIns="0" tIns="0" rIns="0" bIns="0" rtlCol="0" anchor="ctr"/>
          <a:lstStyle/>
          <a:p>
            <a:pPr marL="0" indent="0">
              <a:buNone/>
            </a:pPr>
            <a:r>
              <a:rPr lang="en-US" sz="2400" b="1">
                <a:solidFill>
                  <a:schemeClr val="tx2">
                    <a:lumMod val="76000"/>
                    <a:lumOff val="24000"/>
                  </a:schemeClr>
                </a:solidFill>
                <a:latin typeface="Aptos"/>
                <a:ea typeface="Calibri"/>
                <a:cs typeface="Calibri"/>
              </a:rPr>
              <a:t>Temperature, Top-P &amp; Sampling Controls</a:t>
            </a:r>
          </a:p>
        </p:txBody>
      </p:sp>
      <p:sp>
        <p:nvSpPr>
          <p:cNvPr id="6" name="Text 3">
            <a:extLst>
              <a:ext uri="{FF2B5EF4-FFF2-40B4-BE49-F238E27FC236}">
                <a16:creationId xmlns:a16="http://schemas.microsoft.com/office/drawing/2014/main" id="{DE166D69-D9CC-0CB0-B947-4085223D968D}"/>
              </a:ext>
            </a:extLst>
          </p:cNvPr>
          <p:cNvSpPr/>
          <p:nvPr/>
        </p:nvSpPr>
        <p:spPr>
          <a:xfrm>
            <a:off x="504156" y="583816"/>
            <a:ext cx="9144000" cy="292608"/>
          </a:xfrm>
          <a:prstGeom prst="rect">
            <a:avLst/>
          </a:prstGeom>
          <a:noFill/>
          <a:ln/>
        </p:spPr>
        <p:txBody>
          <a:bodyPr wrap="square" lIns="0" tIns="0" rIns="0" bIns="0" rtlCol="0" anchor="ctr"/>
          <a:lstStyle/>
          <a:p>
            <a:pPr marL="0" indent="0">
              <a:buNone/>
            </a:pPr>
            <a:r>
              <a:rPr lang="en-US" sz="1050" i="1">
                <a:solidFill>
                  <a:srgbClr val="2D4A6B"/>
                </a:solidFill>
                <a:latin typeface="Calibri"/>
                <a:ea typeface="Calibri"/>
                <a:cs typeface="Calibri"/>
              </a:rPr>
              <a:t>The parameters that determine how Claude generates its output — and when to change them</a:t>
            </a:r>
            <a:endParaRPr lang="en-US" sz="1050">
              <a:latin typeface="Calibri"/>
              <a:ea typeface="Calibri"/>
              <a:cs typeface="Calibri"/>
            </a:endParaRPr>
          </a:p>
        </p:txBody>
      </p:sp>
      <p:sp>
        <p:nvSpPr>
          <p:cNvPr id="8" name="Shape 5">
            <a:extLst>
              <a:ext uri="{FF2B5EF4-FFF2-40B4-BE49-F238E27FC236}">
                <a16:creationId xmlns:a16="http://schemas.microsoft.com/office/drawing/2014/main" id="{BAFF69A1-1BD7-BF99-DD88-D19C763C33D3}"/>
              </a:ext>
            </a:extLst>
          </p:cNvPr>
          <p:cNvSpPr/>
          <p:nvPr/>
        </p:nvSpPr>
        <p:spPr>
          <a:xfrm>
            <a:off x="365760" y="1234440"/>
            <a:ext cx="5120640" cy="5029200"/>
          </a:xfrm>
          <a:prstGeom prst="roundRect">
            <a:avLst>
              <a:gd name="adj" fmla="val 1818"/>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10" name="Text 6">
            <a:extLst>
              <a:ext uri="{FF2B5EF4-FFF2-40B4-BE49-F238E27FC236}">
                <a16:creationId xmlns:a16="http://schemas.microsoft.com/office/drawing/2014/main" id="{84378A0A-6F3D-8695-5E2D-BB392A36400C}"/>
              </a:ext>
            </a:extLst>
          </p:cNvPr>
          <p:cNvSpPr/>
          <p:nvPr/>
        </p:nvSpPr>
        <p:spPr>
          <a:xfrm>
            <a:off x="548640" y="1371600"/>
            <a:ext cx="4800600" cy="310896"/>
          </a:xfrm>
          <a:prstGeom prst="rect">
            <a:avLst/>
          </a:prstGeom>
          <a:noFill/>
          <a:ln/>
        </p:spPr>
        <p:txBody>
          <a:bodyPr wrap="square" lIns="0" tIns="0" rIns="0" bIns="0" rtlCol="0" anchor="ctr"/>
          <a:lstStyle/>
          <a:p>
            <a:pPr marL="0" indent="0">
              <a:buNone/>
            </a:pPr>
            <a:r>
              <a:rPr lang="en-US" sz="1400" b="1">
                <a:solidFill>
                  <a:srgbClr val="0D1B3E"/>
                </a:solidFill>
                <a:latin typeface="Calibri" pitchFamily="34" charset="0"/>
                <a:ea typeface="Calibri" pitchFamily="34" charset="-122"/>
                <a:cs typeface="Calibri" pitchFamily="34" charset="-120"/>
              </a:rPr>
              <a:t>Temperature</a:t>
            </a:r>
            <a:endParaRPr lang="en-US" sz="1400"/>
          </a:p>
        </p:txBody>
      </p:sp>
      <p:sp>
        <p:nvSpPr>
          <p:cNvPr id="12" name="Text 7">
            <a:extLst>
              <a:ext uri="{FF2B5EF4-FFF2-40B4-BE49-F238E27FC236}">
                <a16:creationId xmlns:a16="http://schemas.microsoft.com/office/drawing/2014/main" id="{C3FC401B-6C33-0C9D-442B-1D29CB4BE1DC}"/>
              </a:ext>
            </a:extLst>
          </p:cNvPr>
          <p:cNvSpPr/>
          <p:nvPr/>
        </p:nvSpPr>
        <p:spPr>
          <a:xfrm>
            <a:off x="548640" y="1691640"/>
            <a:ext cx="4800600" cy="274320"/>
          </a:xfrm>
          <a:prstGeom prst="rect">
            <a:avLst/>
          </a:prstGeom>
          <a:noFill/>
          <a:ln/>
        </p:spPr>
        <p:txBody>
          <a:bodyPr wrap="square" lIns="0" tIns="0" rIns="0" bIns="0" rtlCol="0" anchor="ctr"/>
          <a:lstStyle/>
          <a:p>
            <a:pPr marL="0" indent="0">
              <a:buNone/>
            </a:pPr>
            <a:r>
              <a:rPr lang="en-US" sz="1000" i="1">
                <a:solidFill>
                  <a:srgbClr val="546E7A"/>
                </a:solidFill>
                <a:latin typeface="Calibri" pitchFamily="34" charset="0"/>
                <a:ea typeface="Calibri" pitchFamily="34" charset="-122"/>
                <a:cs typeface="Calibri" pitchFamily="34" charset="-120"/>
              </a:rPr>
              <a:t>Controls randomness. Higher = more creative. Lower = more deterministic.</a:t>
            </a:r>
            <a:endParaRPr lang="en-US" sz="1000"/>
          </a:p>
        </p:txBody>
      </p:sp>
      <p:sp>
        <p:nvSpPr>
          <p:cNvPr id="14" name="Shape 8">
            <a:extLst>
              <a:ext uri="{FF2B5EF4-FFF2-40B4-BE49-F238E27FC236}">
                <a16:creationId xmlns:a16="http://schemas.microsoft.com/office/drawing/2014/main" id="{0AAD925F-22CD-96AA-F7F9-F6EA4D235FB6}"/>
              </a:ext>
            </a:extLst>
          </p:cNvPr>
          <p:cNvSpPr/>
          <p:nvPr/>
        </p:nvSpPr>
        <p:spPr>
          <a:xfrm>
            <a:off x="548640" y="2075688"/>
            <a:ext cx="950976" cy="256032"/>
          </a:xfrm>
          <a:prstGeom prst="rect">
            <a:avLst/>
          </a:prstGeom>
          <a:solidFill>
            <a:srgbClr val="0D3B6E"/>
          </a:solidFill>
          <a:ln w="12700">
            <a:solidFill>
              <a:srgbClr val="0D3B6E"/>
            </a:solidFill>
            <a:prstDash val="solid"/>
          </a:ln>
        </p:spPr>
      </p:sp>
      <p:sp>
        <p:nvSpPr>
          <p:cNvPr id="16" name="Shape 9">
            <a:extLst>
              <a:ext uri="{FF2B5EF4-FFF2-40B4-BE49-F238E27FC236}">
                <a16:creationId xmlns:a16="http://schemas.microsoft.com/office/drawing/2014/main" id="{FEE976B0-6A47-3315-3076-5A0536634159}"/>
              </a:ext>
            </a:extLst>
          </p:cNvPr>
          <p:cNvSpPr/>
          <p:nvPr/>
        </p:nvSpPr>
        <p:spPr>
          <a:xfrm>
            <a:off x="1499616" y="2075688"/>
            <a:ext cx="950976" cy="256032"/>
          </a:xfrm>
          <a:prstGeom prst="rect">
            <a:avLst/>
          </a:prstGeom>
          <a:solidFill>
            <a:srgbClr val="1A5FA8"/>
          </a:solidFill>
          <a:ln w="12700">
            <a:solidFill>
              <a:srgbClr val="1A5FA8"/>
            </a:solidFill>
            <a:prstDash val="solid"/>
          </a:ln>
        </p:spPr>
      </p:sp>
      <p:sp>
        <p:nvSpPr>
          <p:cNvPr id="18" name="Shape 10">
            <a:extLst>
              <a:ext uri="{FF2B5EF4-FFF2-40B4-BE49-F238E27FC236}">
                <a16:creationId xmlns:a16="http://schemas.microsoft.com/office/drawing/2014/main" id="{7F8E7CE8-AAC9-C59F-57ED-FCA12E98AD95}"/>
              </a:ext>
            </a:extLst>
          </p:cNvPr>
          <p:cNvSpPr/>
          <p:nvPr/>
        </p:nvSpPr>
        <p:spPr>
          <a:xfrm>
            <a:off x="2450592" y="2075688"/>
            <a:ext cx="950976" cy="256032"/>
          </a:xfrm>
          <a:prstGeom prst="rect">
            <a:avLst/>
          </a:prstGeom>
          <a:solidFill>
            <a:srgbClr val="3582C4"/>
          </a:solidFill>
          <a:ln w="12700">
            <a:solidFill>
              <a:srgbClr val="3582C4"/>
            </a:solidFill>
            <a:prstDash val="solid"/>
          </a:ln>
        </p:spPr>
      </p:sp>
      <p:sp>
        <p:nvSpPr>
          <p:cNvPr id="20" name="Shape 11">
            <a:extLst>
              <a:ext uri="{FF2B5EF4-FFF2-40B4-BE49-F238E27FC236}">
                <a16:creationId xmlns:a16="http://schemas.microsoft.com/office/drawing/2014/main" id="{BFFFE0AE-7125-42FC-3270-21F85CB569EC}"/>
              </a:ext>
            </a:extLst>
          </p:cNvPr>
          <p:cNvSpPr/>
          <p:nvPr/>
        </p:nvSpPr>
        <p:spPr>
          <a:xfrm>
            <a:off x="3401568" y="2075688"/>
            <a:ext cx="950976" cy="256032"/>
          </a:xfrm>
          <a:prstGeom prst="rect">
            <a:avLst/>
          </a:prstGeom>
          <a:solidFill>
            <a:srgbClr val="6FA8DC"/>
          </a:solidFill>
          <a:ln w="12700">
            <a:solidFill>
              <a:srgbClr val="6FA8DC"/>
            </a:solidFill>
            <a:prstDash val="solid"/>
          </a:ln>
        </p:spPr>
      </p:sp>
      <p:sp>
        <p:nvSpPr>
          <p:cNvPr id="22" name="Shape 12">
            <a:extLst>
              <a:ext uri="{FF2B5EF4-FFF2-40B4-BE49-F238E27FC236}">
                <a16:creationId xmlns:a16="http://schemas.microsoft.com/office/drawing/2014/main" id="{B9040CFB-E994-F221-1C11-127E17BAEA1D}"/>
              </a:ext>
            </a:extLst>
          </p:cNvPr>
          <p:cNvSpPr/>
          <p:nvPr/>
        </p:nvSpPr>
        <p:spPr>
          <a:xfrm>
            <a:off x="4352544" y="2075688"/>
            <a:ext cx="950976" cy="256032"/>
          </a:xfrm>
          <a:prstGeom prst="rect">
            <a:avLst/>
          </a:prstGeom>
          <a:solidFill>
            <a:srgbClr val="D6E4FF"/>
          </a:solidFill>
          <a:ln w="12700">
            <a:solidFill>
              <a:srgbClr val="D6E4FF"/>
            </a:solidFill>
            <a:prstDash val="solid"/>
          </a:ln>
        </p:spPr>
      </p:sp>
      <p:sp>
        <p:nvSpPr>
          <p:cNvPr id="24" name="Text 13">
            <a:extLst>
              <a:ext uri="{FF2B5EF4-FFF2-40B4-BE49-F238E27FC236}">
                <a16:creationId xmlns:a16="http://schemas.microsoft.com/office/drawing/2014/main" id="{C2286CA7-04D5-76DB-2CBF-811DB688E6C3}"/>
              </a:ext>
            </a:extLst>
          </p:cNvPr>
          <p:cNvSpPr/>
          <p:nvPr/>
        </p:nvSpPr>
        <p:spPr>
          <a:xfrm>
            <a:off x="530352" y="2368296"/>
            <a:ext cx="274320" cy="182880"/>
          </a:xfrm>
          <a:prstGeom prst="rect">
            <a:avLst/>
          </a:prstGeom>
          <a:noFill/>
          <a:ln/>
        </p:spPr>
        <p:txBody>
          <a:bodyPr wrap="square" lIns="0" tIns="0" rIns="0" bIns="0" rtlCol="0" anchor="ctr"/>
          <a:lstStyle/>
          <a:p>
            <a:pPr marL="0" indent="0">
              <a:buNone/>
            </a:pPr>
            <a:r>
              <a:rPr lang="en-US" sz="800">
                <a:solidFill>
                  <a:srgbClr val="546E7A"/>
                </a:solidFill>
                <a:latin typeface="Calibri" pitchFamily="34" charset="0"/>
                <a:ea typeface="Calibri" pitchFamily="34" charset="-122"/>
                <a:cs typeface="Calibri" pitchFamily="34" charset="-120"/>
              </a:rPr>
              <a:t>0.0</a:t>
            </a:r>
            <a:endParaRPr lang="en-US" sz="800"/>
          </a:p>
        </p:txBody>
      </p:sp>
      <p:sp>
        <p:nvSpPr>
          <p:cNvPr id="26" name="Text 14">
            <a:extLst>
              <a:ext uri="{FF2B5EF4-FFF2-40B4-BE49-F238E27FC236}">
                <a16:creationId xmlns:a16="http://schemas.microsoft.com/office/drawing/2014/main" id="{02AC7743-685E-4752-AE13-621B2027FFFF}"/>
              </a:ext>
            </a:extLst>
          </p:cNvPr>
          <p:cNvSpPr/>
          <p:nvPr/>
        </p:nvSpPr>
        <p:spPr>
          <a:xfrm>
            <a:off x="5074920" y="2368296"/>
            <a:ext cx="274320" cy="182880"/>
          </a:xfrm>
          <a:prstGeom prst="rect">
            <a:avLst/>
          </a:prstGeom>
          <a:noFill/>
          <a:ln/>
        </p:spPr>
        <p:txBody>
          <a:bodyPr wrap="square" lIns="0" tIns="0" rIns="0" bIns="0" rtlCol="0" anchor="ctr"/>
          <a:lstStyle/>
          <a:p>
            <a:pPr marL="0" indent="0">
              <a:buNone/>
            </a:pPr>
            <a:r>
              <a:rPr lang="en-US" sz="800">
                <a:solidFill>
                  <a:srgbClr val="546E7A"/>
                </a:solidFill>
                <a:latin typeface="Calibri" pitchFamily="34" charset="0"/>
                <a:ea typeface="Calibri" pitchFamily="34" charset="-122"/>
                <a:cs typeface="Calibri" pitchFamily="34" charset="-120"/>
              </a:rPr>
              <a:t>1.0</a:t>
            </a:r>
            <a:endParaRPr lang="en-US" sz="800"/>
          </a:p>
        </p:txBody>
      </p:sp>
      <p:sp>
        <p:nvSpPr>
          <p:cNvPr id="28" name="Text 15">
            <a:extLst>
              <a:ext uri="{FF2B5EF4-FFF2-40B4-BE49-F238E27FC236}">
                <a16:creationId xmlns:a16="http://schemas.microsoft.com/office/drawing/2014/main" id="{D0532153-1514-3222-9718-712C10479998}"/>
              </a:ext>
            </a:extLst>
          </p:cNvPr>
          <p:cNvSpPr/>
          <p:nvPr/>
        </p:nvSpPr>
        <p:spPr>
          <a:xfrm>
            <a:off x="692205" y="2368296"/>
            <a:ext cx="1280160" cy="182880"/>
          </a:xfrm>
          <a:prstGeom prst="rect">
            <a:avLst/>
          </a:prstGeom>
          <a:noFill/>
          <a:ln/>
        </p:spPr>
        <p:txBody>
          <a:bodyPr wrap="square" lIns="0" tIns="0" rIns="0" bIns="0" rtlCol="0" anchor="ctr"/>
          <a:lstStyle/>
          <a:p>
            <a:pPr marL="0" indent="0">
              <a:buNone/>
            </a:pPr>
            <a:r>
              <a:rPr lang="en-US" sz="800" b="1">
                <a:solidFill>
                  <a:srgbClr val="00897B"/>
                </a:solidFill>
                <a:latin typeface="Calibri"/>
                <a:ea typeface="Calibri"/>
                <a:cs typeface="Calibri"/>
              </a:rPr>
              <a:t>Deterministic</a:t>
            </a:r>
            <a:endParaRPr lang="en-US" sz="800" err="1"/>
          </a:p>
        </p:txBody>
      </p:sp>
      <p:sp>
        <p:nvSpPr>
          <p:cNvPr id="30" name="Text 16">
            <a:extLst>
              <a:ext uri="{FF2B5EF4-FFF2-40B4-BE49-F238E27FC236}">
                <a16:creationId xmlns:a16="http://schemas.microsoft.com/office/drawing/2014/main" id="{D2ACAE80-5FD1-8EA5-56CC-33487F31E5E2}"/>
              </a:ext>
            </a:extLst>
          </p:cNvPr>
          <p:cNvSpPr/>
          <p:nvPr/>
        </p:nvSpPr>
        <p:spPr>
          <a:xfrm>
            <a:off x="3499678" y="2357253"/>
            <a:ext cx="1463040" cy="182880"/>
          </a:xfrm>
          <a:prstGeom prst="rect">
            <a:avLst/>
          </a:prstGeom>
          <a:noFill/>
          <a:ln/>
        </p:spPr>
        <p:txBody>
          <a:bodyPr wrap="square" lIns="0" tIns="0" rIns="0" bIns="0" rtlCol="0" anchor="ctr"/>
          <a:lstStyle/>
          <a:p>
            <a:pPr marL="0" indent="0" algn="r">
              <a:buNone/>
            </a:pPr>
            <a:r>
              <a:rPr lang="en-US" sz="800" b="1">
                <a:solidFill>
                  <a:srgbClr val="0070CD"/>
                </a:solidFill>
                <a:latin typeface="Calibri" pitchFamily="34" charset="0"/>
                <a:ea typeface="Calibri" pitchFamily="34" charset="-122"/>
                <a:cs typeface="Calibri" pitchFamily="34" charset="-120"/>
              </a:rPr>
              <a:t>Creative / Random</a:t>
            </a:r>
            <a:endParaRPr lang="en-US" sz="800"/>
          </a:p>
        </p:txBody>
      </p:sp>
      <p:sp>
        <p:nvSpPr>
          <p:cNvPr id="32" name="Shape 17">
            <a:extLst>
              <a:ext uri="{FF2B5EF4-FFF2-40B4-BE49-F238E27FC236}">
                <a16:creationId xmlns:a16="http://schemas.microsoft.com/office/drawing/2014/main" id="{58D02961-06C9-AC99-81FE-CF31448D3ADF}"/>
              </a:ext>
            </a:extLst>
          </p:cNvPr>
          <p:cNvSpPr/>
          <p:nvPr/>
        </p:nvSpPr>
        <p:spPr>
          <a:xfrm>
            <a:off x="530352" y="2532888"/>
            <a:ext cx="4800600" cy="768096"/>
          </a:xfrm>
          <a:prstGeom prst="roundRect">
            <a:avLst>
              <a:gd name="adj" fmla="val 11905"/>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34" name="Shape 18">
            <a:extLst>
              <a:ext uri="{FF2B5EF4-FFF2-40B4-BE49-F238E27FC236}">
                <a16:creationId xmlns:a16="http://schemas.microsoft.com/office/drawing/2014/main" id="{705D6BA8-C8C8-C817-41A9-7CB484B9EA84}"/>
              </a:ext>
            </a:extLst>
          </p:cNvPr>
          <p:cNvSpPr/>
          <p:nvPr/>
        </p:nvSpPr>
        <p:spPr>
          <a:xfrm>
            <a:off x="530352" y="2532888"/>
            <a:ext cx="658368" cy="768096"/>
          </a:xfrm>
          <a:prstGeom prst="rect">
            <a:avLst/>
          </a:prstGeom>
          <a:solidFill>
            <a:srgbClr val="00897B"/>
          </a:solidFill>
          <a:ln w="12700">
            <a:solidFill>
              <a:srgbClr val="00897B"/>
            </a:solidFill>
            <a:prstDash val="solid"/>
          </a:ln>
        </p:spPr>
      </p:sp>
      <p:sp>
        <p:nvSpPr>
          <p:cNvPr id="36" name="Text 19">
            <a:extLst>
              <a:ext uri="{FF2B5EF4-FFF2-40B4-BE49-F238E27FC236}">
                <a16:creationId xmlns:a16="http://schemas.microsoft.com/office/drawing/2014/main" id="{3C042B41-44C7-AC2C-CFEE-2DA79016A72B}"/>
              </a:ext>
            </a:extLst>
          </p:cNvPr>
          <p:cNvSpPr/>
          <p:nvPr/>
        </p:nvSpPr>
        <p:spPr>
          <a:xfrm>
            <a:off x="528293" y="2613207"/>
            <a:ext cx="658368" cy="768096"/>
          </a:xfrm>
          <a:prstGeom prst="rect">
            <a:avLst/>
          </a:prstGeom>
          <a:noFill/>
          <a:ln/>
        </p:spPr>
        <p:txBody>
          <a:bodyPr wrap="square" lIns="0" tIns="0" rIns="0" bIns="0" rtlCol="0" anchor="ctr"/>
          <a:lstStyle/>
          <a:p>
            <a:pPr marL="0" indent="0" algn="ctr">
              <a:buNone/>
            </a:pPr>
            <a:r>
              <a:rPr lang="en-US" sz="1200" b="1">
                <a:solidFill>
                  <a:srgbClr val="FFFFFF"/>
                </a:solidFill>
                <a:latin typeface="Consolas" pitchFamily="34" charset="0"/>
                <a:ea typeface="Consolas" pitchFamily="34" charset="-122"/>
                <a:cs typeface="Consolas" pitchFamily="34" charset="-120"/>
              </a:rPr>
              <a:t>0.0</a:t>
            </a:r>
            <a:endParaRPr lang="en-US" sz="1200"/>
          </a:p>
        </p:txBody>
      </p:sp>
      <p:sp>
        <p:nvSpPr>
          <p:cNvPr id="38" name="Text 20">
            <a:extLst>
              <a:ext uri="{FF2B5EF4-FFF2-40B4-BE49-F238E27FC236}">
                <a16:creationId xmlns:a16="http://schemas.microsoft.com/office/drawing/2014/main" id="{B89A3212-D59B-ED96-2CB1-C4A2B354CB71}"/>
              </a:ext>
            </a:extLst>
          </p:cNvPr>
          <p:cNvSpPr/>
          <p:nvPr/>
        </p:nvSpPr>
        <p:spPr>
          <a:xfrm>
            <a:off x="1261872" y="2587752"/>
            <a:ext cx="3931920" cy="274320"/>
          </a:xfrm>
          <a:prstGeom prst="rect">
            <a:avLst/>
          </a:prstGeom>
          <a:noFill/>
          <a:ln/>
        </p:spPr>
        <p:txBody>
          <a:bodyPr wrap="square" lIns="0" tIns="0" rIns="0" bIns="0" rtlCol="0" anchor="ctr"/>
          <a:lstStyle/>
          <a:p>
            <a:pPr marL="0" indent="0">
              <a:buNone/>
            </a:pPr>
            <a:r>
              <a:rPr lang="en-US" sz="1050" b="1">
                <a:solidFill>
                  <a:srgbClr val="0D1B3E"/>
                </a:solidFill>
                <a:latin typeface="Calibri" pitchFamily="34" charset="0"/>
                <a:ea typeface="Calibri" pitchFamily="34" charset="-122"/>
                <a:cs typeface="Calibri" pitchFamily="34" charset="-120"/>
              </a:rPr>
              <a:t>Identical outputs every run</a:t>
            </a:r>
            <a:endParaRPr lang="en-US" sz="1050"/>
          </a:p>
        </p:txBody>
      </p:sp>
      <p:sp>
        <p:nvSpPr>
          <p:cNvPr id="40" name="Text 21">
            <a:extLst>
              <a:ext uri="{FF2B5EF4-FFF2-40B4-BE49-F238E27FC236}">
                <a16:creationId xmlns:a16="http://schemas.microsoft.com/office/drawing/2014/main" id="{BD83E06E-F016-B214-5FF4-C5DABAC9A2CA}"/>
              </a:ext>
            </a:extLst>
          </p:cNvPr>
          <p:cNvSpPr/>
          <p:nvPr/>
        </p:nvSpPr>
        <p:spPr>
          <a:xfrm>
            <a:off x="1261872" y="2880360"/>
            <a:ext cx="3931920" cy="365760"/>
          </a:xfrm>
          <a:prstGeom prst="rect">
            <a:avLst/>
          </a:prstGeom>
          <a:noFill/>
          <a:ln/>
        </p:spPr>
        <p:txBody>
          <a:bodyPr wrap="square" lIns="0" tIns="0" rIns="0" bIns="0" rtlCol="0" anchor="ctr"/>
          <a:lstStyle/>
          <a:p>
            <a:pPr marL="0" indent="0">
              <a:buNone/>
            </a:pPr>
            <a:r>
              <a:rPr lang="en-US" sz="900">
                <a:solidFill>
                  <a:srgbClr val="546E7A"/>
                </a:solidFill>
                <a:latin typeface="Calibri" pitchFamily="34" charset="0"/>
                <a:ea typeface="Calibri" pitchFamily="34" charset="-122"/>
                <a:cs typeface="Calibri" pitchFamily="34" charset="-120"/>
              </a:rPr>
              <a:t>Data extraction · Classification · Deterministic tools</a:t>
            </a:r>
            <a:endParaRPr lang="en-US" sz="900"/>
          </a:p>
        </p:txBody>
      </p:sp>
      <p:sp>
        <p:nvSpPr>
          <p:cNvPr id="42" name="Shape 22">
            <a:extLst>
              <a:ext uri="{FF2B5EF4-FFF2-40B4-BE49-F238E27FC236}">
                <a16:creationId xmlns:a16="http://schemas.microsoft.com/office/drawing/2014/main" id="{1A2091D8-C154-7EA5-ED95-CE96A7AFF885}"/>
              </a:ext>
            </a:extLst>
          </p:cNvPr>
          <p:cNvSpPr/>
          <p:nvPr/>
        </p:nvSpPr>
        <p:spPr>
          <a:xfrm>
            <a:off x="530352" y="3401568"/>
            <a:ext cx="4800600" cy="768096"/>
          </a:xfrm>
          <a:prstGeom prst="roundRect">
            <a:avLst>
              <a:gd name="adj" fmla="val 11905"/>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44" name="Shape 23">
            <a:extLst>
              <a:ext uri="{FF2B5EF4-FFF2-40B4-BE49-F238E27FC236}">
                <a16:creationId xmlns:a16="http://schemas.microsoft.com/office/drawing/2014/main" id="{E8B26A71-145D-6F5F-EBDA-3CBF5B00264C}"/>
              </a:ext>
            </a:extLst>
          </p:cNvPr>
          <p:cNvSpPr/>
          <p:nvPr/>
        </p:nvSpPr>
        <p:spPr>
          <a:xfrm>
            <a:off x="530352" y="3401568"/>
            <a:ext cx="658368" cy="768096"/>
          </a:xfrm>
          <a:prstGeom prst="rect">
            <a:avLst/>
          </a:prstGeom>
          <a:solidFill>
            <a:srgbClr val="1565C0"/>
          </a:solidFill>
          <a:ln w="12700">
            <a:solidFill>
              <a:srgbClr val="1565C0"/>
            </a:solidFill>
            <a:prstDash val="solid"/>
          </a:ln>
        </p:spPr>
      </p:sp>
      <p:sp>
        <p:nvSpPr>
          <p:cNvPr id="46" name="Text 24">
            <a:extLst>
              <a:ext uri="{FF2B5EF4-FFF2-40B4-BE49-F238E27FC236}">
                <a16:creationId xmlns:a16="http://schemas.microsoft.com/office/drawing/2014/main" id="{0DF30FD2-60CD-E920-131A-475474D77A3A}"/>
              </a:ext>
            </a:extLst>
          </p:cNvPr>
          <p:cNvSpPr/>
          <p:nvPr/>
        </p:nvSpPr>
        <p:spPr>
          <a:xfrm>
            <a:off x="548887" y="3471590"/>
            <a:ext cx="658368" cy="768096"/>
          </a:xfrm>
          <a:prstGeom prst="rect">
            <a:avLst/>
          </a:prstGeom>
          <a:noFill/>
          <a:ln/>
        </p:spPr>
        <p:txBody>
          <a:bodyPr wrap="square" lIns="0" tIns="0" rIns="0" bIns="0" rtlCol="0" anchor="ctr"/>
          <a:lstStyle/>
          <a:p>
            <a:pPr marL="0" indent="0" algn="ctr">
              <a:buNone/>
            </a:pPr>
            <a:r>
              <a:rPr lang="en-US" sz="1200" b="1">
                <a:solidFill>
                  <a:srgbClr val="FFFFFF"/>
                </a:solidFill>
                <a:latin typeface="Consolas" pitchFamily="34" charset="0"/>
                <a:ea typeface="Consolas" pitchFamily="34" charset="-122"/>
                <a:cs typeface="Consolas" pitchFamily="34" charset="-120"/>
              </a:rPr>
              <a:t>0.3–0.5</a:t>
            </a:r>
            <a:endParaRPr lang="en-US" sz="1200"/>
          </a:p>
        </p:txBody>
      </p:sp>
      <p:sp>
        <p:nvSpPr>
          <p:cNvPr id="48" name="Text 25">
            <a:extLst>
              <a:ext uri="{FF2B5EF4-FFF2-40B4-BE49-F238E27FC236}">
                <a16:creationId xmlns:a16="http://schemas.microsoft.com/office/drawing/2014/main" id="{290AF491-9BDB-6DB2-7699-E01FCE20848D}"/>
              </a:ext>
            </a:extLst>
          </p:cNvPr>
          <p:cNvSpPr/>
          <p:nvPr/>
        </p:nvSpPr>
        <p:spPr>
          <a:xfrm>
            <a:off x="1261872" y="3456432"/>
            <a:ext cx="3931920" cy="274320"/>
          </a:xfrm>
          <a:prstGeom prst="rect">
            <a:avLst/>
          </a:prstGeom>
          <a:noFill/>
          <a:ln/>
        </p:spPr>
        <p:txBody>
          <a:bodyPr wrap="square" lIns="0" tIns="0" rIns="0" bIns="0" rtlCol="0" anchor="ctr"/>
          <a:lstStyle/>
          <a:p>
            <a:pPr marL="0" indent="0">
              <a:buNone/>
            </a:pPr>
            <a:r>
              <a:rPr lang="en-US" sz="1050" b="1">
                <a:solidFill>
                  <a:srgbClr val="0D1B3E"/>
                </a:solidFill>
                <a:latin typeface="Calibri" pitchFamily="34" charset="0"/>
                <a:ea typeface="Calibri" pitchFamily="34" charset="-122"/>
                <a:cs typeface="Calibri" pitchFamily="34" charset="-120"/>
              </a:rPr>
              <a:t>Consistent with slight variation</a:t>
            </a:r>
            <a:endParaRPr lang="en-US" sz="1050"/>
          </a:p>
        </p:txBody>
      </p:sp>
      <p:sp>
        <p:nvSpPr>
          <p:cNvPr id="50" name="Text 26">
            <a:extLst>
              <a:ext uri="{FF2B5EF4-FFF2-40B4-BE49-F238E27FC236}">
                <a16:creationId xmlns:a16="http://schemas.microsoft.com/office/drawing/2014/main" id="{FEB1799C-94F5-6A00-78BA-683EEED763A6}"/>
              </a:ext>
            </a:extLst>
          </p:cNvPr>
          <p:cNvSpPr/>
          <p:nvPr/>
        </p:nvSpPr>
        <p:spPr>
          <a:xfrm>
            <a:off x="1261872" y="3749040"/>
            <a:ext cx="3931920" cy="365760"/>
          </a:xfrm>
          <a:prstGeom prst="rect">
            <a:avLst/>
          </a:prstGeom>
          <a:noFill/>
          <a:ln/>
        </p:spPr>
        <p:txBody>
          <a:bodyPr wrap="square" lIns="0" tIns="0" rIns="0" bIns="0" rtlCol="0" anchor="ctr"/>
          <a:lstStyle/>
          <a:p>
            <a:pPr marL="0" indent="0">
              <a:buNone/>
            </a:pPr>
            <a:r>
              <a:rPr lang="en-US" sz="900">
                <a:solidFill>
                  <a:srgbClr val="546E7A"/>
                </a:solidFill>
                <a:latin typeface="Calibri" pitchFamily="34" charset="0"/>
                <a:ea typeface="Calibri" pitchFamily="34" charset="-122"/>
                <a:cs typeface="Calibri" pitchFamily="34" charset="-120"/>
              </a:rPr>
              <a:t>Code generation · Q&amp;A · Summarisation</a:t>
            </a:r>
            <a:endParaRPr lang="en-US" sz="900"/>
          </a:p>
        </p:txBody>
      </p:sp>
      <p:sp>
        <p:nvSpPr>
          <p:cNvPr id="52" name="Shape 27">
            <a:extLst>
              <a:ext uri="{FF2B5EF4-FFF2-40B4-BE49-F238E27FC236}">
                <a16:creationId xmlns:a16="http://schemas.microsoft.com/office/drawing/2014/main" id="{7636DFE9-A71C-9699-1DB0-C383B4A2394E}"/>
              </a:ext>
            </a:extLst>
          </p:cNvPr>
          <p:cNvSpPr/>
          <p:nvPr/>
        </p:nvSpPr>
        <p:spPr>
          <a:xfrm>
            <a:off x="530352" y="4270248"/>
            <a:ext cx="4800600" cy="768096"/>
          </a:xfrm>
          <a:prstGeom prst="roundRect">
            <a:avLst>
              <a:gd name="adj" fmla="val 11905"/>
            </a:avLst>
          </a:prstGeom>
          <a:solidFill>
            <a:srgbClr val="D6E8FF"/>
          </a:solidFill>
          <a:ln w="12700">
            <a:solidFill>
              <a:srgbClr val="0070CD"/>
            </a:solidFill>
            <a:prstDash val="solid"/>
          </a:ln>
          <a:effectLst>
            <a:outerShdw blurRad="101600" dist="25400" dir="8100000" algn="bl" rotWithShape="0">
              <a:srgbClr val="0070CD">
                <a:alpha val="8000"/>
              </a:srgbClr>
            </a:outerShdw>
          </a:effectLst>
        </p:spPr>
      </p:sp>
      <p:sp>
        <p:nvSpPr>
          <p:cNvPr id="54" name="Shape 28">
            <a:extLst>
              <a:ext uri="{FF2B5EF4-FFF2-40B4-BE49-F238E27FC236}">
                <a16:creationId xmlns:a16="http://schemas.microsoft.com/office/drawing/2014/main" id="{8B7E50F2-6130-CD20-5A75-26BFC6B59DC6}"/>
              </a:ext>
            </a:extLst>
          </p:cNvPr>
          <p:cNvSpPr/>
          <p:nvPr/>
        </p:nvSpPr>
        <p:spPr>
          <a:xfrm>
            <a:off x="530352" y="4270248"/>
            <a:ext cx="658368" cy="768096"/>
          </a:xfrm>
          <a:prstGeom prst="rect">
            <a:avLst/>
          </a:prstGeom>
          <a:solidFill>
            <a:srgbClr val="0070CD"/>
          </a:solidFill>
          <a:ln w="12700">
            <a:solidFill>
              <a:srgbClr val="0070CD"/>
            </a:solidFill>
            <a:prstDash val="solid"/>
          </a:ln>
        </p:spPr>
      </p:sp>
      <p:sp>
        <p:nvSpPr>
          <p:cNvPr id="56" name="Text 29">
            <a:extLst>
              <a:ext uri="{FF2B5EF4-FFF2-40B4-BE49-F238E27FC236}">
                <a16:creationId xmlns:a16="http://schemas.microsoft.com/office/drawing/2014/main" id="{6995D401-1927-2572-FF01-015E1D5A8148}"/>
              </a:ext>
            </a:extLst>
          </p:cNvPr>
          <p:cNvSpPr/>
          <p:nvPr/>
        </p:nvSpPr>
        <p:spPr>
          <a:xfrm>
            <a:off x="517996" y="4299080"/>
            <a:ext cx="658368" cy="768096"/>
          </a:xfrm>
          <a:prstGeom prst="rect">
            <a:avLst/>
          </a:prstGeom>
          <a:noFill/>
          <a:ln/>
        </p:spPr>
        <p:txBody>
          <a:bodyPr wrap="square" lIns="0" tIns="0" rIns="0" bIns="0" rtlCol="0" anchor="ctr"/>
          <a:lstStyle/>
          <a:p>
            <a:pPr marL="0" indent="0" algn="ctr">
              <a:buNone/>
            </a:pPr>
            <a:r>
              <a:rPr lang="en-US" sz="1200" b="1">
                <a:solidFill>
                  <a:srgbClr val="FFFFFF"/>
                </a:solidFill>
                <a:latin typeface="Consolas" pitchFamily="34" charset="0"/>
                <a:ea typeface="Consolas" pitchFamily="34" charset="-122"/>
                <a:cs typeface="Consolas" pitchFamily="34" charset="-120"/>
              </a:rPr>
              <a:t>0.7–0.9</a:t>
            </a:r>
            <a:endParaRPr lang="en-US" sz="1200"/>
          </a:p>
        </p:txBody>
      </p:sp>
      <p:sp>
        <p:nvSpPr>
          <p:cNvPr id="58" name="Text 30">
            <a:extLst>
              <a:ext uri="{FF2B5EF4-FFF2-40B4-BE49-F238E27FC236}">
                <a16:creationId xmlns:a16="http://schemas.microsoft.com/office/drawing/2014/main" id="{61E8558A-BE1C-D19C-0804-9E4C30A68067}"/>
              </a:ext>
            </a:extLst>
          </p:cNvPr>
          <p:cNvSpPr/>
          <p:nvPr/>
        </p:nvSpPr>
        <p:spPr>
          <a:xfrm>
            <a:off x="1261872" y="4325112"/>
            <a:ext cx="3931920" cy="274320"/>
          </a:xfrm>
          <a:prstGeom prst="rect">
            <a:avLst/>
          </a:prstGeom>
          <a:noFill/>
          <a:ln/>
        </p:spPr>
        <p:txBody>
          <a:bodyPr wrap="square" lIns="0" tIns="0" rIns="0" bIns="0" rtlCol="0" anchor="ctr"/>
          <a:lstStyle/>
          <a:p>
            <a:pPr marL="0" indent="0">
              <a:buNone/>
            </a:pPr>
            <a:r>
              <a:rPr lang="en-US" sz="1050" b="1">
                <a:solidFill>
                  <a:srgbClr val="0D1B3E"/>
                </a:solidFill>
                <a:latin typeface="Calibri" pitchFamily="34" charset="0"/>
                <a:ea typeface="Calibri" pitchFamily="34" charset="-122"/>
                <a:cs typeface="Calibri" pitchFamily="34" charset="-120"/>
              </a:rPr>
              <a:t>Creative, varied responses</a:t>
            </a:r>
            <a:endParaRPr lang="en-US" sz="1050"/>
          </a:p>
        </p:txBody>
      </p:sp>
      <p:sp>
        <p:nvSpPr>
          <p:cNvPr id="60" name="Text 31">
            <a:extLst>
              <a:ext uri="{FF2B5EF4-FFF2-40B4-BE49-F238E27FC236}">
                <a16:creationId xmlns:a16="http://schemas.microsoft.com/office/drawing/2014/main" id="{BC9079BB-4135-953C-62BA-BF1A2F4C70B3}"/>
              </a:ext>
            </a:extLst>
          </p:cNvPr>
          <p:cNvSpPr/>
          <p:nvPr/>
        </p:nvSpPr>
        <p:spPr>
          <a:xfrm>
            <a:off x="1261872" y="4617720"/>
            <a:ext cx="3931920" cy="365760"/>
          </a:xfrm>
          <a:prstGeom prst="rect">
            <a:avLst/>
          </a:prstGeom>
          <a:noFill/>
          <a:ln/>
        </p:spPr>
        <p:txBody>
          <a:bodyPr wrap="square" lIns="0" tIns="0" rIns="0" bIns="0" rtlCol="0" anchor="ctr"/>
          <a:lstStyle/>
          <a:p>
            <a:pPr marL="0" indent="0">
              <a:buNone/>
            </a:pPr>
            <a:r>
              <a:rPr lang="en-US" sz="900">
                <a:solidFill>
                  <a:srgbClr val="546E7A"/>
                </a:solidFill>
                <a:latin typeface="Calibri" pitchFamily="34" charset="0"/>
                <a:ea typeface="Calibri" pitchFamily="34" charset="-122"/>
                <a:cs typeface="Calibri" pitchFamily="34" charset="-120"/>
              </a:rPr>
              <a:t>Marketing copy · Brainstorming · Story generation</a:t>
            </a:r>
            <a:endParaRPr lang="en-US" sz="900"/>
          </a:p>
        </p:txBody>
      </p:sp>
      <p:sp>
        <p:nvSpPr>
          <p:cNvPr id="62" name="Shape 32">
            <a:extLst>
              <a:ext uri="{FF2B5EF4-FFF2-40B4-BE49-F238E27FC236}">
                <a16:creationId xmlns:a16="http://schemas.microsoft.com/office/drawing/2014/main" id="{2723DACB-238D-941B-C6F3-4FB554C65C33}"/>
              </a:ext>
            </a:extLst>
          </p:cNvPr>
          <p:cNvSpPr/>
          <p:nvPr/>
        </p:nvSpPr>
        <p:spPr>
          <a:xfrm>
            <a:off x="530352" y="5138928"/>
            <a:ext cx="4800600" cy="768096"/>
          </a:xfrm>
          <a:prstGeom prst="roundRect">
            <a:avLst>
              <a:gd name="adj" fmla="val 11905"/>
            </a:avLst>
          </a:prstGeom>
          <a:solidFill>
            <a:srgbClr val="EDE7F6"/>
          </a:solidFill>
          <a:ln w="12700">
            <a:solidFill>
              <a:srgbClr val="5E35B1"/>
            </a:solidFill>
            <a:prstDash val="solid"/>
          </a:ln>
          <a:effectLst>
            <a:outerShdw blurRad="101600" dist="25400" dir="8100000" algn="bl" rotWithShape="0">
              <a:srgbClr val="0070CD">
                <a:alpha val="8000"/>
              </a:srgbClr>
            </a:outerShdw>
          </a:effectLst>
        </p:spPr>
      </p:sp>
      <p:sp>
        <p:nvSpPr>
          <p:cNvPr id="64" name="Shape 33">
            <a:extLst>
              <a:ext uri="{FF2B5EF4-FFF2-40B4-BE49-F238E27FC236}">
                <a16:creationId xmlns:a16="http://schemas.microsoft.com/office/drawing/2014/main" id="{90023544-3E15-11FD-15BE-27CCDBAC7BA6}"/>
              </a:ext>
            </a:extLst>
          </p:cNvPr>
          <p:cNvSpPr/>
          <p:nvPr/>
        </p:nvSpPr>
        <p:spPr>
          <a:xfrm>
            <a:off x="530352" y="5138928"/>
            <a:ext cx="658368" cy="768096"/>
          </a:xfrm>
          <a:prstGeom prst="rect">
            <a:avLst/>
          </a:prstGeom>
          <a:solidFill>
            <a:srgbClr val="5E35B1"/>
          </a:solidFill>
          <a:ln w="12700">
            <a:solidFill>
              <a:srgbClr val="5E35B1"/>
            </a:solidFill>
            <a:prstDash val="solid"/>
          </a:ln>
        </p:spPr>
      </p:sp>
      <p:sp>
        <p:nvSpPr>
          <p:cNvPr id="66" name="Text 34">
            <a:extLst>
              <a:ext uri="{FF2B5EF4-FFF2-40B4-BE49-F238E27FC236}">
                <a16:creationId xmlns:a16="http://schemas.microsoft.com/office/drawing/2014/main" id="{B9EC7DB4-1E92-717D-E872-A95553CF1D86}"/>
              </a:ext>
            </a:extLst>
          </p:cNvPr>
          <p:cNvSpPr/>
          <p:nvPr/>
        </p:nvSpPr>
        <p:spPr>
          <a:xfrm>
            <a:off x="517995" y="5167760"/>
            <a:ext cx="658368" cy="768096"/>
          </a:xfrm>
          <a:prstGeom prst="rect">
            <a:avLst/>
          </a:prstGeom>
          <a:noFill/>
          <a:ln/>
        </p:spPr>
        <p:txBody>
          <a:bodyPr wrap="square" lIns="0" tIns="0" rIns="0" bIns="0" rtlCol="0" anchor="ctr"/>
          <a:lstStyle/>
          <a:p>
            <a:pPr marL="0" indent="0" algn="ctr">
              <a:buNone/>
            </a:pPr>
            <a:r>
              <a:rPr lang="en-US" sz="1200" b="1">
                <a:solidFill>
                  <a:srgbClr val="FFFFFF"/>
                </a:solidFill>
                <a:latin typeface="Consolas" pitchFamily="34" charset="0"/>
                <a:ea typeface="Consolas" pitchFamily="34" charset="-122"/>
                <a:cs typeface="Consolas" pitchFamily="34" charset="-120"/>
              </a:rPr>
              <a:t>1.0</a:t>
            </a:r>
            <a:endParaRPr lang="en-US" sz="1200"/>
          </a:p>
        </p:txBody>
      </p:sp>
      <p:sp>
        <p:nvSpPr>
          <p:cNvPr id="69" name="Text 35">
            <a:extLst>
              <a:ext uri="{FF2B5EF4-FFF2-40B4-BE49-F238E27FC236}">
                <a16:creationId xmlns:a16="http://schemas.microsoft.com/office/drawing/2014/main" id="{924346D5-3B55-F3A1-7327-BE5FB081B23D}"/>
              </a:ext>
            </a:extLst>
          </p:cNvPr>
          <p:cNvSpPr/>
          <p:nvPr/>
        </p:nvSpPr>
        <p:spPr>
          <a:xfrm>
            <a:off x="1261872" y="5193792"/>
            <a:ext cx="3931920" cy="274320"/>
          </a:xfrm>
          <a:prstGeom prst="rect">
            <a:avLst/>
          </a:prstGeom>
          <a:noFill/>
          <a:ln/>
        </p:spPr>
        <p:txBody>
          <a:bodyPr wrap="square" lIns="0" tIns="0" rIns="0" bIns="0" rtlCol="0" anchor="ctr"/>
          <a:lstStyle/>
          <a:p>
            <a:pPr marL="0" indent="0">
              <a:buNone/>
            </a:pPr>
            <a:r>
              <a:rPr lang="en-US" sz="1050" b="1">
                <a:solidFill>
                  <a:srgbClr val="0D1B3E"/>
                </a:solidFill>
                <a:latin typeface="Calibri" pitchFamily="34" charset="0"/>
                <a:ea typeface="Calibri" pitchFamily="34" charset="-122"/>
                <a:cs typeface="Calibri" pitchFamily="34" charset="-120"/>
              </a:rPr>
              <a:t>Highly unpredictable</a:t>
            </a:r>
            <a:endParaRPr lang="en-US" sz="1050"/>
          </a:p>
        </p:txBody>
      </p:sp>
      <p:sp>
        <p:nvSpPr>
          <p:cNvPr id="71" name="Text 36">
            <a:extLst>
              <a:ext uri="{FF2B5EF4-FFF2-40B4-BE49-F238E27FC236}">
                <a16:creationId xmlns:a16="http://schemas.microsoft.com/office/drawing/2014/main" id="{7998CE8A-4E99-7694-2AD3-5A0FE9E84856}"/>
              </a:ext>
            </a:extLst>
          </p:cNvPr>
          <p:cNvSpPr/>
          <p:nvPr/>
        </p:nvSpPr>
        <p:spPr>
          <a:xfrm>
            <a:off x="1261872" y="5486400"/>
            <a:ext cx="3931920" cy="365760"/>
          </a:xfrm>
          <a:prstGeom prst="rect">
            <a:avLst/>
          </a:prstGeom>
          <a:noFill/>
          <a:ln/>
        </p:spPr>
        <p:txBody>
          <a:bodyPr wrap="square" lIns="0" tIns="0" rIns="0" bIns="0" rtlCol="0" anchor="ctr"/>
          <a:lstStyle/>
          <a:p>
            <a:pPr marL="0" indent="0">
              <a:buNone/>
            </a:pPr>
            <a:r>
              <a:rPr lang="en-US" sz="900">
                <a:solidFill>
                  <a:srgbClr val="546E7A"/>
                </a:solidFill>
                <a:latin typeface="Calibri" pitchFamily="34" charset="0"/>
                <a:ea typeface="Calibri" pitchFamily="34" charset="-122"/>
                <a:cs typeface="Calibri" pitchFamily="34" charset="-120"/>
              </a:rPr>
              <a:t>Experimental generation · Diversity testing</a:t>
            </a:r>
            <a:endParaRPr lang="en-US" sz="900"/>
          </a:p>
        </p:txBody>
      </p:sp>
      <p:sp>
        <p:nvSpPr>
          <p:cNvPr id="73" name="Shape 37">
            <a:extLst>
              <a:ext uri="{FF2B5EF4-FFF2-40B4-BE49-F238E27FC236}">
                <a16:creationId xmlns:a16="http://schemas.microsoft.com/office/drawing/2014/main" id="{475902A0-6EDC-0F89-397E-B0C8672C3BCA}"/>
              </a:ext>
            </a:extLst>
          </p:cNvPr>
          <p:cNvSpPr/>
          <p:nvPr/>
        </p:nvSpPr>
        <p:spPr>
          <a:xfrm>
            <a:off x="5760720" y="1234440"/>
            <a:ext cx="6062472" cy="2395728"/>
          </a:xfrm>
          <a:prstGeom prst="roundRect">
            <a:avLst>
              <a:gd name="adj" fmla="val 3817"/>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75" name="Text 38">
            <a:extLst>
              <a:ext uri="{FF2B5EF4-FFF2-40B4-BE49-F238E27FC236}">
                <a16:creationId xmlns:a16="http://schemas.microsoft.com/office/drawing/2014/main" id="{27014FB1-5256-09FF-4A77-5D067952B18D}"/>
              </a:ext>
            </a:extLst>
          </p:cNvPr>
          <p:cNvSpPr/>
          <p:nvPr/>
        </p:nvSpPr>
        <p:spPr>
          <a:xfrm>
            <a:off x="5943600" y="1371600"/>
            <a:ext cx="5742432" cy="292608"/>
          </a:xfrm>
          <a:prstGeom prst="rect">
            <a:avLst/>
          </a:prstGeom>
          <a:noFill/>
          <a:ln/>
        </p:spPr>
        <p:txBody>
          <a:bodyPr wrap="square" lIns="0" tIns="0" rIns="0" bIns="0" rtlCol="0" anchor="ctr"/>
          <a:lstStyle/>
          <a:p>
            <a:pPr marL="0" indent="0">
              <a:buNone/>
            </a:pPr>
            <a:r>
              <a:rPr lang="en-US" sz="1300" b="1">
                <a:solidFill>
                  <a:srgbClr val="0D1B3E"/>
                </a:solidFill>
                <a:latin typeface="Calibri" pitchFamily="34" charset="0"/>
                <a:ea typeface="Calibri" pitchFamily="34" charset="-122"/>
                <a:cs typeface="Calibri" pitchFamily="34" charset="-120"/>
              </a:rPr>
              <a:t>Top-P (Nucleus Sampling)</a:t>
            </a:r>
            <a:endParaRPr lang="en-US" sz="1300"/>
          </a:p>
        </p:txBody>
      </p:sp>
      <p:sp>
        <p:nvSpPr>
          <p:cNvPr id="77" name="Text 39">
            <a:extLst>
              <a:ext uri="{FF2B5EF4-FFF2-40B4-BE49-F238E27FC236}">
                <a16:creationId xmlns:a16="http://schemas.microsoft.com/office/drawing/2014/main" id="{2CC60269-1CE7-2582-EF02-22AB44FF07C3}"/>
              </a:ext>
            </a:extLst>
          </p:cNvPr>
          <p:cNvSpPr/>
          <p:nvPr/>
        </p:nvSpPr>
        <p:spPr>
          <a:xfrm>
            <a:off x="5943600" y="1691640"/>
            <a:ext cx="5715000" cy="658368"/>
          </a:xfrm>
          <a:prstGeom prst="rect">
            <a:avLst/>
          </a:prstGeom>
          <a:noFill/>
          <a:ln/>
        </p:spPr>
        <p:txBody>
          <a:bodyPr wrap="square" lIns="0" tIns="0" rIns="0" bIns="0" rtlCol="0" anchor="ctr"/>
          <a:lstStyle/>
          <a:p>
            <a:pPr marL="0" indent="0">
              <a:lnSpc>
                <a:spcPct val="138000"/>
              </a:lnSpc>
              <a:buNone/>
            </a:pPr>
            <a:r>
              <a:rPr lang="en-US" sz="1000">
                <a:solidFill>
                  <a:srgbClr val="1A2B4C"/>
                </a:solidFill>
                <a:latin typeface="Calibri" pitchFamily="34" charset="0"/>
                <a:ea typeface="Calibri" pitchFamily="34" charset="-122"/>
                <a:cs typeface="Calibri" pitchFamily="34" charset="-120"/>
              </a:rPr>
              <a:t>Limits which tokens are considered by cumulative probability. top_p: 0.9 means only tokens summing to 90% probability mass are sampled. Use temperature OR top_p — not both simultaneously.</a:t>
            </a:r>
            <a:endParaRPr lang="en-US" sz="1000"/>
          </a:p>
        </p:txBody>
      </p:sp>
      <p:sp>
        <p:nvSpPr>
          <p:cNvPr id="79" name="Text 40">
            <a:extLst>
              <a:ext uri="{FF2B5EF4-FFF2-40B4-BE49-F238E27FC236}">
                <a16:creationId xmlns:a16="http://schemas.microsoft.com/office/drawing/2014/main" id="{AA6BF8B1-CF9D-AEEE-7BAB-58B84727E9B8}"/>
              </a:ext>
            </a:extLst>
          </p:cNvPr>
          <p:cNvSpPr/>
          <p:nvPr/>
        </p:nvSpPr>
        <p:spPr>
          <a:xfrm>
            <a:off x="5943600" y="2386584"/>
            <a:ext cx="5715000" cy="256032"/>
          </a:xfrm>
          <a:prstGeom prst="rect">
            <a:avLst/>
          </a:prstGeom>
          <a:noFill/>
          <a:ln/>
        </p:spPr>
        <p:txBody>
          <a:bodyPr wrap="square" lIns="0" tIns="0" rIns="0" bIns="0" rtlCol="0" anchor="ctr"/>
          <a:lstStyle/>
          <a:p>
            <a:pPr marL="0" indent="0">
              <a:buNone/>
            </a:pPr>
            <a:r>
              <a:rPr lang="en-US" sz="950" b="1" i="1">
                <a:solidFill>
                  <a:srgbClr val="00897B"/>
                </a:solidFill>
                <a:latin typeface="Calibri" pitchFamily="34" charset="0"/>
                <a:ea typeface="Calibri" pitchFamily="34" charset="-122"/>
                <a:cs typeface="Calibri" pitchFamily="34" charset="-120"/>
              </a:rPr>
              <a:t>Recommended default: top_p: 1  (let temperature do the work)</a:t>
            </a:r>
            <a:endParaRPr lang="en-US" sz="950"/>
          </a:p>
        </p:txBody>
      </p:sp>
      <p:sp>
        <p:nvSpPr>
          <p:cNvPr id="81" name="Shape 41">
            <a:extLst>
              <a:ext uri="{FF2B5EF4-FFF2-40B4-BE49-F238E27FC236}">
                <a16:creationId xmlns:a16="http://schemas.microsoft.com/office/drawing/2014/main" id="{E65FD3A0-8E2D-3984-D957-F43BBD9F7873}"/>
              </a:ext>
            </a:extLst>
          </p:cNvPr>
          <p:cNvSpPr/>
          <p:nvPr/>
        </p:nvSpPr>
        <p:spPr>
          <a:xfrm>
            <a:off x="5943600" y="2715768"/>
            <a:ext cx="5715000" cy="749808"/>
          </a:xfrm>
          <a:prstGeom prst="roundRect">
            <a:avLst>
              <a:gd name="adj" fmla="val 9756"/>
            </a:avLst>
          </a:prstGeom>
          <a:solidFill>
            <a:srgbClr val="0D1B3E"/>
          </a:solidFill>
          <a:ln w="12700">
            <a:solidFill>
              <a:srgbClr val="0D1B3E"/>
            </a:solidFill>
            <a:prstDash val="solid"/>
          </a:ln>
        </p:spPr>
      </p:sp>
      <p:sp>
        <p:nvSpPr>
          <p:cNvPr id="83" name="Text 42">
            <a:extLst>
              <a:ext uri="{FF2B5EF4-FFF2-40B4-BE49-F238E27FC236}">
                <a16:creationId xmlns:a16="http://schemas.microsoft.com/office/drawing/2014/main" id="{11E86BCA-58D8-5595-3848-61952A9B2728}"/>
              </a:ext>
            </a:extLst>
          </p:cNvPr>
          <p:cNvSpPr/>
          <p:nvPr/>
        </p:nvSpPr>
        <p:spPr>
          <a:xfrm>
            <a:off x="6108192" y="2825496"/>
            <a:ext cx="5422392" cy="256032"/>
          </a:xfrm>
          <a:prstGeom prst="rect">
            <a:avLst/>
          </a:prstGeom>
          <a:noFill/>
          <a:ln/>
        </p:spPr>
        <p:txBody>
          <a:bodyPr wrap="square" lIns="0" tIns="0" rIns="0" bIns="0" rtlCol="0" anchor="ctr"/>
          <a:lstStyle/>
          <a:p>
            <a:pPr marL="0" indent="0">
              <a:buNone/>
            </a:pPr>
            <a:r>
              <a:rPr lang="en-US" sz="900">
                <a:solidFill>
                  <a:srgbClr val="9EC8F0"/>
                </a:solidFill>
                <a:latin typeface="Consolas" pitchFamily="34" charset="0"/>
                <a:ea typeface="Consolas" pitchFamily="34" charset="-122"/>
                <a:cs typeface="Consolas" pitchFamily="34" charset="-120"/>
              </a:rPr>
              <a:t>"temperature": 0.7,  // primary creative control</a:t>
            </a:r>
            <a:endParaRPr lang="en-US" sz="900"/>
          </a:p>
        </p:txBody>
      </p:sp>
      <p:sp>
        <p:nvSpPr>
          <p:cNvPr id="85" name="Text 43">
            <a:extLst>
              <a:ext uri="{FF2B5EF4-FFF2-40B4-BE49-F238E27FC236}">
                <a16:creationId xmlns:a16="http://schemas.microsoft.com/office/drawing/2014/main" id="{11AEA32B-3195-6D22-6F6F-A6D3AA47B5B6}"/>
              </a:ext>
            </a:extLst>
          </p:cNvPr>
          <p:cNvSpPr/>
          <p:nvPr/>
        </p:nvSpPr>
        <p:spPr>
          <a:xfrm>
            <a:off x="6108192" y="3118104"/>
            <a:ext cx="5422392" cy="256032"/>
          </a:xfrm>
          <a:prstGeom prst="rect">
            <a:avLst/>
          </a:prstGeom>
          <a:noFill/>
          <a:ln/>
        </p:spPr>
        <p:txBody>
          <a:bodyPr wrap="square" lIns="0" tIns="0" rIns="0" bIns="0" rtlCol="0" anchor="ctr"/>
          <a:lstStyle/>
          <a:p>
            <a:pPr marL="0" indent="0">
              <a:buNone/>
            </a:pPr>
            <a:r>
              <a:rPr lang="en-US" sz="900">
                <a:solidFill>
                  <a:srgbClr val="6EE7B7"/>
                </a:solidFill>
                <a:latin typeface="Consolas" pitchFamily="34" charset="0"/>
                <a:ea typeface="Consolas" pitchFamily="34" charset="-122"/>
                <a:cs typeface="Consolas" pitchFamily="34" charset="-120"/>
              </a:rPr>
              <a:t>"top_p": 1,          // leave at 1 when using temp</a:t>
            </a:r>
            <a:endParaRPr lang="en-US" sz="900"/>
          </a:p>
        </p:txBody>
      </p:sp>
      <p:sp>
        <p:nvSpPr>
          <p:cNvPr id="87" name="Shape 44">
            <a:extLst>
              <a:ext uri="{FF2B5EF4-FFF2-40B4-BE49-F238E27FC236}">
                <a16:creationId xmlns:a16="http://schemas.microsoft.com/office/drawing/2014/main" id="{763DD98D-9D5C-61C7-EC68-439F65207EB4}"/>
              </a:ext>
            </a:extLst>
          </p:cNvPr>
          <p:cNvSpPr/>
          <p:nvPr/>
        </p:nvSpPr>
        <p:spPr>
          <a:xfrm>
            <a:off x="5760720" y="3776472"/>
            <a:ext cx="6062472" cy="1170432"/>
          </a:xfrm>
          <a:prstGeom prst="roundRect">
            <a:avLst>
              <a:gd name="adj" fmla="val 7813"/>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89" name="Text 45">
            <a:extLst>
              <a:ext uri="{FF2B5EF4-FFF2-40B4-BE49-F238E27FC236}">
                <a16:creationId xmlns:a16="http://schemas.microsoft.com/office/drawing/2014/main" id="{C44DA7F4-DDB9-F355-2CE2-231386884373}"/>
              </a:ext>
            </a:extLst>
          </p:cNvPr>
          <p:cNvSpPr/>
          <p:nvPr/>
        </p:nvSpPr>
        <p:spPr>
          <a:xfrm>
            <a:off x="5943600" y="3913632"/>
            <a:ext cx="1371600" cy="256032"/>
          </a:xfrm>
          <a:prstGeom prst="rect">
            <a:avLst/>
          </a:prstGeom>
          <a:noFill/>
          <a:ln/>
        </p:spPr>
        <p:txBody>
          <a:bodyPr wrap="square" lIns="0" tIns="0" rIns="0" bIns="0" rtlCol="0" anchor="ctr"/>
          <a:lstStyle/>
          <a:p>
            <a:pPr marL="0" indent="0">
              <a:buNone/>
            </a:pPr>
            <a:r>
              <a:rPr lang="en-US" sz="1100" b="1">
                <a:solidFill>
                  <a:srgbClr val="1565C0"/>
                </a:solidFill>
                <a:latin typeface="Consolas" pitchFamily="34" charset="0"/>
                <a:ea typeface="Consolas" pitchFamily="34" charset="-122"/>
                <a:cs typeface="Consolas" pitchFamily="34" charset="-120"/>
              </a:rPr>
              <a:t>max_tokens</a:t>
            </a:r>
            <a:endParaRPr lang="en-US" sz="1100"/>
          </a:p>
        </p:txBody>
      </p:sp>
      <p:sp>
        <p:nvSpPr>
          <p:cNvPr id="91" name="Text 46">
            <a:extLst>
              <a:ext uri="{FF2B5EF4-FFF2-40B4-BE49-F238E27FC236}">
                <a16:creationId xmlns:a16="http://schemas.microsoft.com/office/drawing/2014/main" id="{46EB1DAB-5806-3639-3428-734A62787C0D}"/>
              </a:ext>
            </a:extLst>
          </p:cNvPr>
          <p:cNvSpPr/>
          <p:nvPr/>
        </p:nvSpPr>
        <p:spPr>
          <a:xfrm>
            <a:off x="7388352" y="3913632"/>
            <a:ext cx="4233672" cy="475488"/>
          </a:xfrm>
          <a:prstGeom prst="rect">
            <a:avLst/>
          </a:prstGeom>
          <a:noFill/>
          <a:ln/>
        </p:spPr>
        <p:txBody>
          <a:bodyPr wrap="square" lIns="0" tIns="0" rIns="0" bIns="0" rtlCol="0" anchor="ctr"/>
          <a:lstStyle/>
          <a:p>
            <a:pPr marL="0" indent="0">
              <a:lnSpc>
                <a:spcPct val="130000"/>
              </a:lnSpc>
              <a:buNone/>
            </a:pPr>
            <a:r>
              <a:rPr lang="en-US" sz="950">
                <a:solidFill>
                  <a:srgbClr val="1A2B4C"/>
                </a:solidFill>
                <a:latin typeface="Calibri" pitchFamily="34" charset="0"/>
                <a:ea typeface="Calibri" pitchFamily="34" charset="-122"/>
                <a:cs typeface="Calibri" pitchFamily="34" charset="-120"/>
              </a:rPr>
              <a:t>Hard ceiling on output tokens. Does NOT guarantee the model will produce that many — it stops when done. Set high for long documents, low for short answers.</a:t>
            </a:r>
            <a:endParaRPr lang="en-US" sz="950"/>
          </a:p>
        </p:txBody>
      </p:sp>
      <p:sp>
        <p:nvSpPr>
          <p:cNvPr id="93" name="Text 47">
            <a:extLst>
              <a:ext uri="{FF2B5EF4-FFF2-40B4-BE49-F238E27FC236}">
                <a16:creationId xmlns:a16="http://schemas.microsoft.com/office/drawing/2014/main" id="{C2AF96B8-5051-AA5D-510B-2C990815FC01}"/>
              </a:ext>
            </a:extLst>
          </p:cNvPr>
          <p:cNvSpPr/>
          <p:nvPr/>
        </p:nvSpPr>
        <p:spPr>
          <a:xfrm>
            <a:off x="5943600" y="4453128"/>
            <a:ext cx="1371600" cy="256032"/>
          </a:xfrm>
          <a:prstGeom prst="rect">
            <a:avLst/>
          </a:prstGeom>
          <a:noFill/>
          <a:ln/>
        </p:spPr>
        <p:txBody>
          <a:bodyPr wrap="square" lIns="0" tIns="0" rIns="0" bIns="0" rtlCol="0" anchor="ctr"/>
          <a:lstStyle/>
          <a:p>
            <a:pPr marL="0" indent="0">
              <a:buNone/>
            </a:pPr>
            <a:r>
              <a:rPr lang="en-US" sz="1100" b="1">
                <a:solidFill>
                  <a:srgbClr val="5E35B1"/>
                </a:solidFill>
                <a:latin typeface="Consolas" pitchFamily="34" charset="0"/>
                <a:ea typeface="Consolas" pitchFamily="34" charset="-122"/>
                <a:cs typeface="Consolas" pitchFamily="34" charset="-120"/>
              </a:rPr>
              <a:t>stop_sequences</a:t>
            </a:r>
            <a:endParaRPr lang="en-US" sz="1100"/>
          </a:p>
        </p:txBody>
      </p:sp>
      <p:sp>
        <p:nvSpPr>
          <p:cNvPr id="95" name="Text 48">
            <a:extLst>
              <a:ext uri="{FF2B5EF4-FFF2-40B4-BE49-F238E27FC236}">
                <a16:creationId xmlns:a16="http://schemas.microsoft.com/office/drawing/2014/main" id="{F6DE8F5D-0B97-7A86-2371-0D9029C60DC7}"/>
              </a:ext>
            </a:extLst>
          </p:cNvPr>
          <p:cNvSpPr/>
          <p:nvPr/>
        </p:nvSpPr>
        <p:spPr>
          <a:xfrm>
            <a:off x="7388352" y="4453128"/>
            <a:ext cx="4233672" cy="384048"/>
          </a:xfrm>
          <a:prstGeom prst="rect">
            <a:avLst/>
          </a:prstGeom>
          <a:noFill/>
          <a:ln/>
        </p:spPr>
        <p:txBody>
          <a:bodyPr wrap="square" lIns="0" tIns="0" rIns="0" bIns="0" rtlCol="0" anchor="ctr"/>
          <a:lstStyle/>
          <a:p>
            <a:pPr marL="0" indent="0">
              <a:lnSpc>
                <a:spcPct val="130000"/>
              </a:lnSpc>
              <a:buNone/>
            </a:pPr>
            <a:r>
              <a:rPr lang="en-US" sz="950">
                <a:solidFill>
                  <a:srgbClr val="1A2B4C"/>
                </a:solidFill>
                <a:latin typeface="Calibri" pitchFamily="34" charset="0"/>
                <a:ea typeface="Calibri" pitchFamily="34" charset="-122"/>
                <a:cs typeface="Calibri" pitchFamily="34" charset="-120"/>
              </a:rPr>
              <a:t>Halt generation when a string is hit. E.g. ["&lt;/answer&gt;", "\n\n"] — useful for structured output patterns.</a:t>
            </a:r>
            <a:endParaRPr lang="en-US" sz="950"/>
          </a:p>
        </p:txBody>
      </p:sp>
      <p:sp>
        <p:nvSpPr>
          <p:cNvPr id="97" name="Shape 49">
            <a:extLst>
              <a:ext uri="{FF2B5EF4-FFF2-40B4-BE49-F238E27FC236}">
                <a16:creationId xmlns:a16="http://schemas.microsoft.com/office/drawing/2014/main" id="{7246E11B-75CD-7A8B-7084-FDF859BCB431}"/>
              </a:ext>
            </a:extLst>
          </p:cNvPr>
          <p:cNvSpPr/>
          <p:nvPr/>
        </p:nvSpPr>
        <p:spPr>
          <a:xfrm>
            <a:off x="5760720" y="5074920"/>
            <a:ext cx="6062472" cy="1481328"/>
          </a:xfrm>
          <a:prstGeom prst="roundRect">
            <a:avLst>
              <a:gd name="adj" fmla="val 6173"/>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99" name="Text 50">
            <a:extLst>
              <a:ext uri="{FF2B5EF4-FFF2-40B4-BE49-F238E27FC236}">
                <a16:creationId xmlns:a16="http://schemas.microsoft.com/office/drawing/2014/main" id="{F9986810-1941-0CAE-5762-39B05D886A23}"/>
              </a:ext>
            </a:extLst>
          </p:cNvPr>
          <p:cNvSpPr/>
          <p:nvPr/>
        </p:nvSpPr>
        <p:spPr>
          <a:xfrm>
            <a:off x="5943600" y="5212080"/>
            <a:ext cx="2011680" cy="274320"/>
          </a:xfrm>
          <a:prstGeom prst="rect">
            <a:avLst/>
          </a:prstGeom>
          <a:noFill/>
          <a:ln/>
        </p:spPr>
        <p:txBody>
          <a:bodyPr wrap="square" lIns="0" tIns="0" rIns="0" bIns="0" rtlCol="0" anchor="ctr"/>
          <a:lstStyle/>
          <a:p>
            <a:pPr marL="0" indent="0">
              <a:buNone/>
            </a:pPr>
            <a:r>
              <a:rPr lang="en-US" sz="1300" b="1">
                <a:solidFill>
                  <a:srgbClr val="0D1B3E"/>
                </a:solidFill>
                <a:latin typeface="Calibri" pitchFamily="34" charset="0"/>
                <a:ea typeface="Calibri" pitchFamily="34" charset="-122"/>
                <a:cs typeface="Calibri" pitchFamily="34" charset="-120"/>
              </a:rPr>
              <a:t>System Prompt</a:t>
            </a:r>
            <a:endParaRPr lang="en-US" sz="1300"/>
          </a:p>
        </p:txBody>
      </p:sp>
      <p:sp>
        <p:nvSpPr>
          <p:cNvPr id="101" name="Text 51">
            <a:extLst>
              <a:ext uri="{FF2B5EF4-FFF2-40B4-BE49-F238E27FC236}">
                <a16:creationId xmlns:a16="http://schemas.microsoft.com/office/drawing/2014/main" id="{5F8F9B9A-386F-A78B-BC5F-944FB843F5D8}"/>
              </a:ext>
            </a:extLst>
          </p:cNvPr>
          <p:cNvSpPr/>
          <p:nvPr/>
        </p:nvSpPr>
        <p:spPr>
          <a:xfrm>
            <a:off x="5943600" y="5513832"/>
            <a:ext cx="5715000" cy="896112"/>
          </a:xfrm>
          <a:prstGeom prst="rect">
            <a:avLst/>
          </a:prstGeom>
          <a:noFill/>
          <a:ln/>
        </p:spPr>
        <p:txBody>
          <a:bodyPr wrap="square" lIns="0" tIns="0" rIns="0" bIns="0" rtlCol="0" anchor="ctr"/>
          <a:lstStyle/>
          <a:p>
            <a:pPr marL="0" indent="0">
              <a:lnSpc>
                <a:spcPct val="138000"/>
              </a:lnSpc>
              <a:buNone/>
            </a:pPr>
            <a:r>
              <a:rPr lang="en-US" sz="1000">
                <a:solidFill>
                  <a:srgbClr val="1A2B4C"/>
                </a:solidFill>
                <a:latin typeface="Calibri" pitchFamily="34" charset="0"/>
                <a:ea typeface="Calibri" pitchFamily="34" charset="-122"/>
                <a:cs typeface="Calibri" pitchFamily="34" charset="-120"/>
              </a:rPr>
              <a:t>The system parameter sets Claude's persona, constraints, and instructions before the conversation begins. It persists across the entire turn and carries more weight than user instructions. Use it to define tone, scope, output format, and what Claude should refuse.</a:t>
            </a:r>
            <a:endParaRPr lang="en-US" sz="1000"/>
          </a:p>
        </p:txBody>
      </p:sp>
    </p:spTree>
    <p:extLst>
      <p:ext uri="{BB962C8B-B14F-4D97-AF65-F5344CB8AC3E}">
        <p14:creationId xmlns:p14="http://schemas.microsoft.com/office/powerpoint/2010/main" val="2371027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AC196-CF5A-6314-914B-67023C1B889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0BD9369B-304F-C02A-269D-DF10C2F60BD5}"/>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BCC91318-304D-0532-4214-A21361ABE539}"/>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D9604819-B2BF-94E9-F038-C11307F41452}"/>
              </a:ext>
            </a:extLst>
          </p:cNvPr>
          <p:cNvSpPr/>
          <p:nvPr/>
        </p:nvSpPr>
        <p:spPr>
          <a:xfrm>
            <a:off x="422523" y="282978"/>
            <a:ext cx="9875520" cy="658368"/>
          </a:xfrm>
          <a:prstGeom prst="rect">
            <a:avLst/>
          </a:prstGeom>
          <a:noFill/>
          <a:ln/>
        </p:spPr>
        <p:txBody>
          <a:bodyPr wrap="square" lIns="0" tIns="0" rIns="0" bIns="0" rtlCol="0" anchor="ctr"/>
          <a:lstStyle/>
          <a:p>
            <a:pPr marL="0" indent="0">
              <a:buNone/>
            </a:pPr>
            <a:r>
              <a:rPr lang="en-US" sz="2400" b="1">
                <a:solidFill>
                  <a:schemeClr val="tx2">
                    <a:lumMod val="76000"/>
                    <a:lumOff val="24000"/>
                  </a:schemeClr>
                </a:solidFill>
                <a:latin typeface="Calibri"/>
                <a:ea typeface="Calibri"/>
                <a:cs typeface="Calibri"/>
              </a:rPr>
              <a:t>Skills, System Prompts &amp; Persistent Instructions</a:t>
            </a:r>
            <a:endParaRPr lang="en-US" sz="2400">
              <a:solidFill>
                <a:schemeClr val="tx2">
                  <a:lumMod val="76000"/>
                  <a:lumOff val="24000"/>
                </a:schemeClr>
              </a:solidFill>
              <a:latin typeface="Calibri"/>
              <a:ea typeface="Calibri"/>
              <a:cs typeface="Calibri"/>
            </a:endParaRPr>
          </a:p>
        </p:txBody>
      </p:sp>
      <p:sp>
        <p:nvSpPr>
          <p:cNvPr id="6" name="Text 3">
            <a:extLst>
              <a:ext uri="{FF2B5EF4-FFF2-40B4-BE49-F238E27FC236}">
                <a16:creationId xmlns:a16="http://schemas.microsoft.com/office/drawing/2014/main" id="{E4712D39-DFF6-7EA0-8DC7-113A3E689951}"/>
              </a:ext>
            </a:extLst>
          </p:cNvPr>
          <p:cNvSpPr/>
          <p:nvPr/>
        </p:nvSpPr>
        <p:spPr>
          <a:xfrm>
            <a:off x="422523" y="721560"/>
            <a:ext cx="9144000" cy="292608"/>
          </a:xfrm>
          <a:prstGeom prst="rect">
            <a:avLst/>
          </a:prstGeom>
          <a:noFill/>
          <a:ln/>
        </p:spPr>
        <p:txBody>
          <a:bodyPr wrap="square" lIns="0" tIns="0" rIns="0" bIns="0" rtlCol="0" anchor="ctr"/>
          <a:lstStyle/>
          <a:p>
            <a:pPr marL="0" indent="0">
              <a:buNone/>
            </a:pPr>
            <a:r>
              <a:rPr lang="en-US" sz="1100" i="1">
                <a:solidFill>
                  <a:srgbClr val="2D4A6B"/>
                </a:solidFill>
                <a:latin typeface="Calibri" pitchFamily="34" charset="0"/>
                <a:ea typeface="Calibri" pitchFamily="34" charset="-122"/>
                <a:cs typeface="Calibri" pitchFamily="34" charset="-120"/>
              </a:rPr>
              <a:t>How to encode reusable expertise into Claude — and make it stick across every call</a:t>
            </a:r>
            <a:endParaRPr lang="en-US" sz="1100"/>
          </a:p>
        </p:txBody>
      </p:sp>
      <p:sp>
        <p:nvSpPr>
          <p:cNvPr id="8" name="Shape 5">
            <a:extLst>
              <a:ext uri="{FF2B5EF4-FFF2-40B4-BE49-F238E27FC236}">
                <a16:creationId xmlns:a16="http://schemas.microsoft.com/office/drawing/2014/main" id="{5ACF6C25-BAEA-01E6-2596-2EC9DDBC71FB}"/>
              </a:ext>
            </a:extLst>
          </p:cNvPr>
          <p:cNvSpPr/>
          <p:nvPr/>
        </p:nvSpPr>
        <p:spPr>
          <a:xfrm>
            <a:off x="365760" y="1188720"/>
            <a:ext cx="5577840" cy="5047488"/>
          </a:xfrm>
          <a:prstGeom prst="roundRect">
            <a:avLst>
              <a:gd name="adj" fmla="val 1812"/>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10" name="Text 6">
            <a:extLst>
              <a:ext uri="{FF2B5EF4-FFF2-40B4-BE49-F238E27FC236}">
                <a16:creationId xmlns:a16="http://schemas.microsoft.com/office/drawing/2014/main" id="{C3686557-A077-9661-966C-D780FB747DE3}"/>
              </a:ext>
            </a:extLst>
          </p:cNvPr>
          <p:cNvSpPr/>
          <p:nvPr/>
        </p:nvSpPr>
        <p:spPr>
          <a:xfrm>
            <a:off x="548640" y="1316736"/>
            <a:ext cx="5257800" cy="310896"/>
          </a:xfrm>
          <a:prstGeom prst="rect">
            <a:avLst/>
          </a:prstGeom>
          <a:noFill/>
          <a:ln/>
        </p:spPr>
        <p:txBody>
          <a:bodyPr wrap="square" lIns="0" tIns="0" rIns="0" bIns="0" rtlCol="0" anchor="ctr"/>
          <a:lstStyle/>
          <a:p>
            <a:pPr marL="0" indent="0">
              <a:buNone/>
            </a:pPr>
            <a:r>
              <a:rPr lang="en-US" sz="1400" b="1">
                <a:solidFill>
                  <a:srgbClr val="0D1B3E"/>
                </a:solidFill>
                <a:latin typeface="Calibri" pitchFamily="34" charset="0"/>
                <a:ea typeface="Calibri" pitchFamily="34" charset="-122"/>
                <a:cs typeface="Calibri" pitchFamily="34" charset="-120"/>
              </a:rPr>
              <a:t>What is a SKILL.md?</a:t>
            </a:r>
            <a:endParaRPr lang="en-US" sz="1400"/>
          </a:p>
        </p:txBody>
      </p:sp>
      <p:sp>
        <p:nvSpPr>
          <p:cNvPr id="12" name="Text 7">
            <a:extLst>
              <a:ext uri="{FF2B5EF4-FFF2-40B4-BE49-F238E27FC236}">
                <a16:creationId xmlns:a16="http://schemas.microsoft.com/office/drawing/2014/main" id="{80102BC6-6C13-F858-3B83-A4F47DC9C168}"/>
              </a:ext>
            </a:extLst>
          </p:cNvPr>
          <p:cNvSpPr/>
          <p:nvPr/>
        </p:nvSpPr>
        <p:spPr>
          <a:xfrm>
            <a:off x="548640" y="1664208"/>
            <a:ext cx="5230368" cy="914400"/>
          </a:xfrm>
          <a:prstGeom prst="rect">
            <a:avLst/>
          </a:prstGeom>
          <a:noFill/>
          <a:ln/>
        </p:spPr>
        <p:txBody>
          <a:bodyPr wrap="square" lIns="0" tIns="0" rIns="0" bIns="0" rtlCol="0" anchor="ctr"/>
          <a:lstStyle/>
          <a:p>
            <a:pPr marL="0" indent="0">
              <a:lnSpc>
                <a:spcPct val="140000"/>
              </a:lnSpc>
              <a:buNone/>
            </a:pPr>
            <a:r>
              <a:rPr lang="en-US" sz="1000">
                <a:solidFill>
                  <a:srgbClr val="1A2B4C"/>
                </a:solidFill>
                <a:latin typeface="Calibri" pitchFamily="34" charset="0"/>
                <a:ea typeface="Calibri" pitchFamily="34" charset="-122"/>
                <a:cs typeface="Calibri" pitchFamily="34" charset="-120"/>
              </a:rPr>
              <a:t>A SKILL.md is a structured Markdown file that encodes specialised knowledge, constraints, and workflows for Claude — like a job description for a specific domain. When injected into the system prompt or read before a task, it turns a general Claude model into a domain expert without fine-tuning.</a:t>
            </a:r>
            <a:endParaRPr lang="en-US" sz="1000"/>
          </a:p>
        </p:txBody>
      </p:sp>
      <p:sp>
        <p:nvSpPr>
          <p:cNvPr id="14" name="Text 8">
            <a:extLst>
              <a:ext uri="{FF2B5EF4-FFF2-40B4-BE49-F238E27FC236}">
                <a16:creationId xmlns:a16="http://schemas.microsoft.com/office/drawing/2014/main" id="{EF1B0393-0DD8-49D3-06D9-17A47A0FA4CD}"/>
              </a:ext>
            </a:extLst>
          </p:cNvPr>
          <p:cNvSpPr/>
          <p:nvPr/>
        </p:nvSpPr>
        <p:spPr>
          <a:xfrm>
            <a:off x="548640" y="2651760"/>
            <a:ext cx="5257800" cy="274320"/>
          </a:xfrm>
          <a:prstGeom prst="rect">
            <a:avLst/>
          </a:prstGeom>
          <a:noFill/>
          <a:ln/>
        </p:spPr>
        <p:txBody>
          <a:bodyPr wrap="square" lIns="0" tIns="0" rIns="0" bIns="0" rtlCol="0" anchor="ctr"/>
          <a:lstStyle/>
          <a:p>
            <a:pPr marL="0" indent="0">
              <a:buNone/>
            </a:pPr>
            <a:r>
              <a:rPr lang="en-US" sz="1150" b="1">
                <a:solidFill>
                  <a:srgbClr val="0D1B3E"/>
                </a:solidFill>
                <a:latin typeface="Calibri" pitchFamily="34" charset="0"/>
                <a:ea typeface="Calibri" pitchFamily="34" charset="-122"/>
                <a:cs typeface="Calibri" pitchFamily="34" charset="-120"/>
              </a:rPr>
              <a:t>Anatomy of a SKILL.md</a:t>
            </a:r>
            <a:endParaRPr lang="en-US" sz="1150"/>
          </a:p>
        </p:txBody>
      </p:sp>
      <p:sp>
        <p:nvSpPr>
          <p:cNvPr id="16" name="Shape 9">
            <a:extLst>
              <a:ext uri="{FF2B5EF4-FFF2-40B4-BE49-F238E27FC236}">
                <a16:creationId xmlns:a16="http://schemas.microsoft.com/office/drawing/2014/main" id="{42F0C0EA-4E80-6127-051C-602F67CBE5EF}"/>
              </a:ext>
            </a:extLst>
          </p:cNvPr>
          <p:cNvSpPr/>
          <p:nvPr/>
        </p:nvSpPr>
        <p:spPr>
          <a:xfrm>
            <a:off x="548640" y="2999232"/>
            <a:ext cx="73152" cy="457200"/>
          </a:xfrm>
          <a:prstGeom prst="rect">
            <a:avLst/>
          </a:prstGeom>
          <a:solidFill>
            <a:srgbClr val="1565C0"/>
          </a:solidFill>
          <a:ln w="12700">
            <a:solidFill>
              <a:srgbClr val="1565C0"/>
            </a:solidFill>
            <a:prstDash val="solid"/>
          </a:ln>
        </p:spPr>
      </p:sp>
      <p:sp>
        <p:nvSpPr>
          <p:cNvPr id="18" name="Text 10">
            <a:extLst>
              <a:ext uri="{FF2B5EF4-FFF2-40B4-BE49-F238E27FC236}">
                <a16:creationId xmlns:a16="http://schemas.microsoft.com/office/drawing/2014/main" id="{7D7F0F76-7D38-7F00-F5B7-587E79081505}"/>
              </a:ext>
            </a:extLst>
          </p:cNvPr>
          <p:cNvSpPr/>
          <p:nvPr/>
        </p:nvSpPr>
        <p:spPr>
          <a:xfrm>
            <a:off x="713232" y="3017520"/>
            <a:ext cx="1463040" cy="219456"/>
          </a:xfrm>
          <a:prstGeom prst="rect">
            <a:avLst/>
          </a:prstGeom>
          <a:noFill/>
          <a:ln/>
        </p:spPr>
        <p:txBody>
          <a:bodyPr wrap="square" lIns="0" tIns="0" rIns="0" bIns="0" rtlCol="0" anchor="ctr"/>
          <a:lstStyle/>
          <a:p>
            <a:pPr marL="0" indent="0">
              <a:buNone/>
            </a:pPr>
            <a:r>
              <a:rPr lang="en-US" sz="950" b="1">
                <a:solidFill>
                  <a:srgbClr val="1565C0"/>
                </a:solidFill>
                <a:latin typeface="Consolas" pitchFamily="34" charset="0"/>
                <a:ea typeface="Consolas" pitchFamily="34" charset="-122"/>
                <a:cs typeface="Consolas" pitchFamily="34" charset="-120"/>
              </a:rPr>
              <a:t>name:</a:t>
            </a:r>
            <a:endParaRPr lang="en-US" sz="950"/>
          </a:p>
        </p:txBody>
      </p:sp>
      <p:sp>
        <p:nvSpPr>
          <p:cNvPr id="20" name="Text 11">
            <a:extLst>
              <a:ext uri="{FF2B5EF4-FFF2-40B4-BE49-F238E27FC236}">
                <a16:creationId xmlns:a16="http://schemas.microsoft.com/office/drawing/2014/main" id="{1272DE00-6EEE-8C7D-AEFF-A9A23CCF83F4}"/>
              </a:ext>
            </a:extLst>
          </p:cNvPr>
          <p:cNvSpPr/>
          <p:nvPr/>
        </p:nvSpPr>
        <p:spPr>
          <a:xfrm>
            <a:off x="2267712" y="3017520"/>
            <a:ext cx="1463040" cy="219456"/>
          </a:xfrm>
          <a:prstGeom prst="rect">
            <a:avLst/>
          </a:prstGeom>
          <a:noFill/>
          <a:ln/>
        </p:spPr>
        <p:txBody>
          <a:bodyPr wrap="square" lIns="0" tIns="0" rIns="0" bIns="0" rtlCol="0" anchor="ctr"/>
          <a:lstStyle/>
          <a:p>
            <a:pPr marL="0" indent="0">
              <a:buNone/>
            </a:pPr>
            <a:r>
              <a:rPr lang="en-US" sz="900">
                <a:solidFill>
                  <a:srgbClr val="1A2B4C"/>
                </a:solidFill>
                <a:latin typeface="Consolas" pitchFamily="34" charset="0"/>
                <a:ea typeface="Consolas" pitchFamily="34" charset="-122"/>
                <a:cs typeface="Consolas" pitchFamily="34" charset="-120"/>
              </a:rPr>
              <a:t>pptx</a:t>
            </a:r>
            <a:endParaRPr lang="en-US" sz="900"/>
          </a:p>
        </p:txBody>
      </p:sp>
      <p:sp>
        <p:nvSpPr>
          <p:cNvPr id="22" name="Text 12">
            <a:extLst>
              <a:ext uri="{FF2B5EF4-FFF2-40B4-BE49-F238E27FC236}">
                <a16:creationId xmlns:a16="http://schemas.microsoft.com/office/drawing/2014/main" id="{8E3E3BF5-F52C-30A8-4A66-2DD4648D71D8}"/>
              </a:ext>
            </a:extLst>
          </p:cNvPr>
          <p:cNvSpPr/>
          <p:nvPr/>
        </p:nvSpPr>
        <p:spPr>
          <a:xfrm>
            <a:off x="713232" y="3255264"/>
            <a:ext cx="5010912" cy="237744"/>
          </a:xfrm>
          <a:prstGeom prst="rect">
            <a:avLst/>
          </a:prstGeom>
          <a:noFill/>
          <a:ln/>
        </p:spPr>
        <p:txBody>
          <a:bodyPr wrap="square" lIns="0" tIns="0" rIns="0" bIns="0" rtlCol="0" anchor="ctr"/>
          <a:lstStyle/>
          <a:p>
            <a:pPr marL="0" indent="0">
              <a:buNone/>
            </a:pPr>
            <a:r>
              <a:rPr lang="en-US" sz="900" i="1">
                <a:solidFill>
                  <a:srgbClr val="546E7A"/>
                </a:solidFill>
                <a:latin typeface="Calibri" pitchFamily="34" charset="0"/>
                <a:ea typeface="Calibri" pitchFamily="34" charset="-122"/>
                <a:cs typeface="Calibri" pitchFamily="34" charset="-120"/>
              </a:rPr>
              <a:t>Unique identifier used to find and load the skill</a:t>
            </a:r>
            <a:endParaRPr lang="en-US" sz="900"/>
          </a:p>
        </p:txBody>
      </p:sp>
      <p:sp>
        <p:nvSpPr>
          <p:cNvPr id="24" name="Shape 13">
            <a:extLst>
              <a:ext uri="{FF2B5EF4-FFF2-40B4-BE49-F238E27FC236}">
                <a16:creationId xmlns:a16="http://schemas.microsoft.com/office/drawing/2014/main" id="{097E682E-F816-ADA2-05A5-62C6C2432DC1}"/>
              </a:ext>
            </a:extLst>
          </p:cNvPr>
          <p:cNvSpPr/>
          <p:nvPr/>
        </p:nvSpPr>
        <p:spPr>
          <a:xfrm>
            <a:off x="548640" y="3602736"/>
            <a:ext cx="73152" cy="457200"/>
          </a:xfrm>
          <a:prstGeom prst="rect">
            <a:avLst/>
          </a:prstGeom>
          <a:solidFill>
            <a:srgbClr val="00897B"/>
          </a:solidFill>
          <a:ln w="12700">
            <a:solidFill>
              <a:srgbClr val="00897B"/>
            </a:solidFill>
            <a:prstDash val="solid"/>
          </a:ln>
        </p:spPr>
      </p:sp>
      <p:sp>
        <p:nvSpPr>
          <p:cNvPr id="26" name="Text 14">
            <a:extLst>
              <a:ext uri="{FF2B5EF4-FFF2-40B4-BE49-F238E27FC236}">
                <a16:creationId xmlns:a16="http://schemas.microsoft.com/office/drawing/2014/main" id="{CC8239DF-39F9-0DB1-5471-B8CA86B25923}"/>
              </a:ext>
            </a:extLst>
          </p:cNvPr>
          <p:cNvSpPr/>
          <p:nvPr/>
        </p:nvSpPr>
        <p:spPr>
          <a:xfrm>
            <a:off x="713232" y="3621024"/>
            <a:ext cx="1463040" cy="219456"/>
          </a:xfrm>
          <a:prstGeom prst="rect">
            <a:avLst/>
          </a:prstGeom>
          <a:noFill/>
          <a:ln/>
        </p:spPr>
        <p:txBody>
          <a:bodyPr wrap="square" lIns="0" tIns="0" rIns="0" bIns="0" rtlCol="0" anchor="ctr"/>
          <a:lstStyle/>
          <a:p>
            <a:pPr marL="0" indent="0">
              <a:buNone/>
            </a:pPr>
            <a:r>
              <a:rPr lang="en-US" sz="950" b="1">
                <a:solidFill>
                  <a:srgbClr val="00897B"/>
                </a:solidFill>
                <a:latin typeface="Consolas" pitchFamily="34" charset="0"/>
                <a:ea typeface="Consolas" pitchFamily="34" charset="-122"/>
                <a:cs typeface="Consolas" pitchFamily="34" charset="-120"/>
              </a:rPr>
              <a:t>description:</a:t>
            </a:r>
            <a:endParaRPr lang="en-US" sz="950"/>
          </a:p>
        </p:txBody>
      </p:sp>
      <p:sp>
        <p:nvSpPr>
          <p:cNvPr id="28" name="Text 15">
            <a:extLst>
              <a:ext uri="{FF2B5EF4-FFF2-40B4-BE49-F238E27FC236}">
                <a16:creationId xmlns:a16="http://schemas.microsoft.com/office/drawing/2014/main" id="{8ECEF658-4971-2E48-B40A-CB638899F9BE}"/>
              </a:ext>
            </a:extLst>
          </p:cNvPr>
          <p:cNvSpPr/>
          <p:nvPr/>
        </p:nvSpPr>
        <p:spPr>
          <a:xfrm>
            <a:off x="2267712" y="3621024"/>
            <a:ext cx="1463040" cy="219456"/>
          </a:xfrm>
          <a:prstGeom prst="rect">
            <a:avLst/>
          </a:prstGeom>
          <a:noFill/>
          <a:ln/>
        </p:spPr>
        <p:txBody>
          <a:bodyPr wrap="square" lIns="0" tIns="0" rIns="0" bIns="0" rtlCol="0" anchor="ctr"/>
          <a:lstStyle/>
          <a:p>
            <a:pPr marL="0" indent="0">
              <a:buNone/>
            </a:pPr>
            <a:r>
              <a:rPr lang="en-US" sz="900">
                <a:solidFill>
                  <a:srgbClr val="1A2B4C"/>
                </a:solidFill>
                <a:latin typeface="Consolas" pitchFamily="34" charset="0"/>
                <a:ea typeface="Consolas" pitchFamily="34" charset="-122"/>
                <a:cs typeface="Consolas" pitchFamily="34" charset="-120"/>
              </a:rPr>
              <a:t>"When to trigger..."</a:t>
            </a:r>
            <a:endParaRPr lang="en-US" sz="900"/>
          </a:p>
        </p:txBody>
      </p:sp>
      <p:sp>
        <p:nvSpPr>
          <p:cNvPr id="30" name="Text 16">
            <a:extLst>
              <a:ext uri="{FF2B5EF4-FFF2-40B4-BE49-F238E27FC236}">
                <a16:creationId xmlns:a16="http://schemas.microsoft.com/office/drawing/2014/main" id="{603C2B69-AB8D-6BCF-9D3E-5D8E22B54F67}"/>
              </a:ext>
            </a:extLst>
          </p:cNvPr>
          <p:cNvSpPr/>
          <p:nvPr/>
        </p:nvSpPr>
        <p:spPr>
          <a:xfrm>
            <a:off x="713232" y="3858768"/>
            <a:ext cx="5010912" cy="237744"/>
          </a:xfrm>
          <a:prstGeom prst="rect">
            <a:avLst/>
          </a:prstGeom>
          <a:noFill/>
          <a:ln/>
        </p:spPr>
        <p:txBody>
          <a:bodyPr wrap="square" lIns="0" tIns="0" rIns="0" bIns="0" rtlCol="0" anchor="ctr"/>
          <a:lstStyle/>
          <a:p>
            <a:pPr marL="0" indent="0">
              <a:buNone/>
            </a:pPr>
            <a:r>
              <a:rPr lang="en-US" sz="900" i="1">
                <a:solidFill>
                  <a:srgbClr val="546E7A"/>
                </a:solidFill>
                <a:latin typeface="Calibri" pitchFamily="34" charset="0"/>
                <a:ea typeface="Calibri" pitchFamily="34" charset="-122"/>
                <a:cs typeface="Calibri" pitchFamily="34" charset="-120"/>
              </a:rPr>
              <a:t>Determines when Claude should auto-read this skill</a:t>
            </a:r>
            <a:endParaRPr lang="en-US" sz="900"/>
          </a:p>
        </p:txBody>
      </p:sp>
      <p:sp>
        <p:nvSpPr>
          <p:cNvPr id="32" name="Shape 17">
            <a:extLst>
              <a:ext uri="{FF2B5EF4-FFF2-40B4-BE49-F238E27FC236}">
                <a16:creationId xmlns:a16="http://schemas.microsoft.com/office/drawing/2014/main" id="{8188F462-9C43-E70E-6307-EF82ED3D8142}"/>
              </a:ext>
            </a:extLst>
          </p:cNvPr>
          <p:cNvSpPr/>
          <p:nvPr/>
        </p:nvSpPr>
        <p:spPr>
          <a:xfrm>
            <a:off x="548640" y="4206240"/>
            <a:ext cx="73152" cy="457200"/>
          </a:xfrm>
          <a:prstGeom prst="rect">
            <a:avLst/>
          </a:prstGeom>
          <a:solidFill>
            <a:srgbClr val="5E35B1"/>
          </a:solidFill>
          <a:ln w="12700">
            <a:solidFill>
              <a:srgbClr val="5E35B1"/>
            </a:solidFill>
            <a:prstDash val="solid"/>
          </a:ln>
        </p:spPr>
      </p:sp>
      <p:sp>
        <p:nvSpPr>
          <p:cNvPr id="34" name="Text 18">
            <a:extLst>
              <a:ext uri="{FF2B5EF4-FFF2-40B4-BE49-F238E27FC236}">
                <a16:creationId xmlns:a16="http://schemas.microsoft.com/office/drawing/2014/main" id="{262C02AD-EA75-A3B8-3FF5-BEF87484423C}"/>
              </a:ext>
            </a:extLst>
          </p:cNvPr>
          <p:cNvSpPr/>
          <p:nvPr/>
        </p:nvSpPr>
        <p:spPr>
          <a:xfrm>
            <a:off x="713232" y="4224528"/>
            <a:ext cx="1463040" cy="219456"/>
          </a:xfrm>
          <a:prstGeom prst="rect">
            <a:avLst/>
          </a:prstGeom>
          <a:noFill/>
          <a:ln/>
        </p:spPr>
        <p:txBody>
          <a:bodyPr wrap="square" lIns="0" tIns="0" rIns="0" bIns="0" rtlCol="0" anchor="ctr"/>
          <a:lstStyle/>
          <a:p>
            <a:pPr marL="0" indent="0">
              <a:buNone/>
            </a:pPr>
            <a:r>
              <a:rPr lang="en-US" sz="950" b="1">
                <a:solidFill>
                  <a:srgbClr val="5E35B1"/>
                </a:solidFill>
                <a:latin typeface="Consolas" pitchFamily="34" charset="0"/>
                <a:ea typeface="Consolas" pitchFamily="34" charset="-122"/>
                <a:cs typeface="Consolas" pitchFamily="34" charset="-120"/>
              </a:rPr>
              <a:t># Quick Ref</a:t>
            </a:r>
            <a:endParaRPr lang="en-US" sz="950"/>
          </a:p>
        </p:txBody>
      </p:sp>
      <p:sp>
        <p:nvSpPr>
          <p:cNvPr id="36" name="Text 19">
            <a:extLst>
              <a:ext uri="{FF2B5EF4-FFF2-40B4-BE49-F238E27FC236}">
                <a16:creationId xmlns:a16="http://schemas.microsoft.com/office/drawing/2014/main" id="{2E689137-FBAF-3908-A816-3C38807415D9}"/>
              </a:ext>
            </a:extLst>
          </p:cNvPr>
          <p:cNvSpPr/>
          <p:nvPr/>
        </p:nvSpPr>
        <p:spPr>
          <a:xfrm>
            <a:off x="2267712" y="4224528"/>
            <a:ext cx="1463040" cy="219456"/>
          </a:xfrm>
          <a:prstGeom prst="rect">
            <a:avLst/>
          </a:prstGeom>
          <a:noFill/>
          <a:ln/>
        </p:spPr>
        <p:txBody>
          <a:bodyPr wrap="square" lIns="0" tIns="0" rIns="0" bIns="0" rtlCol="0" anchor="ctr"/>
          <a:lstStyle/>
          <a:p>
            <a:pPr marL="0" indent="0">
              <a:buNone/>
            </a:pPr>
            <a:r>
              <a:rPr lang="en-US" sz="900">
                <a:solidFill>
                  <a:srgbClr val="1A2B4C"/>
                </a:solidFill>
                <a:latin typeface="Consolas" pitchFamily="34" charset="0"/>
                <a:ea typeface="Consolas" pitchFamily="34" charset="-122"/>
                <a:cs typeface="Consolas" pitchFamily="34" charset="-120"/>
              </a:rPr>
              <a:t>tables, examples</a:t>
            </a:r>
            <a:endParaRPr lang="en-US" sz="900"/>
          </a:p>
        </p:txBody>
      </p:sp>
      <p:sp>
        <p:nvSpPr>
          <p:cNvPr id="38" name="Text 20">
            <a:extLst>
              <a:ext uri="{FF2B5EF4-FFF2-40B4-BE49-F238E27FC236}">
                <a16:creationId xmlns:a16="http://schemas.microsoft.com/office/drawing/2014/main" id="{3A7AB360-2F5D-1170-DC0E-316648B4ED02}"/>
              </a:ext>
            </a:extLst>
          </p:cNvPr>
          <p:cNvSpPr/>
          <p:nvPr/>
        </p:nvSpPr>
        <p:spPr>
          <a:xfrm>
            <a:off x="713232" y="4462272"/>
            <a:ext cx="5010912" cy="237744"/>
          </a:xfrm>
          <a:prstGeom prst="rect">
            <a:avLst/>
          </a:prstGeom>
          <a:noFill/>
          <a:ln/>
        </p:spPr>
        <p:txBody>
          <a:bodyPr wrap="square" lIns="0" tIns="0" rIns="0" bIns="0" rtlCol="0" anchor="ctr"/>
          <a:lstStyle/>
          <a:p>
            <a:pPr marL="0" indent="0">
              <a:buNone/>
            </a:pPr>
            <a:r>
              <a:rPr lang="en-US" sz="900" i="1">
                <a:solidFill>
                  <a:srgbClr val="546E7A"/>
                </a:solidFill>
                <a:latin typeface="Calibri" pitchFamily="34" charset="0"/>
                <a:ea typeface="Calibri" pitchFamily="34" charset="-122"/>
                <a:cs typeface="Calibri" pitchFamily="34" charset="-120"/>
              </a:rPr>
              <a:t>Fast lookup — format hints, library info, commands</a:t>
            </a:r>
            <a:endParaRPr lang="en-US" sz="900"/>
          </a:p>
        </p:txBody>
      </p:sp>
      <p:sp>
        <p:nvSpPr>
          <p:cNvPr id="40" name="Shape 21">
            <a:extLst>
              <a:ext uri="{FF2B5EF4-FFF2-40B4-BE49-F238E27FC236}">
                <a16:creationId xmlns:a16="http://schemas.microsoft.com/office/drawing/2014/main" id="{9C1C3A01-9CCA-E9A0-D4A7-C9A95619B249}"/>
              </a:ext>
            </a:extLst>
          </p:cNvPr>
          <p:cNvSpPr/>
          <p:nvPr/>
        </p:nvSpPr>
        <p:spPr>
          <a:xfrm>
            <a:off x="548640" y="4809744"/>
            <a:ext cx="73152" cy="457200"/>
          </a:xfrm>
          <a:prstGeom prst="rect">
            <a:avLst/>
          </a:prstGeom>
          <a:solidFill>
            <a:srgbClr val="2E7D32"/>
          </a:solidFill>
          <a:ln w="12700">
            <a:solidFill>
              <a:srgbClr val="2E7D32"/>
            </a:solidFill>
            <a:prstDash val="solid"/>
          </a:ln>
        </p:spPr>
      </p:sp>
      <p:sp>
        <p:nvSpPr>
          <p:cNvPr id="42" name="Text 22">
            <a:extLst>
              <a:ext uri="{FF2B5EF4-FFF2-40B4-BE49-F238E27FC236}">
                <a16:creationId xmlns:a16="http://schemas.microsoft.com/office/drawing/2014/main" id="{7CCFC763-4564-6F04-210A-3BB0CC3FB9FA}"/>
              </a:ext>
            </a:extLst>
          </p:cNvPr>
          <p:cNvSpPr/>
          <p:nvPr/>
        </p:nvSpPr>
        <p:spPr>
          <a:xfrm>
            <a:off x="713232" y="4828032"/>
            <a:ext cx="1463040" cy="219456"/>
          </a:xfrm>
          <a:prstGeom prst="rect">
            <a:avLst/>
          </a:prstGeom>
          <a:noFill/>
          <a:ln/>
        </p:spPr>
        <p:txBody>
          <a:bodyPr wrap="square" lIns="0" tIns="0" rIns="0" bIns="0" rtlCol="0" anchor="ctr"/>
          <a:lstStyle/>
          <a:p>
            <a:pPr marL="0" indent="0">
              <a:buNone/>
            </a:pPr>
            <a:r>
              <a:rPr lang="en-US" sz="950" b="1">
                <a:solidFill>
                  <a:srgbClr val="2E7D32"/>
                </a:solidFill>
                <a:latin typeface="Consolas" pitchFamily="34" charset="0"/>
                <a:ea typeface="Consolas" pitchFamily="34" charset="-122"/>
                <a:cs typeface="Consolas" pitchFamily="34" charset="-120"/>
              </a:rPr>
              <a:t>## Workflow</a:t>
            </a:r>
            <a:endParaRPr lang="en-US" sz="950"/>
          </a:p>
        </p:txBody>
      </p:sp>
      <p:sp>
        <p:nvSpPr>
          <p:cNvPr id="44" name="Text 23">
            <a:extLst>
              <a:ext uri="{FF2B5EF4-FFF2-40B4-BE49-F238E27FC236}">
                <a16:creationId xmlns:a16="http://schemas.microsoft.com/office/drawing/2014/main" id="{CFF0C3D0-E7C8-E349-0BA0-459433B1055A}"/>
              </a:ext>
            </a:extLst>
          </p:cNvPr>
          <p:cNvSpPr/>
          <p:nvPr/>
        </p:nvSpPr>
        <p:spPr>
          <a:xfrm>
            <a:off x="2267712" y="4828032"/>
            <a:ext cx="1463040" cy="219456"/>
          </a:xfrm>
          <a:prstGeom prst="rect">
            <a:avLst/>
          </a:prstGeom>
          <a:noFill/>
          <a:ln/>
        </p:spPr>
        <p:txBody>
          <a:bodyPr wrap="square" lIns="0" tIns="0" rIns="0" bIns="0" rtlCol="0" anchor="ctr"/>
          <a:lstStyle/>
          <a:p>
            <a:pPr marL="0" indent="0">
              <a:buNone/>
            </a:pPr>
            <a:r>
              <a:rPr lang="en-US" sz="900">
                <a:solidFill>
                  <a:srgbClr val="1A2B4C"/>
                </a:solidFill>
                <a:latin typeface="Consolas" pitchFamily="34" charset="0"/>
                <a:ea typeface="Consolas" pitchFamily="34" charset="-122"/>
                <a:cs typeface="Consolas" pitchFamily="34" charset="-120"/>
              </a:rPr>
              <a:t>numbered steps</a:t>
            </a:r>
            <a:endParaRPr lang="en-US" sz="900"/>
          </a:p>
        </p:txBody>
      </p:sp>
      <p:sp>
        <p:nvSpPr>
          <p:cNvPr id="46" name="Text 24">
            <a:extLst>
              <a:ext uri="{FF2B5EF4-FFF2-40B4-BE49-F238E27FC236}">
                <a16:creationId xmlns:a16="http://schemas.microsoft.com/office/drawing/2014/main" id="{334732CD-C874-7264-1168-056EFCEDB0CD}"/>
              </a:ext>
            </a:extLst>
          </p:cNvPr>
          <p:cNvSpPr/>
          <p:nvPr/>
        </p:nvSpPr>
        <p:spPr>
          <a:xfrm>
            <a:off x="713232" y="5065776"/>
            <a:ext cx="5010912" cy="237744"/>
          </a:xfrm>
          <a:prstGeom prst="rect">
            <a:avLst/>
          </a:prstGeom>
          <a:noFill/>
          <a:ln/>
        </p:spPr>
        <p:txBody>
          <a:bodyPr wrap="square" lIns="0" tIns="0" rIns="0" bIns="0" rtlCol="0" anchor="ctr"/>
          <a:lstStyle/>
          <a:p>
            <a:pPr marL="0" indent="0">
              <a:buNone/>
            </a:pPr>
            <a:r>
              <a:rPr lang="en-US" sz="900" i="1">
                <a:solidFill>
                  <a:srgbClr val="546E7A"/>
                </a:solidFill>
                <a:latin typeface="Calibri" pitchFamily="34" charset="0"/>
                <a:ea typeface="Calibri" pitchFamily="34" charset="-122"/>
                <a:cs typeface="Calibri" pitchFamily="34" charset="-120"/>
              </a:rPr>
              <a:t>Step-by-step instructions for the task type</a:t>
            </a:r>
            <a:endParaRPr lang="en-US" sz="900"/>
          </a:p>
        </p:txBody>
      </p:sp>
      <p:sp>
        <p:nvSpPr>
          <p:cNvPr id="48" name="Shape 25">
            <a:extLst>
              <a:ext uri="{FF2B5EF4-FFF2-40B4-BE49-F238E27FC236}">
                <a16:creationId xmlns:a16="http://schemas.microsoft.com/office/drawing/2014/main" id="{E8905259-F3C7-30E8-EA4F-31B9EE2AFCE2}"/>
              </a:ext>
            </a:extLst>
          </p:cNvPr>
          <p:cNvSpPr/>
          <p:nvPr/>
        </p:nvSpPr>
        <p:spPr>
          <a:xfrm>
            <a:off x="548640" y="5413248"/>
            <a:ext cx="73152" cy="457200"/>
          </a:xfrm>
          <a:prstGeom prst="rect">
            <a:avLst/>
          </a:prstGeom>
          <a:solidFill>
            <a:srgbClr val="C62828"/>
          </a:solidFill>
          <a:ln w="12700">
            <a:solidFill>
              <a:srgbClr val="C62828"/>
            </a:solidFill>
            <a:prstDash val="solid"/>
          </a:ln>
        </p:spPr>
      </p:sp>
      <p:sp>
        <p:nvSpPr>
          <p:cNvPr id="50" name="Text 26">
            <a:extLst>
              <a:ext uri="{FF2B5EF4-FFF2-40B4-BE49-F238E27FC236}">
                <a16:creationId xmlns:a16="http://schemas.microsoft.com/office/drawing/2014/main" id="{849DCAB5-879C-C806-AB98-00CC759BE841}"/>
              </a:ext>
            </a:extLst>
          </p:cNvPr>
          <p:cNvSpPr/>
          <p:nvPr/>
        </p:nvSpPr>
        <p:spPr>
          <a:xfrm>
            <a:off x="713232" y="5431536"/>
            <a:ext cx="1463040" cy="219456"/>
          </a:xfrm>
          <a:prstGeom prst="rect">
            <a:avLst/>
          </a:prstGeom>
          <a:noFill/>
          <a:ln/>
        </p:spPr>
        <p:txBody>
          <a:bodyPr wrap="square" lIns="0" tIns="0" rIns="0" bIns="0" rtlCol="0" anchor="ctr"/>
          <a:lstStyle/>
          <a:p>
            <a:pPr marL="0" indent="0">
              <a:buNone/>
            </a:pPr>
            <a:r>
              <a:rPr lang="en-US" sz="950" b="1">
                <a:solidFill>
                  <a:srgbClr val="C62828"/>
                </a:solidFill>
                <a:latin typeface="Consolas" pitchFamily="34" charset="0"/>
                <a:ea typeface="Consolas" pitchFamily="34" charset="-122"/>
                <a:cs typeface="Consolas" pitchFamily="34" charset="-120"/>
              </a:rPr>
              <a:t>## Avoid</a:t>
            </a:r>
            <a:endParaRPr lang="en-US" sz="950"/>
          </a:p>
        </p:txBody>
      </p:sp>
      <p:sp>
        <p:nvSpPr>
          <p:cNvPr id="52" name="Text 27">
            <a:extLst>
              <a:ext uri="{FF2B5EF4-FFF2-40B4-BE49-F238E27FC236}">
                <a16:creationId xmlns:a16="http://schemas.microsoft.com/office/drawing/2014/main" id="{AADE05B2-AAAD-0A05-2E08-25A3E2438586}"/>
              </a:ext>
            </a:extLst>
          </p:cNvPr>
          <p:cNvSpPr/>
          <p:nvPr/>
        </p:nvSpPr>
        <p:spPr>
          <a:xfrm>
            <a:off x="2267712" y="5431536"/>
            <a:ext cx="1463040" cy="219456"/>
          </a:xfrm>
          <a:prstGeom prst="rect">
            <a:avLst/>
          </a:prstGeom>
          <a:noFill/>
          <a:ln/>
        </p:spPr>
        <p:txBody>
          <a:bodyPr wrap="square" lIns="0" tIns="0" rIns="0" bIns="0" rtlCol="0" anchor="ctr"/>
          <a:lstStyle/>
          <a:p>
            <a:pPr marL="0" indent="0">
              <a:buNone/>
            </a:pPr>
            <a:r>
              <a:rPr lang="en-US" sz="900">
                <a:solidFill>
                  <a:srgbClr val="1A2B4C"/>
                </a:solidFill>
                <a:latin typeface="Consolas" pitchFamily="34" charset="0"/>
                <a:ea typeface="Consolas" pitchFamily="34" charset="-122"/>
                <a:cs typeface="Consolas" pitchFamily="34" charset="-120"/>
              </a:rPr>
              <a:t>anti-patterns list</a:t>
            </a:r>
            <a:endParaRPr lang="en-US" sz="900"/>
          </a:p>
        </p:txBody>
      </p:sp>
      <p:sp>
        <p:nvSpPr>
          <p:cNvPr id="54" name="Text 28">
            <a:extLst>
              <a:ext uri="{FF2B5EF4-FFF2-40B4-BE49-F238E27FC236}">
                <a16:creationId xmlns:a16="http://schemas.microsoft.com/office/drawing/2014/main" id="{41C19D8D-6FF5-1595-679A-51877286E5F5}"/>
              </a:ext>
            </a:extLst>
          </p:cNvPr>
          <p:cNvSpPr/>
          <p:nvPr/>
        </p:nvSpPr>
        <p:spPr>
          <a:xfrm>
            <a:off x="713232" y="5669280"/>
            <a:ext cx="5010912" cy="237744"/>
          </a:xfrm>
          <a:prstGeom prst="rect">
            <a:avLst/>
          </a:prstGeom>
          <a:noFill/>
          <a:ln/>
        </p:spPr>
        <p:txBody>
          <a:bodyPr wrap="square" lIns="0" tIns="0" rIns="0" bIns="0" rtlCol="0" anchor="ctr"/>
          <a:lstStyle/>
          <a:p>
            <a:pPr marL="0" indent="0">
              <a:buNone/>
            </a:pPr>
            <a:r>
              <a:rPr lang="en-US" sz="900" i="1">
                <a:solidFill>
                  <a:srgbClr val="546E7A"/>
                </a:solidFill>
                <a:latin typeface="Calibri" pitchFamily="34" charset="0"/>
                <a:ea typeface="Calibri" pitchFamily="34" charset="-122"/>
                <a:cs typeface="Calibri" pitchFamily="34" charset="-120"/>
              </a:rPr>
              <a:t>Common mistakes explicitly called out to prevent</a:t>
            </a:r>
            <a:endParaRPr lang="en-US" sz="900"/>
          </a:p>
        </p:txBody>
      </p:sp>
      <p:sp>
        <p:nvSpPr>
          <p:cNvPr id="56" name="Shape 29">
            <a:extLst>
              <a:ext uri="{FF2B5EF4-FFF2-40B4-BE49-F238E27FC236}">
                <a16:creationId xmlns:a16="http://schemas.microsoft.com/office/drawing/2014/main" id="{01A43DCD-4BFB-3C9E-B5B8-52B9FA306365}"/>
              </a:ext>
            </a:extLst>
          </p:cNvPr>
          <p:cNvSpPr/>
          <p:nvPr/>
        </p:nvSpPr>
        <p:spPr>
          <a:xfrm>
            <a:off x="6172200" y="1188720"/>
            <a:ext cx="5650992" cy="2340864"/>
          </a:xfrm>
          <a:prstGeom prst="roundRect">
            <a:avLst>
              <a:gd name="adj" fmla="val 3906"/>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58" name="Text 30">
            <a:extLst>
              <a:ext uri="{FF2B5EF4-FFF2-40B4-BE49-F238E27FC236}">
                <a16:creationId xmlns:a16="http://schemas.microsoft.com/office/drawing/2014/main" id="{A8A28598-AAF0-1FB0-07E1-3A8EB31FB036}"/>
              </a:ext>
            </a:extLst>
          </p:cNvPr>
          <p:cNvSpPr/>
          <p:nvPr/>
        </p:nvSpPr>
        <p:spPr>
          <a:xfrm>
            <a:off x="6355080" y="1316736"/>
            <a:ext cx="5330952" cy="292608"/>
          </a:xfrm>
          <a:prstGeom prst="rect">
            <a:avLst/>
          </a:prstGeom>
          <a:noFill/>
          <a:ln/>
        </p:spPr>
        <p:txBody>
          <a:bodyPr wrap="square" lIns="0" tIns="0" rIns="0" bIns="0" rtlCol="0" anchor="ctr"/>
          <a:lstStyle/>
          <a:p>
            <a:pPr marL="0" indent="0">
              <a:buNone/>
            </a:pPr>
            <a:r>
              <a:rPr lang="en-US" sz="1300" b="1">
                <a:solidFill>
                  <a:srgbClr val="0D1B3E"/>
                </a:solidFill>
                <a:latin typeface="Calibri" pitchFamily="34" charset="0"/>
                <a:ea typeface="Calibri" pitchFamily="34" charset="-122"/>
                <a:cs typeface="Calibri" pitchFamily="34" charset="-120"/>
              </a:rPr>
              <a:t>System Prompt Architecture</a:t>
            </a:r>
            <a:endParaRPr lang="en-US" sz="1300"/>
          </a:p>
        </p:txBody>
      </p:sp>
      <p:sp>
        <p:nvSpPr>
          <p:cNvPr id="60" name="Shape 31">
            <a:extLst>
              <a:ext uri="{FF2B5EF4-FFF2-40B4-BE49-F238E27FC236}">
                <a16:creationId xmlns:a16="http://schemas.microsoft.com/office/drawing/2014/main" id="{8E2FBF3F-46BE-CDF5-0F17-E68F16C0CC5F}"/>
              </a:ext>
            </a:extLst>
          </p:cNvPr>
          <p:cNvSpPr/>
          <p:nvPr/>
        </p:nvSpPr>
        <p:spPr>
          <a:xfrm>
            <a:off x="6355080" y="1682496"/>
            <a:ext cx="5303520" cy="347472"/>
          </a:xfrm>
          <a:prstGeom prst="rect">
            <a:avLst/>
          </a:prstGeom>
          <a:solidFill>
            <a:srgbClr val="0D1B3E"/>
          </a:solidFill>
          <a:ln w="12700">
            <a:solidFill>
              <a:srgbClr val="0D1B3E"/>
            </a:solidFill>
            <a:prstDash val="solid"/>
          </a:ln>
        </p:spPr>
      </p:sp>
      <p:sp>
        <p:nvSpPr>
          <p:cNvPr id="62" name="Text 32">
            <a:extLst>
              <a:ext uri="{FF2B5EF4-FFF2-40B4-BE49-F238E27FC236}">
                <a16:creationId xmlns:a16="http://schemas.microsoft.com/office/drawing/2014/main" id="{9E338B5E-E76D-70FA-B667-415FA69D4DFB}"/>
              </a:ext>
            </a:extLst>
          </p:cNvPr>
          <p:cNvSpPr/>
          <p:nvPr/>
        </p:nvSpPr>
        <p:spPr>
          <a:xfrm>
            <a:off x="6446520" y="1682496"/>
            <a:ext cx="2194560" cy="347472"/>
          </a:xfrm>
          <a:prstGeom prst="rect">
            <a:avLst/>
          </a:prstGeom>
          <a:noFill/>
          <a:ln/>
        </p:spPr>
        <p:txBody>
          <a:bodyPr wrap="square" lIns="0" tIns="0" rIns="0" bIns="0" rtlCol="0" anchor="ctr"/>
          <a:lstStyle/>
          <a:p>
            <a:pPr marL="0" indent="0">
              <a:buNone/>
            </a:pPr>
            <a:r>
              <a:rPr lang="en-US" sz="950" b="1">
                <a:solidFill>
                  <a:srgbClr val="FFFFFF"/>
                </a:solidFill>
                <a:latin typeface="Calibri" pitchFamily="34" charset="0"/>
                <a:ea typeface="Calibri" pitchFamily="34" charset="-122"/>
                <a:cs typeface="Calibri" pitchFamily="34" charset="-120"/>
              </a:rPr>
              <a:t>Core Identity &amp; Rules</a:t>
            </a:r>
            <a:endParaRPr lang="en-US" sz="950"/>
          </a:p>
        </p:txBody>
      </p:sp>
      <p:sp>
        <p:nvSpPr>
          <p:cNvPr id="64" name="Text 33">
            <a:extLst>
              <a:ext uri="{FF2B5EF4-FFF2-40B4-BE49-F238E27FC236}">
                <a16:creationId xmlns:a16="http://schemas.microsoft.com/office/drawing/2014/main" id="{355A9B79-C2A6-6B18-10E5-7FF567CD5027}"/>
              </a:ext>
            </a:extLst>
          </p:cNvPr>
          <p:cNvSpPr/>
          <p:nvPr/>
        </p:nvSpPr>
        <p:spPr>
          <a:xfrm>
            <a:off x="8750808" y="1682496"/>
            <a:ext cx="2852928" cy="347472"/>
          </a:xfrm>
          <a:prstGeom prst="rect">
            <a:avLst/>
          </a:prstGeom>
          <a:noFill/>
          <a:ln/>
        </p:spPr>
        <p:txBody>
          <a:bodyPr wrap="square" lIns="0" tIns="0" rIns="0" bIns="0" rtlCol="0" anchor="ctr"/>
          <a:lstStyle/>
          <a:p>
            <a:pPr marL="0" indent="0">
              <a:buNone/>
            </a:pPr>
            <a:r>
              <a:rPr lang="en-US" sz="850" i="1">
                <a:solidFill>
                  <a:srgbClr val="D0E8FF"/>
                </a:solidFill>
                <a:latin typeface="Calibri" pitchFamily="34" charset="0"/>
                <a:ea typeface="Calibri" pitchFamily="34" charset="-122"/>
                <a:cs typeface="Calibri" pitchFamily="34" charset="-120"/>
              </a:rPr>
              <a:t>Never overridden by users or operators — Anthropic's values</a:t>
            </a:r>
            <a:endParaRPr lang="en-US" sz="850"/>
          </a:p>
        </p:txBody>
      </p:sp>
      <p:sp>
        <p:nvSpPr>
          <p:cNvPr id="66" name="Shape 34">
            <a:extLst>
              <a:ext uri="{FF2B5EF4-FFF2-40B4-BE49-F238E27FC236}">
                <a16:creationId xmlns:a16="http://schemas.microsoft.com/office/drawing/2014/main" id="{35273534-DD6D-FD4B-7DD7-7D91AA3AB3D3}"/>
              </a:ext>
            </a:extLst>
          </p:cNvPr>
          <p:cNvSpPr/>
          <p:nvPr/>
        </p:nvSpPr>
        <p:spPr>
          <a:xfrm>
            <a:off x="6355080" y="2103120"/>
            <a:ext cx="5303520" cy="347472"/>
          </a:xfrm>
          <a:prstGeom prst="rect">
            <a:avLst/>
          </a:prstGeom>
          <a:solidFill>
            <a:srgbClr val="1565C0"/>
          </a:solidFill>
          <a:ln w="12700">
            <a:solidFill>
              <a:srgbClr val="1565C0"/>
            </a:solidFill>
            <a:prstDash val="solid"/>
          </a:ln>
        </p:spPr>
      </p:sp>
      <p:sp>
        <p:nvSpPr>
          <p:cNvPr id="69" name="Text 35">
            <a:extLst>
              <a:ext uri="{FF2B5EF4-FFF2-40B4-BE49-F238E27FC236}">
                <a16:creationId xmlns:a16="http://schemas.microsoft.com/office/drawing/2014/main" id="{A191C36E-D470-D079-057E-49A1BB901F27}"/>
              </a:ext>
            </a:extLst>
          </p:cNvPr>
          <p:cNvSpPr/>
          <p:nvPr/>
        </p:nvSpPr>
        <p:spPr>
          <a:xfrm>
            <a:off x="6446520" y="2103120"/>
            <a:ext cx="2194560" cy="347472"/>
          </a:xfrm>
          <a:prstGeom prst="rect">
            <a:avLst/>
          </a:prstGeom>
          <a:noFill/>
          <a:ln/>
        </p:spPr>
        <p:txBody>
          <a:bodyPr wrap="square" lIns="0" tIns="0" rIns="0" bIns="0" rtlCol="0" anchor="ctr"/>
          <a:lstStyle/>
          <a:p>
            <a:pPr marL="0" indent="0">
              <a:buNone/>
            </a:pPr>
            <a:r>
              <a:rPr lang="en-US" sz="950" b="1">
                <a:solidFill>
                  <a:srgbClr val="FFFFFF"/>
                </a:solidFill>
                <a:latin typeface="Calibri" pitchFamily="34" charset="0"/>
                <a:ea typeface="Calibri" pitchFamily="34" charset="-122"/>
                <a:cs typeface="Calibri" pitchFamily="34" charset="-120"/>
              </a:rPr>
              <a:t>Operator System Prompt</a:t>
            </a:r>
            <a:endParaRPr lang="en-US" sz="950"/>
          </a:p>
        </p:txBody>
      </p:sp>
      <p:sp>
        <p:nvSpPr>
          <p:cNvPr id="71" name="Text 36">
            <a:extLst>
              <a:ext uri="{FF2B5EF4-FFF2-40B4-BE49-F238E27FC236}">
                <a16:creationId xmlns:a16="http://schemas.microsoft.com/office/drawing/2014/main" id="{23291345-BF0B-BD56-A35A-944DE1535EFC}"/>
              </a:ext>
            </a:extLst>
          </p:cNvPr>
          <p:cNvSpPr/>
          <p:nvPr/>
        </p:nvSpPr>
        <p:spPr>
          <a:xfrm>
            <a:off x="8750808" y="2103120"/>
            <a:ext cx="2852928" cy="347472"/>
          </a:xfrm>
          <a:prstGeom prst="rect">
            <a:avLst/>
          </a:prstGeom>
          <a:noFill/>
          <a:ln/>
        </p:spPr>
        <p:txBody>
          <a:bodyPr wrap="square" lIns="0" tIns="0" rIns="0" bIns="0" rtlCol="0" anchor="ctr"/>
          <a:lstStyle/>
          <a:p>
            <a:pPr marL="0" indent="0">
              <a:buNone/>
            </a:pPr>
            <a:r>
              <a:rPr lang="en-US" sz="850" i="1">
                <a:solidFill>
                  <a:srgbClr val="D0E8FF"/>
                </a:solidFill>
                <a:latin typeface="Calibri" pitchFamily="34" charset="0"/>
                <a:ea typeface="Calibri" pitchFamily="34" charset="-122"/>
                <a:cs typeface="Calibri" pitchFamily="34" charset="-120"/>
              </a:rPr>
              <a:t>Your deployment-level instructions, skill content, persona</a:t>
            </a:r>
            <a:endParaRPr lang="en-US" sz="850"/>
          </a:p>
        </p:txBody>
      </p:sp>
      <p:sp>
        <p:nvSpPr>
          <p:cNvPr id="73" name="Shape 37">
            <a:extLst>
              <a:ext uri="{FF2B5EF4-FFF2-40B4-BE49-F238E27FC236}">
                <a16:creationId xmlns:a16="http://schemas.microsoft.com/office/drawing/2014/main" id="{704C2917-5521-408C-284A-5A9038072418}"/>
              </a:ext>
            </a:extLst>
          </p:cNvPr>
          <p:cNvSpPr/>
          <p:nvPr/>
        </p:nvSpPr>
        <p:spPr>
          <a:xfrm>
            <a:off x="6355080" y="2523744"/>
            <a:ext cx="5303520" cy="347472"/>
          </a:xfrm>
          <a:prstGeom prst="rect">
            <a:avLst/>
          </a:prstGeom>
          <a:solidFill>
            <a:srgbClr val="00897B"/>
          </a:solidFill>
          <a:ln w="12700">
            <a:solidFill>
              <a:srgbClr val="00897B"/>
            </a:solidFill>
            <a:prstDash val="solid"/>
          </a:ln>
        </p:spPr>
      </p:sp>
      <p:sp>
        <p:nvSpPr>
          <p:cNvPr id="75" name="Text 38">
            <a:extLst>
              <a:ext uri="{FF2B5EF4-FFF2-40B4-BE49-F238E27FC236}">
                <a16:creationId xmlns:a16="http://schemas.microsoft.com/office/drawing/2014/main" id="{F2866A4A-300B-1052-3041-15B2773E62E3}"/>
              </a:ext>
            </a:extLst>
          </p:cNvPr>
          <p:cNvSpPr/>
          <p:nvPr/>
        </p:nvSpPr>
        <p:spPr>
          <a:xfrm>
            <a:off x="6446520" y="2523744"/>
            <a:ext cx="2194560" cy="347472"/>
          </a:xfrm>
          <a:prstGeom prst="rect">
            <a:avLst/>
          </a:prstGeom>
          <a:noFill/>
          <a:ln/>
        </p:spPr>
        <p:txBody>
          <a:bodyPr wrap="square" lIns="0" tIns="0" rIns="0" bIns="0" rtlCol="0" anchor="ctr"/>
          <a:lstStyle/>
          <a:p>
            <a:pPr marL="0" indent="0">
              <a:buNone/>
            </a:pPr>
            <a:r>
              <a:rPr lang="en-US" sz="950" b="1">
                <a:solidFill>
                  <a:srgbClr val="FFFFFF"/>
                </a:solidFill>
                <a:latin typeface="Calibri" pitchFamily="34" charset="0"/>
                <a:ea typeface="Calibri" pitchFamily="34" charset="-122"/>
                <a:cs typeface="Calibri" pitchFamily="34" charset="-120"/>
              </a:rPr>
              <a:t>User Turn Content</a:t>
            </a:r>
            <a:endParaRPr lang="en-US" sz="950"/>
          </a:p>
        </p:txBody>
      </p:sp>
      <p:sp>
        <p:nvSpPr>
          <p:cNvPr id="77" name="Text 39">
            <a:extLst>
              <a:ext uri="{FF2B5EF4-FFF2-40B4-BE49-F238E27FC236}">
                <a16:creationId xmlns:a16="http://schemas.microsoft.com/office/drawing/2014/main" id="{81AAAEDC-4920-F6FF-C7E1-AB23444554E7}"/>
              </a:ext>
            </a:extLst>
          </p:cNvPr>
          <p:cNvSpPr/>
          <p:nvPr/>
        </p:nvSpPr>
        <p:spPr>
          <a:xfrm>
            <a:off x="8750808" y="2523744"/>
            <a:ext cx="2852928" cy="347472"/>
          </a:xfrm>
          <a:prstGeom prst="rect">
            <a:avLst/>
          </a:prstGeom>
          <a:noFill/>
          <a:ln/>
        </p:spPr>
        <p:txBody>
          <a:bodyPr wrap="square" lIns="0" tIns="0" rIns="0" bIns="0" rtlCol="0" anchor="ctr"/>
          <a:lstStyle/>
          <a:p>
            <a:pPr marL="0" indent="0">
              <a:buNone/>
            </a:pPr>
            <a:r>
              <a:rPr lang="en-US" sz="850" i="1">
                <a:solidFill>
                  <a:srgbClr val="D0E8FF"/>
                </a:solidFill>
                <a:latin typeface="Calibri" pitchFamily="34" charset="0"/>
                <a:ea typeface="Calibri" pitchFamily="34" charset="-122"/>
                <a:cs typeface="Calibri" pitchFamily="34" charset="-120"/>
              </a:rPr>
              <a:t>What the end user sends — lower trust by default</a:t>
            </a:r>
            <a:endParaRPr lang="en-US" sz="850"/>
          </a:p>
        </p:txBody>
      </p:sp>
      <p:sp>
        <p:nvSpPr>
          <p:cNvPr id="79" name="Shape 40">
            <a:extLst>
              <a:ext uri="{FF2B5EF4-FFF2-40B4-BE49-F238E27FC236}">
                <a16:creationId xmlns:a16="http://schemas.microsoft.com/office/drawing/2014/main" id="{793EEFD0-1501-3179-005B-B5A749CABB0D}"/>
              </a:ext>
            </a:extLst>
          </p:cNvPr>
          <p:cNvSpPr/>
          <p:nvPr/>
        </p:nvSpPr>
        <p:spPr>
          <a:xfrm>
            <a:off x="6355080" y="2944368"/>
            <a:ext cx="5303520" cy="347472"/>
          </a:xfrm>
          <a:prstGeom prst="rect">
            <a:avLst/>
          </a:prstGeom>
          <a:solidFill>
            <a:srgbClr val="2E7D32"/>
          </a:solidFill>
          <a:ln w="12700">
            <a:solidFill>
              <a:srgbClr val="2E7D32"/>
            </a:solidFill>
            <a:prstDash val="solid"/>
          </a:ln>
        </p:spPr>
      </p:sp>
      <p:sp>
        <p:nvSpPr>
          <p:cNvPr id="81" name="Text 41">
            <a:extLst>
              <a:ext uri="{FF2B5EF4-FFF2-40B4-BE49-F238E27FC236}">
                <a16:creationId xmlns:a16="http://schemas.microsoft.com/office/drawing/2014/main" id="{F76DE624-24E1-E941-C7FC-ABAB43ACB2ED}"/>
              </a:ext>
            </a:extLst>
          </p:cNvPr>
          <p:cNvSpPr/>
          <p:nvPr/>
        </p:nvSpPr>
        <p:spPr>
          <a:xfrm>
            <a:off x="6446520" y="2944368"/>
            <a:ext cx="2194560" cy="347472"/>
          </a:xfrm>
          <a:prstGeom prst="rect">
            <a:avLst/>
          </a:prstGeom>
          <a:noFill/>
          <a:ln/>
        </p:spPr>
        <p:txBody>
          <a:bodyPr wrap="square" lIns="0" tIns="0" rIns="0" bIns="0" rtlCol="0" anchor="ctr"/>
          <a:lstStyle/>
          <a:p>
            <a:pPr marL="0" indent="0">
              <a:buNone/>
            </a:pPr>
            <a:r>
              <a:rPr lang="en-US" sz="950" b="1">
                <a:solidFill>
                  <a:srgbClr val="FFFFFF"/>
                </a:solidFill>
                <a:latin typeface="Calibri" pitchFamily="34" charset="0"/>
                <a:ea typeface="Calibri" pitchFamily="34" charset="-122"/>
                <a:cs typeface="Calibri" pitchFamily="34" charset="-120"/>
              </a:rPr>
              <a:t>Assistant Response</a:t>
            </a:r>
            <a:endParaRPr lang="en-US" sz="950"/>
          </a:p>
        </p:txBody>
      </p:sp>
      <p:sp>
        <p:nvSpPr>
          <p:cNvPr id="83" name="Text 42">
            <a:extLst>
              <a:ext uri="{FF2B5EF4-FFF2-40B4-BE49-F238E27FC236}">
                <a16:creationId xmlns:a16="http://schemas.microsoft.com/office/drawing/2014/main" id="{2A9957AC-42F2-C614-ECD9-4547B7975518}"/>
              </a:ext>
            </a:extLst>
          </p:cNvPr>
          <p:cNvSpPr/>
          <p:nvPr/>
        </p:nvSpPr>
        <p:spPr>
          <a:xfrm>
            <a:off x="8750808" y="2944368"/>
            <a:ext cx="2852928" cy="347472"/>
          </a:xfrm>
          <a:prstGeom prst="rect">
            <a:avLst/>
          </a:prstGeom>
          <a:noFill/>
          <a:ln/>
        </p:spPr>
        <p:txBody>
          <a:bodyPr wrap="square" lIns="0" tIns="0" rIns="0" bIns="0" rtlCol="0" anchor="ctr"/>
          <a:lstStyle/>
          <a:p>
            <a:pPr marL="0" indent="0">
              <a:buNone/>
            </a:pPr>
            <a:r>
              <a:rPr lang="en-US" sz="850" i="1">
                <a:solidFill>
                  <a:srgbClr val="D0E8FF"/>
                </a:solidFill>
                <a:latin typeface="Calibri" pitchFamily="34" charset="0"/>
                <a:ea typeface="Calibri" pitchFamily="34" charset="-122"/>
                <a:cs typeface="Calibri" pitchFamily="34" charset="-120"/>
              </a:rPr>
              <a:t>Claude's output — bounded by all layers above</a:t>
            </a:r>
            <a:endParaRPr lang="en-US" sz="850"/>
          </a:p>
        </p:txBody>
      </p:sp>
      <p:sp>
        <p:nvSpPr>
          <p:cNvPr id="85" name="Shape 43">
            <a:extLst>
              <a:ext uri="{FF2B5EF4-FFF2-40B4-BE49-F238E27FC236}">
                <a16:creationId xmlns:a16="http://schemas.microsoft.com/office/drawing/2014/main" id="{A5870886-27C5-CD2C-9EA2-0E849F6A9676}"/>
              </a:ext>
            </a:extLst>
          </p:cNvPr>
          <p:cNvSpPr/>
          <p:nvPr/>
        </p:nvSpPr>
        <p:spPr>
          <a:xfrm>
            <a:off x="6111240" y="3627120"/>
            <a:ext cx="5701792" cy="1556512"/>
          </a:xfrm>
          <a:prstGeom prst="roundRect">
            <a:avLst>
              <a:gd name="adj" fmla="val 6329"/>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87" name="Text 44">
            <a:extLst>
              <a:ext uri="{FF2B5EF4-FFF2-40B4-BE49-F238E27FC236}">
                <a16:creationId xmlns:a16="http://schemas.microsoft.com/office/drawing/2014/main" id="{84D2AA48-18DF-178C-9C40-3EE4A7565464}"/>
              </a:ext>
            </a:extLst>
          </p:cNvPr>
          <p:cNvSpPr/>
          <p:nvPr/>
        </p:nvSpPr>
        <p:spPr>
          <a:xfrm>
            <a:off x="6355080" y="3785616"/>
            <a:ext cx="5330952" cy="274320"/>
          </a:xfrm>
          <a:prstGeom prst="rect">
            <a:avLst/>
          </a:prstGeom>
          <a:noFill/>
          <a:ln/>
        </p:spPr>
        <p:txBody>
          <a:bodyPr wrap="square" lIns="0" tIns="0" rIns="0" bIns="0" rtlCol="0" anchor="ctr"/>
          <a:lstStyle/>
          <a:p>
            <a:pPr marL="0" indent="0">
              <a:buNone/>
            </a:pPr>
            <a:r>
              <a:rPr lang="en-US" sz="1150" b="1">
                <a:solidFill>
                  <a:srgbClr val="0D1B3E"/>
                </a:solidFill>
                <a:latin typeface="Calibri" pitchFamily="34" charset="0"/>
                <a:ea typeface="Calibri" pitchFamily="34" charset="-122"/>
                <a:cs typeface="Calibri" pitchFamily="34" charset="-120"/>
              </a:rPr>
              <a:t>System Prompt Best Practices</a:t>
            </a:r>
            <a:endParaRPr lang="en-US" sz="1150"/>
          </a:p>
        </p:txBody>
      </p:sp>
      <p:sp>
        <p:nvSpPr>
          <p:cNvPr id="89" name="Shape 45">
            <a:extLst>
              <a:ext uri="{FF2B5EF4-FFF2-40B4-BE49-F238E27FC236}">
                <a16:creationId xmlns:a16="http://schemas.microsoft.com/office/drawing/2014/main" id="{8E404D5E-708C-A9CD-85A8-09F0FCA591D0}"/>
              </a:ext>
            </a:extLst>
          </p:cNvPr>
          <p:cNvSpPr/>
          <p:nvPr/>
        </p:nvSpPr>
        <p:spPr>
          <a:xfrm>
            <a:off x="6373368" y="4133088"/>
            <a:ext cx="91440" cy="91440"/>
          </a:xfrm>
          <a:prstGeom prst="ellipse">
            <a:avLst/>
          </a:prstGeom>
          <a:solidFill>
            <a:srgbClr val="0070CD"/>
          </a:solidFill>
          <a:ln w="12700">
            <a:solidFill>
              <a:srgbClr val="0070CD"/>
            </a:solidFill>
            <a:prstDash val="solid"/>
          </a:ln>
        </p:spPr>
      </p:sp>
      <p:sp>
        <p:nvSpPr>
          <p:cNvPr id="91" name="Text 46">
            <a:extLst>
              <a:ext uri="{FF2B5EF4-FFF2-40B4-BE49-F238E27FC236}">
                <a16:creationId xmlns:a16="http://schemas.microsoft.com/office/drawing/2014/main" id="{C0D56D03-A9BC-6948-3D41-28CF023ABB53}"/>
              </a:ext>
            </a:extLst>
          </p:cNvPr>
          <p:cNvSpPr/>
          <p:nvPr/>
        </p:nvSpPr>
        <p:spPr>
          <a:xfrm>
            <a:off x="6556248" y="4078224"/>
            <a:ext cx="5120640" cy="274320"/>
          </a:xfrm>
          <a:prstGeom prst="rect">
            <a:avLst/>
          </a:prstGeom>
          <a:noFill/>
          <a:ln/>
        </p:spPr>
        <p:txBody>
          <a:bodyPr wrap="square" lIns="0" tIns="0" rIns="0" bIns="0" rtlCol="0" anchor="ctr"/>
          <a:lstStyle/>
          <a:p>
            <a:pPr marL="0" indent="0">
              <a:buNone/>
            </a:pPr>
            <a:r>
              <a:rPr lang="en-US" sz="950">
                <a:solidFill>
                  <a:srgbClr val="1A2B4C"/>
                </a:solidFill>
                <a:latin typeface="Calibri" pitchFamily="34" charset="0"/>
                <a:ea typeface="Calibri" pitchFamily="34" charset="-122"/>
                <a:cs typeface="Calibri" pitchFamily="34" charset="-120"/>
              </a:rPr>
              <a:t>Put the most important instructions early — Claude reads sequentially</a:t>
            </a:r>
            <a:endParaRPr lang="en-US" sz="950"/>
          </a:p>
        </p:txBody>
      </p:sp>
      <p:sp>
        <p:nvSpPr>
          <p:cNvPr id="93" name="Shape 47">
            <a:extLst>
              <a:ext uri="{FF2B5EF4-FFF2-40B4-BE49-F238E27FC236}">
                <a16:creationId xmlns:a16="http://schemas.microsoft.com/office/drawing/2014/main" id="{50C50269-9F63-4397-84D1-D400AFD6D9DA}"/>
              </a:ext>
            </a:extLst>
          </p:cNvPr>
          <p:cNvSpPr/>
          <p:nvPr/>
        </p:nvSpPr>
        <p:spPr>
          <a:xfrm>
            <a:off x="6373368" y="4443984"/>
            <a:ext cx="91440" cy="91440"/>
          </a:xfrm>
          <a:prstGeom prst="ellipse">
            <a:avLst/>
          </a:prstGeom>
          <a:solidFill>
            <a:srgbClr val="0070CD"/>
          </a:solidFill>
          <a:ln w="12700">
            <a:solidFill>
              <a:srgbClr val="0070CD"/>
            </a:solidFill>
            <a:prstDash val="solid"/>
          </a:ln>
        </p:spPr>
      </p:sp>
      <p:sp>
        <p:nvSpPr>
          <p:cNvPr id="95" name="Text 48">
            <a:extLst>
              <a:ext uri="{FF2B5EF4-FFF2-40B4-BE49-F238E27FC236}">
                <a16:creationId xmlns:a16="http://schemas.microsoft.com/office/drawing/2014/main" id="{0726AA29-200B-AE21-656D-B7856017362B}"/>
              </a:ext>
            </a:extLst>
          </p:cNvPr>
          <p:cNvSpPr/>
          <p:nvPr/>
        </p:nvSpPr>
        <p:spPr>
          <a:xfrm>
            <a:off x="6556248" y="4389120"/>
            <a:ext cx="5120640" cy="274320"/>
          </a:xfrm>
          <a:prstGeom prst="rect">
            <a:avLst/>
          </a:prstGeom>
          <a:noFill/>
          <a:ln/>
        </p:spPr>
        <p:txBody>
          <a:bodyPr wrap="square" lIns="0" tIns="0" rIns="0" bIns="0" rtlCol="0" anchor="ctr"/>
          <a:lstStyle/>
          <a:p>
            <a:pPr marL="0" indent="0">
              <a:buNone/>
            </a:pPr>
            <a:r>
              <a:rPr lang="en-US" sz="950">
                <a:solidFill>
                  <a:srgbClr val="1A2B4C"/>
                </a:solidFill>
                <a:latin typeface="Calibri" pitchFamily="34" charset="0"/>
                <a:ea typeface="Calibri" pitchFamily="34" charset="-122"/>
                <a:cs typeface="Calibri" pitchFamily="34" charset="-120"/>
              </a:rPr>
              <a:t>Use XML tags to separate persona, rules, context, and examples cleanly</a:t>
            </a:r>
            <a:endParaRPr lang="en-US" sz="950"/>
          </a:p>
        </p:txBody>
      </p:sp>
      <p:sp>
        <p:nvSpPr>
          <p:cNvPr id="97" name="Shape 49">
            <a:extLst>
              <a:ext uri="{FF2B5EF4-FFF2-40B4-BE49-F238E27FC236}">
                <a16:creationId xmlns:a16="http://schemas.microsoft.com/office/drawing/2014/main" id="{90E03F93-E421-FB06-6044-59770FE7CB49}"/>
              </a:ext>
            </a:extLst>
          </p:cNvPr>
          <p:cNvSpPr/>
          <p:nvPr/>
        </p:nvSpPr>
        <p:spPr>
          <a:xfrm>
            <a:off x="6373368" y="4754880"/>
            <a:ext cx="91440" cy="91440"/>
          </a:xfrm>
          <a:prstGeom prst="ellipse">
            <a:avLst/>
          </a:prstGeom>
          <a:solidFill>
            <a:srgbClr val="0070CD"/>
          </a:solidFill>
          <a:ln w="12700">
            <a:solidFill>
              <a:srgbClr val="0070CD"/>
            </a:solidFill>
            <a:prstDash val="solid"/>
          </a:ln>
        </p:spPr>
      </p:sp>
      <p:sp>
        <p:nvSpPr>
          <p:cNvPr id="99" name="Text 50">
            <a:extLst>
              <a:ext uri="{FF2B5EF4-FFF2-40B4-BE49-F238E27FC236}">
                <a16:creationId xmlns:a16="http://schemas.microsoft.com/office/drawing/2014/main" id="{4E42C111-093D-2EB4-059F-EB88CC4CA303}"/>
              </a:ext>
            </a:extLst>
          </p:cNvPr>
          <p:cNvSpPr/>
          <p:nvPr/>
        </p:nvSpPr>
        <p:spPr>
          <a:xfrm>
            <a:off x="6556248" y="4700016"/>
            <a:ext cx="5120640" cy="274320"/>
          </a:xfrm>
          <a:prstGeom prst="rect">
            <a:avLst/>
          </a:prstGeom>
          <a:noFill/>
          <a:ln/>
        </p:spPr>
        <p:txBody>
          <a:bodyPr wrap="square" lIns="0" tIns="0" rIns="0" bIns="0" rtlCol="0" anchor="ctr"/>
          <a:lstStyle/>
          <a:p>
            <a:pPr marL="0" indent="0">
              <a:buNone/>
            </a:pPr>
            <a:r>
              <a:rPr lang="en-US" sz="950">
                <a:solidFill>
                  <a:srgbClr val="1A2B4C"/>
                </a:solidFill>
                <a:latin typeface="Calibri" pitchFamily="34" charset="0"/>
                <a:ea typeface="Calibri" pitchFamily="34" charset="-122"/>
                <a:cs typeface="Calibri" pitchFamily="34" charset="-120"/>
              </a:rPr>
              <a:t>Repeat critical constraints — don't rely on one mention for high-stakes rules</a:t>
            </a:r>
            <a:endParaRPr lang="en-US" sz="950"/>
          </a:p>
        </p:txBody>
      </p:sp>
      <p:sp>
        <p:nvSpPr>
          <p:cNvPr id="101" name="Shape 51">
            <a:extLst>
              <a:ext uri="{FF2B5EF4-FFF2-40B4-BE49-F238E27FC236}">
                <a16:creationId xmlns:a16="http://schemas.microsoft.com/office/drawing/2014/main" id="{5FDC869C-70B1-464A-743D-479AC0A9E14E}"/>
              </a:ext>
            </a:extLst>
          </p:cNvPr>
          <p:cNvSpPr/>
          <p:nvPr/>
        </p:nvSpPr>
        <p:spPr>
          <a:xfrm>
            <a:off x="6373368" y="4974336"/>
            <a:ext cx="91440" cy="91440"/>
          </a:xfrm>
          <a:prstGeom prst="ellipse">
            <a:avLst/>
          </a:prstGeom>
          <a:solidFill>
            <a:srgbClr val="0070CD"/>
          </a:solidFill>
          <a:ln w="12700">
            <a:solidFill>
              <a:srgbClr val="0070CD"/>
            </a:solidFill>
            <a:prstDash val="solid"/>
          </a:ln>
        </p:spPr>
      </p:sp>
      <p:sp>
        <p:nvSpPr>
          <p:cNvPr id="103" name="Text 52">
            <a:extLst>
              <a:ext uri="{FF2B5EF4-FFF2-40B4-BE49-F238E27FC236}">
                <a16:creationId xmlns:a16="http://schemas.microsoft.com/office/drawing/2014/main" id="{4ABF6D6B-77E4-316A-A660-E76FDB7BAB5A}"/>
              </a:ext>
            </a:extLst>
          </p:cNvPr>
          <p:cNvSpPr/>
          <p:nvPr/>
        </p:nvSpPr>
        <p:spPr>
          <a:xfrm>
            <a:off x="6556248" y="4909312"/>
            <a:ext cx="5120640" cy="274320"/>
          </a:xfrm>
          <a:prstGeom prst="rect">
            <a:avLst/>
          </a:prstGeom>
          <a:noFill/>
          <a:ln/>
        </p:spPr>
        <p:txBody>
          <a:bodyPr wrap="square" lIns="0" tIns="0" rIns="0" bIns="0" rtlCol="0" anchor="ctr"/>
          <a:lstStyle/>
          <a:p>
            <a:pPr marL="0" indent="0">
              <a:buNone/>
            </a:pPr>
            <a:r>
              <a:rPr lang="en-US" sz="950">
                <a:solidFill>
                  <a:srgbClr val="1A2B4C"/>
                </a:solidFill>
                <a:latin typeface="Calibri" pitchFamily="34" charset="0"/>
                <a:ea typeface="Calibri" pitchFamily="34" charset="-122"/>
                <a:cs typeface="Calibri" pitchFamily="34" charset="-120"/>
              </a:rPr>
              <a:t>Reference SKILL.md content by reading it at task start, not summarising it</a:t>
            </a:r>
            <a:endParaRPr lang="en-US" sz="950"/>
          </a:p>
        </p:txBody>
      </p:sp>
      <p:sp>
        <p:nvSpPr>
          <p:cNvPr id="105" name="Shape 53">
            <a:extLst>
              <a:ext uri="{FF2B5EF4-FFF2-40B4-BE49-F238E27FC236}">
                <a16:creationId xmlns:a16="http://schemas.microsoft.com/office/drawing/2014/main" id="{CB3904FC-A2FC-261C-5A14-F16BD82E0842}"/>
              </a:ext>
            </a:extLst>
          </p:cNvPr>
          <p:cNvSpPr/>
          <p:nvPr/>
        </p:nvSpPr>
        <p:spPr>
          <a:xfrm>
            <a:off x="6172200" y="5230368"/>
            <a:ext cx="5650992" cy="1005840"/>
          </a:xfrm>
          <a:prstGeom prst="roundRect">
            <a:avLst>
              <a:gd name="adj" fmla="val 9091"/>
            </a:avLst>
          </a:prstGeom>
          <a:solidFill>
            <a:srgbClr val="F0F7FF"/>
          </a:solidFill>
          <a:ln w="12700">
            <a:solidFill>
              <a:srgbClr val="C5D8F0"/>
            </a:solidFill>
            <a:prstDash val="solid"/>
          </a:ln>
          <a:effectLst>
            <a:outerShdw blurRad="101600" dist="25400" dir="8100000" algn="bl" rotWithShape="0">
              <a:srgbClr val="0070CD">
                <a:alpha val="8000"/>
              </a:srgbClr>
            </a:outerShdw>
          </a:effectLst>
        </p:spPr>
      </p:sp>
      <p:sp>
        <p:nvSpPr>
          <p:cNvPr id="107" name="Text 54">
            <a:extLst>
              <a:ext uri="{FF2B5EF4-FFF2-40B4-BE49-F238E27FC236}">
                <a16:creationId xmlns:a16="http://schemas.microsoft.com/office/drawing/2014/main" id="{2BCF4FEA-0060-78F9-58AB-C71C057F20D4}"/>
              </a:ext>
            </a:extLst>
          </p:cNvPr>
          <p:cNvSpPr/>
          <p:nvPr/>
        </p:nvSpPr>
        <p:spPr>
          <a:xfrm>
            <a:off x="6355080" y="5358384"/>
            <a:ext cx="5330952" cy="256032"/>
          </a:xfrm>
          <a:prstGeom prst="rect">
            <a:avLst/>
          </a:prstGeom>
          <a:noFill/>
          <a:ln/>
        </p:spPr>
        <p:txBody>
          <a:bodyPr wrap="square" lIns="0" tIns="0" rIns="0" bIns="0" rtlCol="0" anchor="ctr"/>
          <a:lstStyle/>
          <a:p>
            <a:pPr marL="0" indent="0">
              <a:buNone/>
            </a:pPr>
            <a:r>
              <a:rPr lang="en-US" sz="1150" b="1">
                <a:solidFill>
                  <a:srgbClr val="0D1B3E"/>
                </a:solidFill>
                <a:latin typeface="Calibri" pitchFamily="34" charset="0"/>
                <a:ea typeface="Calibri" pitchFamily="34" charset="-122"/>
                <a:cs typeface="Calibri" pitchFamily="34" charset="-120"/>
              </a:rPr>
              <a:t>Memory Systems</a:t>
            </a:r>
            <a:endParaRPr lang="en-US" sz="1150"/>
          </a:p>
        </p:txBody>
      </p:sp>
      <p:sp>
        <p:nvSpPr>
          <p:cNvPr id="109" name="Text 55">
            <a:extLst>
              <a:ext uri="{FF2B5EF4-FFF2-40B4-BE49-F238E27FC236}">
                <a16:creationId xmlns:a16="http://schemas.microsoft.com/office/drawing/2014/main" id="{95F9F5EC-27CB-085B-5B3B-0EC36F87E811}"/>
              </a:ext>
            </a:extLst>
          </p:cNvPr>
          <p:cNvSpPr/>
          <p:nvPr/>
        </p:nvSpPr>
        <p:spPr>
          <a:xfrm>
            <a:off x="6355080" y="5632704"/>
            <a:ext cx="5303520" cy="512064"/>
          </a:xfrm>
          <a:prstGeom prst="rect">
            <a:avLst/>
          </a:prstGeom>
          <a:noFill/>
          <a:ln/>
        </p:spPr>
        <p:txBody>
          <a:bodyPr wrap="square" lIns="0" tIns="0" rIns="0" bIns="0" rtlCol="0" anchor="ctr"/>
          <a:lstStyle/>
          <a:p>
            <a:pPr marL="0" indent="0">
              <a:lnSpc>
                <a:spcPct val="130000"/>
              </a:lnSpc>
              <a:buNone/>
            </a:pPr>
            <a:r>
              <a:rPr lang="en-US" sz="900">
                <a:solidFill>
                  <a:srgbClr val="1A2B4C"/>
                </a:solidFill>
                <a:latin typeface="Calibri" pitchFamily="34" charset="0"/>
                <a:ea typeface="Calibri" pitchFamily="34" charset="-122"/>
                <a:cs typeface="Calibri" pitchFamily="34" charset="-120"/>
              </a:rPr>
              <a:t>Claude has no memory between API calls by default. Stateful behavior requires injecting past turns. Memory types: In-context (full history), External DB (vector store lookup), Summarisation (compressed prior turns), or Structured State (JSON appended to system prompt).</a:t>
            </a:r>
            <a:endParaRPr lang="en-US" sz="900"/>
          </a:p>
        </p:txBody>
      </p:sp>
    </p:spTree>
    <p:extLst>
      <p:ext uri="{BB962C8B-B14F-4D97-AF65-F5344CB8AC3E}">
        <p14:creationId xmlns:p14="http://schemas.microsoft.com/office/powerpoint/2010/main" val="4283307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CCB62-68EA-DA88-B655-B5CB4131B373}"/>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60E5B07-82E8-FF41-2046-666EBB8FF654}"/>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11A2E599-18D3-83FB-91F8-ADADC21D6358}"/>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2">
            <a:extLst>
              <a:ext uri="{FF2B5EF4-FFF2-40B4-BE49-F238E27FC236}">
                <a16:creationId xmlns:a16="http://schemas.microsoft.com/office/drawing/2014/main" id="{22CBAEED-7AF9-5C38-7C44-9B6A7264A82A}"/>
              </a:ext>
            </a:extLst>
          </p:cNvPr>
          <p:cNvSpPr/>
          <p:nvPr/>
        </p:nvSpPr>
        <p:spPr>
          <a:xfrm>
            <a:off x="513883" y="159994"/>
            <a:ext cx="9875520" cy="658368"/>
          </a:xfrm>
          <a:prstGeom prst="rect">
            <a:avLst/>
          </a:prstGeom>
          <a:noFill/>
          <a:ln/>
        </p:spPr>
        <p:txBody>
          <a:bodyPr wrap="square" lIns="0" tIns="0" rIns="0" bIns="0" rtlCol="0" anchor="ctr"/>
          <a:lstStyle/>
          <a:p>
            <a:r>
              <a:rPr lang="en-US" sz="3200" b="1">
                <a:solidFill>
                  <a:schemeClr val="accent1">
                    <a:lumMod val="76000"/>
                  </a:schemeClr>
                </a:solidFill>
                <a:latin typeface="Source Serif 4 SemiBold"/>
                <a:ea typeface="Calibri"/>
                <a:cs typeface="Calibri"/>
              </a:rPr>
              <a:t>Avoiding Common Pitfalls</a:t>
            </a:r>
            <a:endParaRPr lang="en-US" sz="3200">
              <a:solidFill>
                <a:schemeClr val="accent1">
                  <a:lumMod val="76000"/>
                </a:schemeClr>
              </a:solidFill>
              <a:latin typeface="Source Serif 4 SemiBold"/>
              <a:ea typeface="Calibri"/>
              <a:cs typeface="Calibri"/>
            </a:endParaRPr>
          </a:p>
        </p:txBody>
      </p:sp>
      <p:sp>
        <p:nvSpPr>
          <p:cNvPr id="6" name="Shape 8">
            <a:extLst>
              <a:ext uri="{FF2B5EF4-FFF2-40B4-BE49-F238E27FC236}">
                <a16:creationId xmlns:a16="http://schemas.microsoft.com/office/drawing/2014/main" id="{C4DB303B-2026-10B0-C7E1-7A121B809D24}"/>
              </a:ext>
            </a:extLst>
          </p:cNvPr>
          <p:cNvSpPr/>
          <p:nvPr/>
        </p:nvSpPr>
        <p:spPr>
          <a:xfrm>
            <a:off x="365760" y="1188720"/>
            <a:ext cx="3749040" cy="5084064"/>
          </a:xfrm>
          <a:prstGeom prst="roundRect">
            <a:avLst>
              <a:gd name="adj" fmla="val 2439"/>
            </a:avLst>
          </a:prstGeom>
          <a:solidFill>
            <a:srgbClr val="E3F0FF"/>
          </a:solidFill>
          <a:ln w="12700">
            <a:solidFill>
              <a:srgbClr val="1565C0"/>
            </a:solidFill>
            <a:prstDash val="solid"/>
          </a:ln>
          <a:effectLst>
            <a:outerShdw blurRad="101600" dist="25400" dir="8100000" algn="bl" rotWithShape="0">
              <a:srgbClr val="0070CD">
                <a:alpha val="8000"/>
              </a:srgbClr>
            </a:outerShdw>
          </a:effectLst>
        </p:spPr>
      </p:sp>
      <p:sp>
        <p:nvSpPr>
          <p:cNvPr id="8" name="Shape 9">
            <a:extLst>
              <a:ext uri="{FF2B5EF4-FFF2-40B4-BE49-F238E27FC236}">
                <a16:creationId xmlns:a16="http://schemas.microsoft.com/office/drawing/2014/main" id="{BAFC61E5-AF6A-55C5-C7B2-5F4E581AF60E}"/>
              </a:ext>
            </a:extLst>
          </p:cNvPr>
          <p:cNvSpPr/>
          <p:nvPr/>
        </p:nvSpPr>
        <p:spPr>
          <a:xfrm>
            <a:off x="365760" y="1188720"/>
            <a:ext cx="3749040" cy="457200"/>
          </a:xfrm>
          <a:prstGeom prst="roundRect">
            <a:avLst>
              <a:gd name="adj" fmla="val 20000"/>
            </a:avLst>
          </a:prstGeom>
          <a:solidFill>
            <a:srgbClr val="1565C0"/>
          </a:solidFill>
          <a:ln w="12700">
            <a:solidFill>
              <a:srgbClr val="1565C0"/>
            </a:solidFill>
            <a:prstDash val="solid"/>
          </a:ln>
        </p:spPr>
      </p:sp>
      <p:sp>
        <p:nvSpPr>
          <p:cNvPr id="10" name="Shape 10">
            <a:extLst>
              <a:ext uri="{FF2B5EF4-FFF2-40B4-BE49-F238E27FC236}">
                <a16:creationId xmlns:a16="http://schemas.microsoft.com/office/drawing/2014/main" id="{09323DB1-5F79-5062-96E5-8BD8F7BB4424}"/>
              </a:ext>
            </a:extLst>
          </p:cNvPr>
          <p:cNvSpPr/>
          <p:nvPr/>
        </p:nvSpPr>
        <p:spPr>
          <a:xfrm>
            <a:off x="365760" y="1234440"/>
            <a:ext cx="457200" cy="411480"/>
          </a:xfrm>
          <a:prstGeom prst="rect">
            <a:avLst/>
          </a:prstGeom>
          <a:solidFill>
            <a:srgbClr val="1565C0"/>
          </a:solidFill>
          <a:ln w="12700">
            <a:solidFill>
              <a:srgbClr val="1565C0"/>
            </a:solidFill>
            <a:prstDash val="solid"/>
          </a:ln>
        </p:spPr>
      </p:sp>
      <p:sp>
        <p:nvSpPr>
          <p:cNvPr id="12" name="Text 11">
            <a:extLst>
              <a:ext uri="{FF2B5EF4-FFF2-40B4-BE49-F238E27FC236}">
                <a16:creationId xmlns:a16="http://schemas.microsoft.com/office/drawing/2014/main" id="{401E3ED1-BED1-A198-EE05-6897F5FA67E4}"/>
              </a:ext>
            </a:extLst>
          </p:cNvPr>
          <p:cNvSpPr/>
          <p:nvPr/>
        </p:nvSpPr>
        <p:spPr>
          <a:xfrm>
            <a:off x="462943" y="1232231"/>
            <a:ext cx="45720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01</a:t>
            </a:r>
            <a:endParaRPr lang="en-US" sz="1300"/>
          </a:p>
        </p:txBody>
      </p:sp>
      <p:sp>
        <p:nvSpPr>
          <p:cNvPr id="14" name="Text 12">
            <a:extLst>
              <a:ext uri="{FF2B5EF4-FFF2-40B4-BE49-F238E27FC236}">
                <a16:creationId xmlns:a16="http://schemas.microsoft.com/office/drawing/2014/main" id="{06B98636-04C4-022D-679A-7834DB39CE9E}"/>
              </a:ext>
            </a:extLst>
          </p:cNvPr>
          <p:cNvSpPr/>
          <p:nvPr/>
        </p:nvSpPr>
        <p:spPr>
          <a:xfrm>
            <a:off x="914400" y="1243584"/>
            <a:ext cx="3090672" cy="347472"/>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  Data Privacy</a:t>
            </a:r>
            <a:endParaRPr lang="en-US" sz="1300"/>
          </a:p>
        </p:txBody>
      </p:sp>
      <p:sp>
        <p:nvSpPr>
          <p:cNvPr id="16" name="Text 13">
            <a:extLst>
              <a:ext uri="{FF2B5EF4-FFF2-40B4-BE49-F238E27FC236}">
                <a16:creationId xmlns:a16="http://schemas.microsoft.com/office/drawing/2014/main" id="{932B8CE7-A064-ADE3-A10A-CE79F3FD5EF8}"/>
              </a:ext>
            </a:extLst>
          </p:cNvPr>
          <p:cNvSpPr/>
          <p:nvPr/>
        </p:nvSpPr>
        <p:spPr>
          <a:xfrm>
            <a:off x="530352" y="1755648"/>
            <a:ext cx="3438144" cy="1572768"/>
          </a:xfrm>
          <a:prstGeom prst="rect">
            <a:avLst/>
          </a:prstGeom>
          <a:noFill/>
          <a:ln/>
        </p:spPr>
        <p:txBody>
          <a:bodyPr wrap="square" lIns="0" tIns="0" rIns="0" bIns="0" rtlCol="0" anchor="ctr"/>
          <a:lstStyle/>
          <a:p>
            <a:pPr marL="0" indent="0">
              <a:lnSpc>
                <a:spcPct val="142000"/>
              </a:lnSpc>
              <a:buNone/>
            </a:pPr>
            <a:r>
              <a:rPr lang="en-US" sz="1050">
                <a:solidFill>
                  <a:srgbClr val="1A2B4C"/>
                </a:solidFill>
                <a:latin typeface="Calibri" pitchFamily="34" charset="0"/>
                <a:ea typeface="Calibri" pitchFamily="34" charset="-122"/>
                <a:cs typeface="Calibri" pitchFamily="34" charset="-120"/>
              </a:rPr>
              <a:t>Always redact sensitive PII before uploading any dataset. Treat Claude as a public-facing tool — never share confidential customer records, credentials, or proprietary IP.</a:t>
            </a:r>
            <a:endParaRPr lang="en-US" sz="1050"/>
          </a:p>
        </p:txBody>
      </p:sp>
      <p:sp>
        <p:nvSpPr>
          <p:cNvPr id="18" name="Shape 14">
            <a:extLst>
              <a:ext uri="{FF2B5EF4-FFF2-40B4-BE49-F238E27FC236}">
                <a16:creationId xmlns:a16="http://schemas.microsoft.com/office/drawing/2014/main" id="{5E4FBAB0-322C-2A92-E19F-789C983B6C71}"/>
              </a:ext>
            </a:extLst>
          </p:cNvPr>
          <p:cNvSpPr/>
          <p:nvPr/>
        </p:nvSpPr>
        <p:spPr>
          <a:xfrm>
            <a:off x="364700" y="3419856"/>
            <a:ext cx="3758404" cy="501726"/>
          </a:xfrm>
          <a:prstGeom prst="roundRect">
            <a:avLst>
              <a:gd name="adj" fmla="val 15909"/>
            </a:avLst>
          </a:prstGeom>
          <a:solidFill>
            <a:srgbClr val="1565C0"/>
          </a:solidFill>
          <a:ln w="12700">
            <a:solidFill>
              <a:srgbClr val="1565C0"/>
            </a:solidFill>
            <a:prstDash val="solid"/>
          </a:ln>
        </p:spPr>
      </p:sp>
      <p:sp>
        <p:nvSpPr>
          <p:cNvPr id="20" name="Text 15">
            <a:extLst>
              <a:ext uri="{FF2B5EF4-FFF2-40B4-BE49-F238E27FC236}">
                <a16:creationId xmlns:a16="http://schemas.microsoft.com/office/drawing/2014/main" id="{025B7E8D-B863-D3B9-D773-3FD3067F3D4A}"/>
              </a:ext>
            </a:extLst>
          </p:cNvPr>
          <p:cNvSpPr/>
          <p:nvPr/>
        </p:nvSpPr>
        <p:spPr>
          <a:xfrm>
            <a:off x="467184" y="3475073"/>
            <a:ext cx="3571724" cy="402336"/>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a:ea typeface="Calibri"/>
                <a:cs typeface="Calibri"/>
              </a:rPr>
              <a:t>Rule: If it can't go in a public email, it can't go in a prompt.</a:t>
            </a:r>
            <a:endParaRPr lang="en-US" sz="1100">
              <a:latin typeface="Calibri"/>
              <a:ea typeface="Calibri"/>
              <a:cs typeface="Calibri"/>
            </a:endParaRPr>
          </a:p>
        </p:txBody>
      </p:sp>
      <p:sp>
        <p:nvSpPr>
          <p:cNvPr id="22" name="Text 16">
            <a:extLst>
              <a:ext uri="{FF2B5EF4-FFF2-40B4-BE49-F238E27FC236}">
                <a16:creationId xmlns:a16="http://schemas.microsoft.com/office/drawing/2014/main" id="{A56F2F9C-231C-AE50-DC0B-B512BC241BBE}"/>
              </a:ext>
            </a:extLst>
          </p:cNvPr>
          <p:cNvSpPr/>
          <p:nvPr/>
        </p:nvSpPr>
        <p:spPr>
          <a:xfrm>
            <a:off x="530352" y="4035110"/>
            <a:ext cx="3438144" cy="237744"/>
          </a:xfrm>
          <a:prstGeom prst="rect">
            <a:avLst/>
          </a:prstGeom>
          <a:noFill/>
          <a:ln/>
        </p:spPr>
        <p:txBody>
          <a:bodyPr wrap="square" lIns="0" tIns="0" rIns="0" bIns="0" rtlCol="0" anchor="ctr"/>
          <a:lstStyle/>
          <a:p>
            <a:pPr marL="0" indent="0">
              <a:buNone/>
            </a:pPr>
            <a:r>
              <a:rPr lang="en-US" sz="1000" b="1">
                <a:solidFill>
                  <a:srgbClr val="1565C0"/>
                </a:solidFill>
                <a:latin typeface="Calibri" pitchFamily="34" charset="0"/>
                <a:ea typeface="Calibri" pitchFamily="34" charset="-122"/>
                <a:cs typeface="Calibri" pitchFamily="34" charset="-120"/>
              </a:rPr>
              <a:t>How to apply:</a:t>
            </a:r>
            <a:endParaRPr lang="en-US" sz="1000"/>
          </a:p>
        </p:txBody>
      </p:sp>
      <p:sp>
        <p:nvSpPr>
          <p:cNvPr id="24" name="Shape 17">
            <a:extLst>
              <a:ext uri="{FF2B5EF4-FFF2-40B4-BE49-F238E27FC236}">
                <a16:creationId xmlns:a16="http://schemas.microsoft.com/office/drawing/2014/main" id="{76084A1E-1892-3396-512C-9FAA4290DE54}"/>
              </a:ext>
            </a:extLst>
          </p:cNvPr>
          <p:cNvSpPr/>
          <p:nvPr/>
        </p:nvSpPr>
        <p:spPr>
          <a:xfrm>
            <a:off x="537597" y="4360849"/>
            <a:ext cx="128016" cy="128016"/>
          </a:xfrm>
          <a:prstGeom prst="ellipse">
            <a:avLst/>
          </a:prstGeom>
          <a:solidFill>
            <a:srgbClr val="1565C0"/>
          </a:solidFill>
          <a:ln w="12700">
            <a:solidFill>
              <a:srgbClr val="1565C0"/>
            </a:solidFill>
            <a:prstDash val="solid"/>
          </a:ln>
        </p:spPr>
      </p:sp>
      <p:sp>
        <p:nvSpPr>
          <p:cNvPr id="26" name="Text 18">
            <a:extLst>
              <a:ext uri="{FF2B5EF4-FFF2-40B4-BE49-F238E27FC236}">
                <a16:creationId xmlns:a16="http://schemas.microsoft.com/office/drawing/2014/main" id="{3C209BBE-9526-8B7E-B8EF-4D4E44D4957E}"/>
              </a:ext>
            </a:extLst>
          </p:cNvPr>
          <p:cNvSpPr/>
          <p:nvPr/>
        </p:nvSpPr>
        <p:spPr>
          <a:xfrm>
            <a:off x="749808" y="4151376"/>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Strip names, SSNs, account numbers before pasting</a:t>
            </a:r>
            <a:endParaRPr lang="en-US" sz="950"/>
          </a:p>
        </p:txBody>
      </p:sp>
      <p:sp>
        <p:nvSpPr>
          <p:cNvPr id="28" name="Shape 19">
            <a:extLst>
              <a:ext uri="{FF2B5EF4-FFF2-40B4-BE49-F238E27FC236}">
                <a16:creationId xmlns:a16="http://schemas.microsoft.com/office/drawing/2014/main" id="{3EE68B92-6338-E59D-C6BF-1695CA253021}"/>
              </a:ext>
            </a:extLst>
          </p:cNvPr>
          <p:cNvSpPr/>
          <p:nvPr/>
        </p:nvSpPr>
        <p:spPr>
          <a:xfrm>
            <a:off x="537597" y="4964353"/>
            <a:ext cx="128016" cy="128016"/>
          </a:xfrm>
          <a:prstGeom prst="ellipse">
            <a:avLst/>
          </a:prstGeom>
          <a:solidFill>
            <a:srgbClr val="1565C0"/>
          </a:solidFill>
          <a:ln w="12700">
            <a:solidFill>
              <a:srgbClr val="1565C0"/>
            </a:solidFill>
            <a:prstDash val="solid"/>
          </a:ln>
        </p:spPr>
      </p:sp>
      <p:sp>
        <p:nvSpPr>
          <p:cNvPr id="30" name="Text 20">
            <a:extLst>
              <a:ext uri="{FF2B5EF4-FFF2-40B4-BE49-F238E27FC236}">
                <a16:creationId xmlns:a16="http://schemas.microsoft.com/office/drawing/2014/main" id="{889C8B38-21B7-0934-1DE6-6842D0A12BE7}"/>
              </a:ext>
            </a:extLst>
          </p:cNvPr>
          <p:cNvSpPr/>
          <p:nvPr/>
        </p:nvSpPr>
        <p:spPr>
          <a:xfrm>
            <a:off x="749808" y="4754880"/>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a:ea typeface="Calibri"/>
                <a:cs typeface="Calibri"/>
              </a:rPr>
              <a:t>Use synthetic or anonymized sample data for testing</a:t>
            </a:r>
            <a:endParaRPr lang="en-US" sz="950">
              <a:latin typeface="Calibri"/>
              <a:ea typeface="Calibri"/>
              <a:cs typeface="Calibri"/>
            </a:endParaRPr>
          </a:p>
        </p:txBody>
      </p:sp>
      <p:sp>
        <p:nvSpPr>
          <p:cNvPr id="32" name="Shape 21">
            <a:extLst>
              <a:ext uri="{FF2B5EF4-FFF2-40B4-BE49-F238E27FC236}">
                <a16:creationId xmlns:a16="http://schemas.microsoft.com/office/drawing/2014/main" id="{C6FBE926-7572-30D2-A8F9-74520AFD16A7}"/>
              </a:ext>
            </a:extLst>
          </p:cNvPr>
          <p:cNvSpPr/>
          <p:nvPr/>
        </p:nvSpPr>
        <p:spPr>
          <a:xfrm>
            <a:off x="537597" y="5545770"/>
            <a:ext cx="128016" cy="128016"/>
          </a:xfrm>
          <a:prstGeom prst="ellipse">
            <a:avLst/>
          </a:prstGeom>
          <a:solidFill>
            <a:srgbClr val="1565C0"/>
          </a:solidFill>
          <a:ln w="12700">
            <a:solidFill>
              <a:srgbClr val="1565C0"/>
            </a:solidFill>
            <a:prstDash val="solid"/>
          </a:ln>
        </p:spPr>
      </p:sp>
      <p:sp>
        <p:nvSpPr>
          <p:cNvPr id="34" name="Text 22">
            <a:extLst>
              <a:ext uri="{FF2B5EF4-FFF2-40B4-BE49-F238E27FC236}">
                <a16:creationId xmlns:a16="http://schemas.microsoft.com/office/drawing/2014/main" id="{CD55FA8C-4093-4F7A-7925-677315FFD41C}"/>
              </a:ext>
            </a:extLst>
          </p:cNvPr>
          <p:cNvSpPr/>
          <p:nvPr/>
        </p:nvSpPr>
        <p:spPr>
          <a:xfrm>
            <a:off x="749808" y="5358384"/>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a:ea typeface="Calibri"/>
                <a:cs typeface="Calibri"/>
              </a:rPr>
              <a:t>Check your organisation's AI usage policy before any upload</a:t>
            </a:r>
            <a:endParaRPr lang="en-US" sz="950">
              <a:latin typeface="Calibri"/>
              <a:ea typeface="Calibri"/>
              <a:cs typeface="Calibri"/>
            </a:endParaRPr>
          </a:p>
        </p:txBody>
      </p:sp>
      <p:sp>
        <p:nvSpPr>
          <p:cNvPr id="36" name="Shape 23">
            <a:extLst>
              <a:ext uri="{FF2B5EF4-FFF2-40B4-BE49-F238E27FC236}">
                <a16:creationId xmlns:a16="http://schemas.microsoft.com/office/drawing/2014/main" id="{D2CE73C5-6888-6A9E-A0E6-AB49E48C9F3D}"/>
              </a:ext>
            </a:extLst>
          </p:cNvPr>
          <p:cNvSpPr/>
          <p:nvPr/>
        </p:nvSpPr>
        <p:spPr>
          <a:xfrm>
            <a:off x="4224528" y="1188720"/>
            <a:ext cx="3749040" cy="5084064"/>
          </a:xfrm>
          <a:prstGeom prst="roundRect">
            <a:avLst>
              <a:gd name="adj" fmla="val 2439"/>
            </a:avLst>
          </a:prstGeom>
          <a:solidFill>
            <a:srgbClr val="E0F2F1"/>
          </a:solidFill>
          <a:ln w="12700">
            <a:solidFill>
              <a:srgbClr val="00897B"/>
            </a:solidFill>
            <a:prstDash val="solid"/>
          </a:ln>
          <a:effectLst>
            <a:outerShdw blurRad="101600" dist="25400" dir="8100000" algn="bl" rotWithShape="0">
              <a:srgbClr val="0070CD">
                <a:alpha val="8000"/>
              </a:srgbClr>
            </a:outerShdw>
          </a:effectLst>
        </p:spPr>
      </p:sp>
      <p:sp>
        <p:nvSpPr>
          <p:cNvPr id="38" name="Shape 24">
            <a:extLst>
              <a:ext uri="{FF2B5EF4-FFF2-40B4-BE49-F238E27FC236}">
                <a16:creationId xmlns:a16="http://schemas.microsoft.com/office/drawing/2014/main" id="{D8B9547D-BE97-9270-03E0-744C606C907C}"/>
              </a:ext>
            </a:extLst>
          </p:cNvPr>
          <p:cNvSpPr/>
          <p:nvPr/>
        </p:nvSpPr>
        <p:spPr>
          <a:xfrm>
            <a:off x="4224528" y="1188720"/>
            <a:ext cx="3749040" cy="457200"/>
          </a:xfrm>
          <a:prstGeom prst="roundRect">
            <a:avLst>
              <a:gd name="adj" fmla="val 20000"/>
            </a:avLst>
          </a:prstGeom>
          <a:solidFill>
            <a:srgbClr val="00897B"/>
          </a:solidFill>
          <a:ln w="12700">
            <a:solidFill>
              <a:srgbClr val="00897B"/>
            </a:solidFill>
            <a:prstDash val="solid"/>
          </a:ln>
        </p:spPr>
      </p:sp>
      <p:sp>
        <p:nvSpPr>
          <p:cNvPr id="40" name="Shape 25">
            <a:extLst>
              <a:ext uri="{FF2B5EF4-FFF2-40B4-BE49-F238E27FC236}">
                <a16:creationId xmlns:a16="http://schemas.microsoft.com/office/drawing/2014/main" id="{A590C960-794D-58FF-EEEB-096CF4B84F80}"/>
              </a:ext>
            </a:extLst>
          </p:cNvPr>
          <p:cNvSpPr/>
          <p:nvPr/>
        </p:nvSpPr>
        <p:spPr>
          <a:xfrm>
            <a:off x="4224528" y="1234440"/>
            <a:ext cx="457200" cy="411480"/>
          </a:xfrm>
          <a:prstGeom prst="rect">
            <a:avLst/>
          </a:prstGeom>
          <a:solidFill>
            <a:srgbClr val="00897B"/>
          </a:solidFill>
          <a:ln w="12700">
            <a:solidFill>
              <a:srgbClr val="00897B"/>
            </a:solidFill>
            <a:prstDash val="solid"/>
          </a:ln>
        </p:spPr>
      </p:sp>
      <p:sp>
        <p:nvSpPr>
          <p:cNvPr id="42" name="Text 26">
            <a:extLst>
              <a:ext uri="{FF2B5EF4-FFF2-40B4-BE49-F238E27FC236}">
                <a16:creationId xmlns:a16="http://schemas.microsoft.com/office/drawing/2014/main" id="{BFC2B768-AF36-471C-6A8C-547DFE9B81CB}"/>
              </a:ext>
            </a:extLst>
          </p:cNvPr>
          <p:cNvSpPr/>
          <p:nvPr/>
        </p:nvSpPr>
        <p:spPr>
          <a:xfrm>
            <a:off x="4310667" y="1210144"/>
            <a:ext cx="45720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02</a:t>
            </a:r>
            <a:endParaRPr lang="en-US" sz="1300"/>
          </a:p>
        </p:txBody>
      </p:sp>
      <p:sp>
        <p:nvSpPr>
          <p:cNvPr id="44" name="Text 27">
            <a:extLst>
              <a:ext uri="{FF2B5EF4-FFF2-40B4-BE49-F238E27FC236}">
                <a16:creationId xmlns:a16="http://schemas.microsoft.com/office/drawing/2014/main" id="{3AB0B4CB-5923-5D09-6ABA-50762E6A82A6}"/>
              </a:ext>
            </a:extLst>
          </p:cNvPr>
          <p:cNvSpPr/>
          <p:nvPr/>
        </p:nvSpPr>
        <p:spPr>
          <a:xfrm>
            <a:off x="4773168" y="1243584"/>
            <a:ext cx="3090672" cy="347472"/>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  The Verification Gap</a:t>
            </a:r>
            <a:endParaRPr lang="en-US" sz="1300"/>
          </a:p>
        </p:txBody>
      </p:sp>
      <p:sp>
        <p:nvSpPr>
          <p:cNvPr id="46" name="Text 28">
            <a:extLst>
              <a:ext uri="{FF2B5EF4-FFF2-40B4-BE49-F238E27FC236}">
                <a16:creationId xmlns:a16="http://schemas.microsoft.com/office/drawing/2014/main" id="{16008547-55CC-CB01-763B-74ADF140DC6C}"/>
              </a:ext>
            </a:extLst>
          </p:cNvPr>
          <p:cNvSpPr/>
          <p:nvPr/>
        </p:nvSpPr>
        <p:spPr>
          <a:xfrm>
            <a:off x="4389120" y="1755648"/>
            <a:ext cx="3438144" cy="1572768"/>
          </a:xfrm>
          <a:prstGeom prst="rect">
            <a:avLst/>
          </a:prstGeom>
          <a:noFill/>
          <a:ln/>
        </p:spPr>
        <p:txBody>
          <a:bodyPr wrap="square" lIns="0" tIns="0" rIns="0" bIns="0" rtlCol="0" anchor="ctr"/>
          <a:lstStyle/>
          <a:p>
            <a:pPr marL="0" indent="0">
              <a:lnSpc>
                <a:spcPct val="142000"/>
              </a:lnSpc>
              <a:buNone/>
            </a:pPr>
            <a:r>
              <a:rPr lang="en-US" sz="1050">
                <a:solidFill>
                  <a:srgbClr val="1A2B4C"/>
                </a:solidFill>
                <a:latin typeface="Calibri" pitchFamily="34" charset="0"/>
                <a:ea typeface="Calibri" pitchFamily="34" charset="-122"/>
                <a:cs typeface="Calibri" pitchFamily="34" charset="-120"/>
              </a:rPr>
              <a:t>Validate AI-generated calculations against manual spot-checks. Claude is highly capable but not infallible — especially with complex arithmetic, multi-step formulas, or edge-case data.</a:t>
            </a:r>
            <a:endParaRPr lang="en-US" sz="1050"/>
          </a:p>
        </p:txBody>
      </p:sp>
      <p:sp>
        <p:nvSpPr>
          <p:cNvPr id="48" name="Shape 29">
            <a:extLst>
              <a:ext uri="{FF2B5EF4-FFF2-40B4-BE49-F238E27FC236}">
                <a16:creationId xmlns:a16="http://schemas.microsoft.com/office/drawing/2014/main" id="{D6CD4DF4-D05D-9EF0-C7AF-2B58A3E54FB2}"/>
              </a:ext>
            </a:extLst>
          </p:cNvPr>
          <p:cNvSpPr/>
          <p:nvPr/>
        </p:nvSpPr>
        <p:spPr>
          <a:xfrm>
            <a:off x="4223467" y="3419856"/>
            <a:ext cx="3747362" cy="501726"/>
          </a:xfrm>
          <a:prstGeom prst="roundRect">
            <a:avLst>
              <a:gd name="adj" fmla="val 15909"/>
            </a:avLst>
          </a:prstGeom>
          <a:solidFill>
            <a:srgbClr val="00897B"/>
          </a:solidFill>
          <a:ln w="12700">
            <a:solidFill>
              <a:srgbClr val="00897B"/>
            </a:solidFill>
            <a:prstDash val="solid"/>
          </a:ln>
        </p:spPr>
      </p:sp>
      <p:sp>
        <p:nvSpPr>
          <p:cNvPr id="50" name="Text 30">
            <a:extLst>
              <a:ext uri="{FF2B5EF4-FFF2-40B4-BE49-F238E27FC236}">
                <a16:creationId xmlns:a16="http://schemas.microsoft.com/office/drawing/2014/main" id="{949FD46E-9A03-22EA-63B7-FB74FF9AFFB2}"/>
              </a:ext>
            </a:extLst>
          </p:cNvPr>
          <p:cNvSpPr/>
          <p:nvPr/>
        </p:nvSpPr>
        <p:spPr>
          <a:xfrm>
            <a:off x="4314908" y="3419856"/>
            <a:ext cx="3516507" cy="501726"/>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a:ea typeface="Calibri"/>
                <a:cs typeface="Calibri"/>
              </a:rPr>
              <a:t>Rule: Trust but verify. AI is your co-pilot, not your autopilot.</a:t>
            </a:r>
            <a:endParaRPr lang="en-US" sz="1100">
              <a:latin typeface="Calibri"/>
              <a:ea typeface="Calibri"/>
              <a:cs typeface="Calibri"/>
            </a:endParaRPr>
          </a:p>
        </p:txBody>
      </p:sp>
      <p:sp>
        <p:nvSpPr>
          <p:cNvPr id="52" name="Text 31">
            <a:extLst>
              <a:ext uri="{FF2B5EF4-FFF2-40B4-BE49-F238E27FC236}">
                <a16:creationId xmlns:a16="http://schemas.microsoft.com/office/drawing/2014/main" id="{C00B0D9A-5331-8CE6-8CA7-C138076BADD8}"/>
              </a:ext>
            </a:extLst>
          </p:cNvPr>
          <p:cNvSpPr/>
          <p:nvPr/>
        </p:nvSpPr>
        <p:spPr>
          <a:xfrm>
            <a:off x="4378077" y="4035110"/>
            <a:ext cx="3438144" cy="237744"/>
          </a:xfrm>
          <a:prstGeom prst="rect">
            <a:avLst/>
          </a:prstGeom>
          <a:noFill/>
          <a:ln/>
        </p:spPr>
        <p:txBody>
          <a:bodyPr wrap="square" lIns="0" tIns="0" rIns="0" bIns="0" rtlCol="0" anchor="ctr"/>
          <a:lstStyle/>
          <a:p>
            <a:pPr marL="0" indent="0">
              <a:buNone/>
            </a:pPr>
            <a:r>
              <a:rPr lang="en-US" sz="1000" b="1">
                <a:solidFill>
                  <a:srgbClr val="00897B"/>
                </a:solidFill>
                <a:latin typeface="Calibri" pitchFamily="34" charset="0"/>
                <a:ea typeface="Calibri" pitchFamily="34" charset="-122"/>
                <a:cs typeface="Calibri" pitchFamily="34" charset="-120"/>
              </a:rPr>
              <a:t>How to apply:</a:t>
            </a:r>
            <a:endParaRPr lang="en-US" sz="1000"/>
          </a:p>
        </p:txBody>
      </p:sp>
      <p:sp>
        <p:nvSpPr>
          <p:cNvPr id="54" name="Shape 32">
            <a:extLst>
              <a:ext uri="{FF2B5EF4-FFF2-40B4-BE49-F238E27FC236}">
                <a16:creationId xmlns:a16="http://schemas.microsoft.com/office/drawing/2014/main" id="{268800EE-3602-B0C9-8EA6-A04595ED2F68}"/>
              </a:ext>
            </a:extLst>
          </p:cNvPr>
          <p:cNvSpPr/>
          <p:nvPr/>
        </p:nvSpPr>
        <p:spPr>
          <a:xfrm>
            <a:off x="4418451" y="4327718"/>
            <a:ext cx="128016" cy="128016"/>
          </a:xfrm>
          <a:prstGeom prst="ellipse">
            <a:avLst/>
          </a:prstGeom>
          <a:solidFill>
            <a:srgbClr val="00897B"/>
          </a:solidFill>
          <a:ln w="12700">
            <a:solidFill>
              <a:srgbClr val="00897B"/>
            </a:solidFill>
            <a:prstDash val="solid"/>
          </a:ln>
        </p:spPr>
      </p:sp>
      <p:sp>
        <p:nvSpPr>
          <p:cNvPr id="56" name="Text 33">
            <a:extLst>
              <a:ext uri="{FF2B5EF4-FFF2-40B4-BE49-F238E27FC236}">
                <a16:creationId xmlns:a16="http://schemas.microsoft.com/office/drawing/2014/main" id="{AD137DBE-CD25-59E6-B484-6C2EE692623D}"/>
              </a:ext>
            </a:extLst>
          </p:cNvPr>
          <p:cNvSpPr/>
          <p:nvPr/>
        </p:nvSpPr>
        <p:spPr>
          <a:xfrm>
            <a:off x="4608576" y="4151376"/>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Spot-check 10–20% of numerical outputs manually</a:t>
            </a:r>
            <a:endParaRPr lang="en-US" sz="950"/>
          </a:p>
        </p:txBody>
      </p:sp>
      <p:sp>
        <p:nvSpPr>
          <p:cNvPr id="58" name="Shape 34">
            <a:extLst>
              <a:ext uri="{FF2B5EF4-FFF2-40B4-BE49-F238E27FC236}">
                <a16:creationId xmlns:a16="http://schemas.microsoft.com/office/drawing/2014/main" id="{713EDC32-0DBF-8167-39C8-AFCF3D8EB630}"/>
              </a:ext>
            </a:extLst>
          </p:cNvPr>
          <p:cNvSpPr/>
          <p:nvPr/>
        </p:nvSpPr>
        <p:spPr>
          <a:xfrm>
            <a:off x="4418451" y="4964353"/>
            <a:ext cx="128016" cy="128016"/>
          </a:xfrm>
          <a:prstGeom prst="ellipse">
            <a:avLst/>
          </a:prstGeom>
          <a:solidFill>
            <a:srgbClr val="00897B"/>
          </a:solidFill>
          <a:ln w="12700">
            <a:solidFill>
              <a:srgbClr val="00897B"/>
            </a:solidFill>
            <a:prstDash val="solid"/>
          </a:ln>
        </p:spPr>
      </p:sp>
      <p:sp>
        <p:nvSpPr>
          <p:cNvPr id="60" name="Text 35">
            <a:extLst>
              <a:ext uri="{FF2B5EF4-FFF2-40B4-BE49-F238E27FC236}">
                <a16:creationId xmlns:a16="http://schemas.microsoft.com/office/drawing/2014/main" id="{C02E404D-1920-39DB-29D9-244DD90E7C6A}"/>
              </a:ext>
            </a:extLst>
          </p:cNvPr>
          <p:cNvSpPr/>
          <p:nvPr/>
        </p:nvSpPr>
        <p:spPr>
          <a:xfrm>
            <a:off x="4608576" y="4754880"/>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Ask Claude to show its working: 'Explain how you calculated this'</a:t>
            </a:r>
            <a:endParaRPr lang="en-US" sz="950"/>
          </a:p>
        </p:txBody>
      </p:sp>
      <p:sp>
        <p:nvSpPr>
          <p:cNvPr id="62" name="Shape 36">
            <a:extLst>
              <a:ext uri="{FF2B5EF4-FFF2-40B4-BE49-F238E27FC236}">
                <a16:creationId xmlns:a16="http://schemas.microsoft.com/office/drawing/2014/main" id="{1703193A-F282-0D3E-E080-B60E6490EDCC}"/>
              </a:ext>
            </a:extLst>
          </p:cNvPr>
          <p:cNvSpPr/>
          <p:nvPr/>
        </p:nvSpPr>
        <p:spPr>
          <a:xfrm>
            <a:off x="4407408" y="5479509"/>
            <a:ext cx="128016" cy="128016"/>
          </a:xfrm>
          <a:prstGeom prst="ellipse">
            <a:avLst/>
          </a:prstGeom>
          <a:solidFill>
            <a:srgbClr val="00897B"/>
          </a:solidFill>
          <a:ln w="12700">
            <a:solidFill>
              <a:srgbClr val="00897B"/>
            </a:solidFill>
            <a:prstDash val="solid"/>
          </a:ln>
        </p:spPr>
      </p:sp>
      <p:sp>
        <p:nvSpPr>
          <p:cNvPr id="64" name="Text 37">
            <a:extLst>
              <a:ext uri="{FF2B5EF4-FFF2-40B4-BE49-F238E27FC236}">
                <a16:creationId xmlns:a16="http://schemas.microsoft.com/office/drawing/2014/main" id="{E1AC0086-7D2D-3EBA-15D6-AE935B23FDEB}"/>
              </a:ext>
            </a:extLst>
          </p:cNvPr>
          <p:cNvSpPr/>
          <p:nvPr/>
        </p:nvSpPr>
        <p:spPr>
          <a:xfrm>
            <a:off x="4608576" y="5358384"/>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Use structured prompts that separate reasoning from final answers</a:t>
            </a:r>
            <a:endParaRPr lang="en-US" sz="950"/>
          </a:p>
        </p:txBody>
      </p:sp>
      <p:sp>
        <p:nvSpPr>
          <p:cNvPr id="66" name="Shape 38">
            <a:extLst>
              <a:ext uri="{FF2B5EF4-FFF2-40B4-BE49-F238E27FC236}">
                <a16:creationId xmlns:a16="http://schemas.microsoft.com/office/drawing/2014/main" id="{76C0F873-11F3-EEF9-4050-4706049304EF}"/>
              </a:ext>
            </a:extLst>
          </p:cNvPr>
          <p:cNvSpPr/>
          <p:nvPr/>
        </p:nvSpPr>
        <p:spPr>
          <a:xfrm>
            <a:off x="8083296" y="1188720"/>
            <a:ext cx="3749040" cy="5084064"/>
          </a:xfrm>
          <a:prstGeom prst="roundRect">
            <a:avLst>
              <a:gd name="adj" fmla="val 2439"/>
            </a:avLst>
          </a:prstGeom>
          <a:solidFill>
            <a:srgbClr val="EDE7F6"/>
          </a:solidFill>
          <a:ln w="12700">
            <a:solidFill>
              <a:srgbClr val="5E35B1"/>
            </a:solidFill>
            <a:prstDash val="solid"/>
          </a:ln>
          <a:effectLst>
            <a:outerShdw blurRad="101600" dist="25400" dir="8100000" algn="bl" rotWithShape="0">
              <a:srgbClr val="0070CD">
                <a:alpha val="8000"/>
              </a:srgbClr>
            </a:outerShdw>
          </a:effectLst>
        </p:spPr>
      </p:sp>
      <p:sp>
        <p:nvSpPr>
          <p:cNvPr id="69" name="Shape 39">
            <a:extLst>
              <a:ext uri="{FF2B5EF4-FFF2-40B4-BE49-F238E27FC236}">
                <a16:creationId xmlns:a16="http://schemas.microsoft.com/office/drawing/2014/main" id="{92DB0D0D-7947-ABD6-9546-2D9629861AD7}"/>
              </a:ext>
            </a:extLst>
          </p:cNvPr>
          <p:cNvSpPr/>
          <p:nvPr/>
        </p:nvSpPr>
        <p:spPr>
          <a:xfrm>
            <a:off x="8083296" y="1188720"/>
            <a:ext cx="3749040" cy="457200"/>
          </a:xfrm>
          <a:prstGeom prst="roundRect">
            <a:avLst>
              <a:gd name="adj" fmla="val 20000"/>
            </a:avLst>
          </a:prstGeom>
          <a:solidFill>
            <a:srgbClr val="5E35B1"/>
          </a:solidFill>
          <a:ln w="12700">
            <a:solidFill>
              <a:srgbClr val="5E35B1"/>
            </a:solidFill>
            <a:prstDash val="solid"/>
          </a:ln>
        </p:spPr>
      </p:sp>
      <p:sp>
        <p:nvSpPr>
          <p:cNvPr id="71" name="Shape 40">
            <a:extLst>
              <a:ext uri="{FF2B5EF4-FFF2-40B4-BE49-F238E27FC236}">
                <a16:creationId xmlns:a16="http://schemas.microsoft.com/office/drawing/2014/main" id="{52481073-977B-A1B5-56D4-27DD33EDFE16}"/>
              </a:ext>
            </a:extLst>
          </p:cNvPr>
          <p:cNvSpPr/>
          <p:nvPr/>
        </p:nvSpPr>
        <p:spPr>
          <a:xfrm>
            <a:off x="8083296" y="1234440"/>
            <a:ext cx="457200" cy="411480"/>
          </a:xfrm>
          <a:prstGeom prst="rect">
            <a:avLst/>
          </a:prstGeom>
          <a:solidFill>
            <a:srgbClr val="5E35B1"/>
          </a:solidFill>
          <a:ln w="12700">
            <a:solidFill>
              <a:srgbClr val="5E35B1"/>
            </a:solidFill>
            <a:prstDash val="solid"/>
          </a:ln>
        </p:spPr>
      </p:sp>
      <p:sp>
        <p:nvSpPr>
          <p:cNvPr id="73" name="Text 41">
            <a:extLst>
              <a:ext uri="{FF2B5EF4-FFF2-40B4-BE49-F238E27FC236}">
                <a16:creationId xmlns:a16="http://schemas.microsoft.com/office/drawing/2014/main" id="{767B83ED-0F86-0FA4-A669-0FC595E9923B}"/>
              </a:ext>
            </a:extLst>
          </p:cNvPr>
          <p:cNvSpPr/>
          <p:nvPr/>
        </p:nvSpPr>
        <p:spPr>
          <a:xfrm>
            <a:off x="8180479" y="1210144"/>
            <a:ext cx="45720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03</a:t>
            </a:r>
            <a:endParaRPr lang="en-US" sz="1300"/>
          </a:p>
        </p:txBody>
      </p:sp>
      <p:sp>
        <p:nvSpPr>
          <p:cNvPr id="75" name="Text 42">
            <a:extLst>
              <a:ext uri="{FF2B5EF4-FFF2-40B4-BE49-F238E27FC236}">
                <a16:creationId xmlns:a16="http://schemas.microsoft.com/office/drawing/2014/main" id="{1199616C-F155-C406-3336-8C2B73429041}"/>
              </a:ext>
            </a:extLst>
          </p:cNvPr>
          <p:cNvSpPr/>
          <p:nvPr/>
        </p:nvSpPr>
        <p:spPr>
          <a:xfrm>
            <a:off x="8631936" y="1243584"/>
            <a:ext cx="3090672" cy="347472"/>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  Bias Awareness</a:t>
            </a:r>
            <a:endParaRPr lang="en-US" sz="1300"/>
          </a:p>
        </p:txBody>
      </p:sp>
      <p:sp>
        <p:nvSpPr>
          <p:cNvPr id="77" name="Text 43">
            <a:extLst>
              <a:ext uri="{FF2B5EF4-FFF2-40B4-BE49-F238E27FC236}">
                <a16:creationId xmlns:a16="http://schemas.microsoft.com/office/drawing/2014/main" id="{963F75A0-81A6-34A9-49A3-204A4771476D}"/>
              </a:ext>
            </a:extLst>
          </p:cNvPr>
          <p:cNvSpPr/>
          <p:nvPr/>
        </p:nvSpPr>
        <p:spPr>
          <a:xfrm>
            <a:off x="8247888" y="1755648"/>
            <a:ext cx="3438144" cy="1572768"/>
          </a:xfrm>
          <a:prstGeom prst="rect">
            <a:avLst/>
          </a:prstGeom>
          <a:noFill/>
          <a:ln/>
        </p:spPr>
        <p:txBody>
          <a:bodyPr wrap="square" lIns="0" tIns="0" rIns="0" bIns="0" rtlCol="0" anchor="ctr"/>
          <a:lstStyle/>
          <a:p>
            <a:pPr marL="0" indent="0">
              <a:lnSpc>
                <a:spcPct val="142000"/>
              </a:lnSpc>
              <a:buNone/>
            </a:pPr>
            <a:r>
              <a:rPr lang="en-US" sz="1050">
                <a:solidFill>
                  <a:srgbClr val="1A2B4C"/>
                </a:solidFill>
                <a:latin typeface="Calibri" pitchFamily="34" charset="0"/>
                <a:ea typeface="Calibri" pitchFamily="34" charset="-122"/>
                <a:cs typeface="Calibri" pitchFamily="34" charset="-120"/>
              </a:rPr>
              <a:t>Probe Claude for potential limitations from training data perspectives. Every model has blind spots shaped by its training data — surface them before they surface in your deliverables.</a:t>
            </a:r>
            <a:endParaRPr lang="en-US" sz="1050"/>
          </a:p>
        </p:txBody>
      </p:sp>
      <p:sp>
        <p:nvSpPr>
          <p:cNvPr id="79" name="Shape 44">
            <a:extLst>
              <a:ext uri="{FF2B5EF4-FFF2-40B4-BE49-F238E27FC236}">
                <a16:creationId xmlns:a16="http://schemas.microsoft.com/office/drawing/2014/main" id="{2D355673-120D-707B-8ED1-82CA6B362EB6}"/>
              </a:ext>
            </a:extLst>
          </p:cNvPr>
          <p:cNvSpPr/>
          <p:nvPr/>
        </p:nvSpPr>
        <p:spPr>
          <a:xfrm>
            <a:off x="8082236" y="3419856"/>
            <a:ext cx="3747361" cy="501726"/>
          </a:xfrm>
          <a:prstGeom prst="roundRect">
            <a:avLst>
              <a:gd name="adj" fmla="val 15909"/>
            </a:avLst>
          </a:prstGeom>
          <a:solidFill>
            <a:srgbClr val="5E35B1"/>
          </a:solidFill>
          <a:ln w="12700">
            <a:solidFill>
              <a:srgbClr val="5E35B1"/>
            </a:solidFill>
            <a:prstDash val="solid"/>
          </a:ln>
        </p:spPr>
      </p:sp>
      <p:sp>
        <p:nvSpPr>
          <p:cNvPr id="81" name="Text 45">
            <a:extLst>
              <a:ext uri="{FF2B5EF4-FFF2-40B4-BE49-F238E27FC236}">
                <a16:creationId xmlns:a16="http://schemas.microsoft.com/office/drawing/2014/main" id="{A43D033A-CD84-8746-91CF-01F6D2ABEC96}"/>
              </a:ext>
            </a:extLst>
          </p:cNvPr>
          <p:cNvSpPr/>
          <p:nvPr/>
        </p:nvSpPr>
        <p:spPr>
          <a:xfrm>
            <a:off x="8184721" y="3430900"/>
            <a:ext cx="3472332" cy="490683"/>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a:ea typeface="Calibri"/>
                <a:cs typeface="Calibri"/>
              </a:rPr>
              <a:t>Rule: Ask directly: 'What assumptions might be embedded in this analysis?'</a:t>
            </a:r>
            <a:endParaRPr lang="en-US" sz="1100">
              <a:latin typeface="Aptos"/>
              <a:ea typeface="Calibri"/>
              <a:cs typeface="Calibri"/>
            </a:endParaRPr>
          </a:p>
        </p:txBody>
      </p:sp>
      <p:sp>
        <p:nvSpPr>
          <p:cNvPr id="83" name="Text 46">
            <a:extLst>
              <a:ext uri="{FF2B5EF4-FFF2-40B4-BE49-F238E27FC236}">
                <a16:creationId xmlns:a16="http://schemas.microsoft.com/office/drawing/2014/main" id="{06615926-238C-867C-B935-0E1FC64F3916}"/>
              </a:ext>
            </a:extLst>
          </p:cNvPr>
          <p:cNvSpPr/>
          <p:nvPr/>
        </p:nvSpPr>
        <p:spPr>
          <a:xfrm>
            <a:off x="8247888" y="4035110"/>
            <a:ext cx="3438144" cy="237744"/>
          </a:xfrm>
          <a:prstGeom prst="rect">
            <a:avLst/>
          </a:prstGeom>
          <a:noFill/>
          <a:ln/>
        </p:spPr>
        <p:txBody>
          <a:bodyPr wrap="square" lIns="0" tIns="0" rIns="0" bIns="0" rtlCol="0" anchor="ctr"/>
          <a:lstStyle/>
          <a:p>
            <a:pPr marL="0" indent="0">
              <a:buNone/>
            </a:pPr>
            <a:r>
              <a:rPr lang="en-US" sz="1000" b="1">
                <a:solidFill>
                  <a:srgbClr val="5E35B1"/>
                </a:solidFill>
                <a:latin typeface="Calibri" pitchFamily="34" charset="0"/>
                <a:ea typeface="Calibri" pitchFamily="34" charset="-122"/>
                <a:cs typeface="Calibri" pitchFamily="34" charset="-120"/>
              </a:rPr>
              <a:t>How to apply:</a:t>
            </a:r>
            <a:endParaRPr lang="en-US" sz="1000"/>
          </a:p>
        </p:txBody>
      </p:sp>
      <p:sp>
        <p:nvSpPr>
          <p:cNvPr id="85" name="Shape 47">
            <a:extLst>
              <a:ext uri="{FF2B5EF4-FFF2-40B4-BE49-F238E27FC236}">
                <a16:creationId xmlns:a16="http://schemas.microsoft.com/office/drawing/2014/main" id="{1057C546-483C-612F-C3C1-35F11E18F8D3}"/>
              </a:ext>
            </a:extLst>
          </p:cNvPr>
          <p:cNvSpPr/>
          <p:nvPr/>
        </p:nvSpPr>
        <p:spPr>
          <a:xfrm>
            <a:off x="8277219" y="4327718"/>
            <a:ext cx="128016" cy="128016"/>
          </a:xfrm>
          <a:prstGeom prst="ellipse">
            <a:avLst/>
          </a:prstGeom>
          <a:solidFill>
            <a:srgbClr val="5E35B1"/>
          </a:solidFill>
          <a:ln w="12700">
            <a:solidFill>
              <a:srgbClr val="5E35B1"/>
            </a:solidFill>
            <a:prstDash val="solid"/>
          </a:ln>
        </p:spPr>
      </p:sp>
      <p:sp>
        <p:nvSpPr>
          <p:cNvPr id="87" name="Text 48">
            <a:extLst>
              <a:ext uri="{FF2B5EF4-FFF2-40B4-BE49-F238E27FC236}">
                <a16:creationId xmlns:a16="http://schemas.microsoft.com/office/drawing/2014/main" id="{299CF683-7032-8062-9DA7-EA6C73558EEE}"/>
              </a:ext>
            </a:extLst>
          </p:cNvPr>
          <p:cNvSpPr/>
          <p:nvPr/>
        </p:nvSpPr>
        <p:spPr>
          <a:xfrm>
            <a:off x="8467344" y="4151376"/>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Prompt: 'What data would change this conclusion?'</a:t>
            </a:r>
            <a:endParaRPr lang="en-US" sz="950"/>
          </a:p>
        </p:txBody>
      </p:sp>
      <p:sp>
        <p:nvSpPr>
          <p:cNvPr id="89" name="Shape 49">
            <a:extLst>
              <a:ext uri="{FF2B5EF4-FFF2-40B4-BE49-F238E27FC236}">
                <a16:creationId xmlns:a16="http://schemas.microsoft.com/office/drawing/2014/main" id="{F51F3EB7-E8CD-3CD9-CC05-45282FAB83F4}"/>
              </a:ext>
            </a:extLst>
          </p:cNvPr>
          <p:cNvSpPr/>
          <p:nvPr/>
        </p:nvSpPr>
        <p:spPr>
          <a:xfrm>
            <a:off x="8266176" y="4964353"/>
            <a:ext cx="128016" cy="128016"/>
          </a:xfrm>
          <a:prstGeom prst="ellipse">
            <a:avLst/>
          </a:prstGeom>
          <a:solidFill>
            <a:srgbClr val="5E35B1"/>
          </a:solidFill>
          <a:ln w="12700">
            <a:solidFill>
              <a:srgbClr val="5E35B1"/>
            </a:solidFill>
            <a:prstDash val="solid"/>
          </a:ln>
        </p:spPr>
      </p:sp>
      <p:sp>
        <p:nvSpPr>
          <p:cNvPr id="91" name="Text 50">
            <a:extLst>
              <a:ext uri="{FF2B5EF4-FFF2-40B4-BE49-F238E27FC236}">
                <a16:creationId xmlns:a16="http://schemas.microsoft.com/office/drawing/2014/main" id="{A993F4E8-749D-817E-7AD7-344143D336C5}"/>
              </a:ext>
            </a:extLst>
          </p:cNvPr>
          <p:cNvSpPr/>
          <p:nvPr/>
        </p:nvSpPr>
        <p:spPr>
          <a:xfrm>
            <a:off x="8467344" y="4754880"/>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Prompt: 'What perspectives am I missing here?'</a:t>
            </a:r>
            <a:endParaRPr lang="en-US" sz="950"/>
          </a:p>
        </p:txBody>
      </p:sp>
      <p:sp>
        <p:nvSpPr>
          <p:cNvPr id="93" name="Shape 51">
            <a:extLst>
              <a:ext uri="{FF2B5EF4-FFF2-40B4-BE49-F238E27FC236}">
                <a16:creationId xmlns:a16="http://schemas.microsoft.com/office/drawing/2014/main" id="{8EACF2D2-DE3C-2B54-7495-5F58A7890A81}"/>
              </a:ext>
            </a:extLst>
          </p:cNvPr>
          <p:cNvSpPr/>
          <p:nvPr/>
        </p:nvSpPr>
        <p:spPr>
          <a:xfrm>
            <a:off x="8266176" y="5545770"/>
            <a:ext cx="128016" cy="128016"/>
          </a:xfrm>
          <a:prstGeom prst="ellipse">
            <a:avLst/>
          </a:prstGeom>
          <a:solidFill>
            <a:srgbClr val="5E35B1"/>
          </a:solidFill>
          <a:ln w="12700">
            <a:solidFill>
              <a:srgbClr val="5E35B1"/>
            </a:solidFill>
            <a:prstDash val="solid"/>
          </a:ln>
        </p:spPr>
      </p:sp>
      <p:sp>
        <p:nvSpPr>
          <p:cNvPr id="95" name="Text 52">
            <a:extLst>
              <a:ext uri="{FF2B5EF4-FFF2-40B4-BE49-F238E27FC236}">
                <a16:creationId xmlns:a16="http://schemas.microsoft.com/office/drawing/2014/main" id="{D4726D9A-80F0-F44D-6005-263F5F03596E}"/>
              </a:ext>
            </a:extLst>
          </p:cNvPr>
          <p:cNvSpPr/>
          <p:nvPr/>
        </p:nvSpPr>
        <p:spPr>
          <a:xfrm>
            <a:off x="8467344" y="5358384"/>
            <a:ext cx="3218688" cy="530352"/>
          </a:xfrm>
          <a:prstGeom prst="rect">
            <a:avLst/>
          </a:prstGeom>
          <a:noFill/>
          <a:ln/>
        </p:spPr>
        <p:txBody>
          <a:bodyPr wrap="square" lIns="0" tIns="0" rIns="0" bIns="0" rtlCol="0" anchor="ctr"/>
          <a:lstStyle/>
          <a:p>
            <a:pPr marL="0" indent="0">
              <a:lnSpc>
                <a:spcPct val="128000"/>
              </a:lnSpc>
              <a:buNone/>
            </a:pPr>
            <a:r>
              <a:rPr lang="en-US" sz="950">
                <a:solidFill>
                  <a:srgbClr val="1A2B4C"/>
                </a:solidFill>
                <a:latin typeface="Calibri" pitchFamily="34" charset="0"/>
                <a:ea typeface="Calibri" pitchFamily="34" charset="-122"/>
                <a:cs typeface="Calibri" pitchFamily="34" charset="-120"/>
              </a:rPr>
              <a:t>Cross-reference AI analysis with domain expert review</a:t>
            </a:r>
            <a:endParaRPr lang="en-US" sz="950"/>
          </a:p>
        </p:txBody>
      </p:sp>
      <p:sp>
        <p:nvSpPr>
          <p:cNvPr id="97" name="Text 3">
            <a:extLst>
              <a:ext uri="{FF2B5EF4-FFF2-40B4-BE49-F238E27FC236}">
                <a16:creationId xmlns:a16="http://schemas.microsoft.com/office/drawing/2014/main" id="{29898290-D359-802D-1061-DA07A9BD5070}"/>
              </a:ext>
            </a:extLst>
          </p:cNvPr>
          <p:cNvSpPr/>
          <p:nvPr/>
        </p:nvSpPr>
        <p:spPr>
          <a:xfrm>
            <a:off x="566089" y="686639"/>
            <a:ext cx="9601200" cy="274320"/>
          </a:xfrm>
          <a:prstGeom prst="rect">
            <a:avLst/>
          </a:prstGeom>
          <a:noFill/>
          <a:ln/>
        </p:spPr>
        <p:txBody>
          <a:bodyPr wrap="square" lIns="0" tIns="0" rIns="0" bIns="0" rtlCol="0" anchor="ctr"/>
          <a:lstStyle/>
          <a:p>
            <a:pPr marL="0" indent="0">
              <a:buNone/>
            </a:pPr>
            <a:r>
              <a:rPr lang="en-US" sz="1050" i="1">
                <a:solidFill>
                  <a:srgbClr val="2D4A6B"/>
                </a:solidFill>
                <a:latin typeface="Calibri" pitchFamily="34" charset="0"/>
                <a:ea typeface="Calibri" pitchFamily="34" charset="-122"/>
                <a:cs typeface="Calibri" pitchFamily="34" charset="-120"/>
              </a:rPr>
              <a:t>Best practices — what to watch for when using Claude for analysis and sensitive workflows</a:t>
            </a:r>
            <a:endParaRPr lang="en-US" sz="1050"/>
          </a:p>
        </p:txBody>
      </p:sp>
    </p:spTree>
    <p:extLst>
      <p:ext uri="{BB962C8B-B14F-4D97-AF65-F5344CB8AC3E}">
        <p14:creationId xmlns:p14="http://schemas.microsoft.com/office/powerpoint/2010/main" val="2962918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2BE6F-3A6C-AEAF-25D8-2DE4EE3B7B01}"/>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92F576B9-0F34-835F-7A81-A1CA1B466832}"/>
              </a:ext>
            </a:extLst>
          </p:cNvPr>
          <p:cNvSpPr/>
          <p:nvPr/>
        </p:nvSpPr>
        <p:spPr>
          <a:xfrm>
            <a:off x="182880" y="6413602"/>
            <a:ext cx="6984187" cy="444398"/>
          </a:xfrm>
          <a:prstGeom prst="rect">
            <a:avLst/>
          </a:prstGeom>
          <a:noFill/>
          <a:ln/>
        </p:spPr>
        <p:txBody>
          <a:bodyPr wrap="square" rtlCol="0" anchor="ctr"/>
          <a:lstStyle/>
          <a:p>
            <a:pPr marL="0" indent="0">
              <a:buNone/>
            </a:pPr>
            <a:r>
              <a:rPr lang="en-US" sz="700">
                <a:solidFill>
                  <a:srgbClr val="64748B"/>
                </a:solidFill>
                <a:latin typeface="Calibri" pitchFamily="34" charset="0"/>
                <a:ea typeface="Calibri" pitchFamily="34" charset="-122"/>
                <a:cs typeface="Calibri" pitchFamily="34" charset="-120"/>
              </a:rPr>
              <a:t>1455 LINCOLN PARKWAY EAST, 8TH FLOOR, ATLANTA, GA 30346 | WWW.INNOVASOLUTIONS.COM</a:t>
            </a:r>
            <a:endParaRPr lang="en-US" sz="700"/>
          </a:p>
        </p:txBody>
      </p:sp>
      <p:pic>
        <p:nvPicPr>
          <p:cNvPr id="68" name="Image 1" descr="/home/claude/duals/ppt/media/image6.png">
            <a:extLst>
              <a:ext uri="{FF2B5EF4-FFF2-40B4-BE49-F238E27FC236}">
                <a16:creationId xmlns:a16="http://schemas.microsoft.com/office/drawing/2014/main" id="{2EA0B983-742A-D5CC-A5B2-C87EC716ACCD}"/>
              </a:ext>
            </a:extLst>
          </p:cNvPr>
          <p:cNvPicPr>
            <a:picLocks noChangeAspect="1"/>
          </p:cNvPicPr>
          <p:nvPr/>
        </p:nvPicPr>
        <p:blipFill>
          <a:blip r:embed="rId3"/>
          <a:stretch>
            <a:fillRect/>
          </a:stretch>
        </p:blipFill>
        <p:spPr>
          <a:xfrm>
            <a:off x="9960940" y="103430"/>
            <a:ext cx="2040941" cy="769925"/>
          </a:xfrm>
          <a:prstGeom prst="rect">
            <a:avLst/>
          </a:prstGeom>
        </p:spPr>
      </p:pic>
      <p:sp>
        <p:nvSpPr>
          <p:cNvPr id="3" name="Text Placeholder 1">
            <a:extLst>
              <a:ext uri="{FF2B5EF4-FFF2-40B4-BE49-F238E27FC236}">
                <a16:creationId xmlns:a16="http://schemas.microsoft.com/office/drawing/2014/main" id="{1F1A0938-5AEA-7968-36A9-95F40232DACD}"/>
              </a:ext>
            </a:extLst>
          </p:cNvPr>
          <p:cNvSpPr txBox="1">
            <a:spLocks/>
          </p:cNvSpPr>
          <p:nvPr/>
        </p:nvSpPr>
        <p:spPr>
          <a:xfrm>
            <a:off x="3323464" y="2431455"/>
            <a:ext cx="7372933" cy="1120648"/>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6600" b="1">
                <a:solidFill>
                  <a:schemeClr val="tx2">
                    <a:lumMod val="76000"/>
                    <a:lumOff val="24000"/>
                  </a:schemeClr>
                </a:solidFill>
                <a:ea typeface="Calibri"/>
                <a:cs typeface="Calibri"/>
              </a:rPr>
              <a:t>THANK YOU!</a:t>
            </a:r>
            <a:endParaRPr lang="en-US" sz="6600" b="1">
              <a:solidFill>
                <a:schemeClr val="tx2">
                  <a:lumMod val="76000"/>
                  <a:lumOff val="24000"/>
                </a:schemeClr>
              </a:solidFill>
            </a:endParaRPr>
          </a:p>
        </p:txBody>
      </p:sp>
    </p:spTree>
    <p:extLst>
      <p:ext uri="{BB962C8B-B14F-4D97-AF65-F5344CB8AC3E}">
        <p14:creationId xmlns:p14="http://schemas.microsoft.com/office/powerpoint/2010/main" val="4041436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42344AF-1E1C-4FA0-9E6D-5C61236B9659}">
  <we:reference id="WA200005669" version="2.0.0.0" store="en-US" storeType="omex"/>
  <we:alternateReferences>
    <we:reference id="WA200005669" version="2.0.0.0"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13</Slides>
  <Notes>12</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254</cp:revision>
  <dcterms:created xsi:type="dcterms:W3CDTF">2025-09-16T10:04:40Z</dcterms:created>
  <dcterms:modified xsi:type="dcterms:W3CDTF">2026-06-18T08:32:54Z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b638e0-f50f-48bd-992f-bcb55031a99f_Enabled">
    <vt:lpwstr>true</vt:lpwstr>
  </property>
  <property fmtid="{D5CDD505-2E9C-101B-9397-08002B2CF9AE}" pid="3" name="MSIP_Label_b0b638e0-f50f-48bd-992f-bcb55031a99f_SetDate">
    <vt:lpwstr>2025-09-17T09:51:24Z</vt:lpwstr>
  </property>
  <property fmtid="{D5CDD505-2E9C-101B-9397-08002B2CF9AE}" pid="4" name="MSIP_Label_b0b638e0-f50f-48bd-992f-bcb55031a99f_Method">
    <vt:lpwstr>Standard</vt:lpwstr>
  </property>
  <property fmtid="{D5CDD505-2E9C-101B-9397-08002B2CF9AE}" pid="5" name="MSIP_Label_b0b638e0-f50f-48bd-992f-bcb55031a99f_Name">
    <vt:lpwstr>Confidential Default</vt:lpwstr>
  </property>
  <property fmtid="{D5CDD505-2E9C-101B-9397-08002B2CF9AE}" pid="6" name="MSIP_Label_b0b638e0-f50f-48bd-992f-bcb55031a99f_SiteId">
    <vt:lpwstr>f45ccc07-e57e-4d15-bf6f-f6cbccd2d395</vt:lpwstr>
  </property>
  <property fmtid="{D5CDD505-2E9C-101B-9397-08002B2CF9AE}" pid="7" name="MSIP_Label_b0b638e0-f50f-48bd-992f-bcb55031a99f_ActionId">
    <vt:lpwstr>3eacd02e-f793-4df5-842b-0140e64b2051</vt:lpwstr>
  </property>
  <property fmtid="{D5CDD505-2E9C-101B-9397-08002B2CF9AE}" pid="8" name="MSIP_Label_b0b638e0-f50f-48bd-992f-bcb55031a99f_ContentBits">
    <vt:lpwstr>0</vt:lpwstr>
  </property>
  <property fmtid="{D5CDD505-2E9C-101B-9397-08002B2CF9AE}" pid="9" name="MSIP_Label_b0b638e0-f50f-48bd-992f-bcb55031a99f_Tag">
    <vt:lpwstr>10, 3, 0, 1</vt:lpwstr>
  </property>
</Properties>
</file>